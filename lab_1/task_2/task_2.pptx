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</p:sldIdLst>
  <p:sldSz cx="22860000" cy="2743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57"/>
    <p:restoredTop sz="94637"/>
  </p:normalViewPr>
  <p:slideViewPr>
    <p:cSldViewPr snapToGrid="0">
      <p:cViewPr>
        <p:scale>
          <a:sx n="111" d="100"/>
          <a:sy n="111" d="100"/>
        </p:scale>
        <p:origin x="-1968" y="-8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4489452"/>
            <a:ext cx="19431000" cy="9550400"/>
          </a:xfrm>
        </p:spPr>
        <p:txBody>
          <a:bodyPr anchor="b"/>
          <a:lstStyle>
            <a:lvl1pPr algn="ctr">
              <a:defRPr sz="1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0" y="14408152"/>
            <a:ext cx="17145000" cy="6623048"/>
          </a:xfrm>
        </p:spPr>
        <p:txBody>
          <a:bodyPr/>
          <a:lstStyle>
            <a:lvl1pPr marL="0" indent="0" algn="ctr">
              <a:buNone/>
              <a:defRPr sz="6000"/>
            </a:lvl1pPr>
            <a:lvl2pPr marL="1143000" indent="0" algn="ctr">
              <a:buNone/>
              <a:defRPr sz="5000"/>
            </a:lvl2pPr>
            <a:lvl3pPr marL="2286000" indent="0" algn="ctr">
              <a:buNone/>
              <a:defRPr sz="4500"/>
            </a:lvl3pPr>
            <a:lvl4pPr marL="3429000" indent="0" algn="ctr">
              <a:buNone/>
              <a:defRPr sz="4000"/>
            </a:lvl4pPr>
            <a:lvl5pPr marL="4572000" indent="0" algn="ctr">
              <a:buNone/>
              <a:defRPr sz="4000"/>
            </a:lvl5pPr>
            <a:lvl6pPr marL="5715000" indent="0" algn="ctr">
              <a:buNone/>
              <a:defRPr sz="4000"/>
            </a:lvl6pPr>
            <a:lvl7pPr marL="6858000" indent="0" algn="ctr">
              <a:buNone/>
              <a:defRPr sz="4000"/>
            </a:lvl7pPr>
            <a:lvl8pPr marL="8001000" indent="0" algn="ctr">
              <a:buNone/>
              <a:defRPr sz="4000"/>
            </a:lvl8pPr>
            <a:lvl9pPr marL="9144000" indent="0" algn="ctr"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C51D8-03A4-AA43-88E5-6FBB93E7B8C5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32B3-7371-E747-83D1-293F3F59C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131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C51D8-03A4-AA43-88E5-6FBB93E7B8C5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32B3-7371-E747-83D1-293F3F59C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94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720" y="6838958"/>
            <a:ext cx="19716750" cy="11410948"/>
          </a:xfrm>
        </p:spPr>
        <p:txBody>
          <a:bodyPr anchor="b"/>
          <a:lstStyle>
            <a:lvl1pPr>
              <a:defRPr sz="1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9720" y="18357858"/>
            <a:ext cx="19716750" cy="6000748"/>
          </a:xfrm>
        </p:spPr>
        <p:txBody>
          <a:bodyPr/>
          <a:lstStyle>
            <a:lvl1pPr marL="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1pPr>
            <a:lvl2pPr marL="1143000" indent="0">
              <a:buNone/>
              <a:defRPr sz="5000">
                <a:solidFill>
                  <a:schemeClr val="tx1">
                    <a:tint val="82000"/>
                  </a:schemeClr>
                </a:solidFill>
              </a:defRPr>
            </a:lvl2pPr>
            <a:lvl3pPr marL="2286000" indent="0">
              <a:buNone/>
              <a:defRPr sz="4500">
                <a:solidFill>
                  <a:schemeClr val="tx1">
                    <a:tint val="82000"/>
                  </a:schemeClr>
                </a:solidFill>
              </a:defRPr>
            </a:lvl3pPr>
            <a:lvl4pPr marL="3429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4pPr>
            <a:lvl5pPr marL="4572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5pPr>
            <a:lvl6pPr marL="5715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6pPr>
            <a:lvl7pPr marL="6858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7pPr>
            <a:lvl8pPr marL="8001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8pPr>
            <a:lvl9pPr marL="9144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C51D8-03A4-AA43-88E5-6FBB93E7B8C5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32B3-7371-E747-83D1-293F3F59C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518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1625" y="7302500"/>
            <a:ext cx="971550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72875" y="7302500"/>
            <a:ext cx="971550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C51D8-03A4-AA43-88E5-6FBB93E7B8C5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32B3-7371-E747-83D1-293F3F59C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660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2" y="1460506"/>
            <a:ext cx="19716750" cy="53022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4605" y="6724652"/>
            <a:ext cx="9670850" cy="3295648"/>
          </a:xfrm>
        </p:spPr>
        <p:txBody>
          <a:bodyPr anchor="b"/>
          <a:lstStyle>
            <a:lvl1pPr marL="0" indent="0">
              <a:buNone/>
              <a:defRPr sz="6000" b="1"/>
            </a:lvl1pPr>
            <a:lvl2pPr marL="1143000" indent="0">
              <a:buNone/>
              <a:defRPr sz="5000" b="1"/>
            </a:lvl2pPr>
            <a:lvl3pPr marL="2286000" indent="0">
              <a:buNone/>
              <a:defRPr sz="4500" b="1"/>
            </a:lvl3pPr>
            <a:lvl4pPr marL="3429000" indent="0">
              <a:buNone/>
              <a:defRPr sz="4000" b="1"/>
            </a:lvl4pPr>
            <a:lvl5pPr marL="4572000" indent="0">
              <a:buNone/>
              <a:defRPr sz="4000" b="1"/>
            </a:lvl5pPr>
            <a:lvl6pPr marL="5715000" indent="0">
              <a:buNone/>
              <a:defRPr sz="4000" b="1"/>
            </a:lvl6pPr>
            <a:lvl7pPr marL="6858000" indent="0">
              <a:buNone/>
              <a:defRPr sz="4000" b="1"/>
            </a:lvl7pPr>
            <a:lvl8pPr marL="8001000" indent="0">
              <a:buNone/>
              <a:defRPr sz="4000" b="1"/>
            </a:lvl8pPr>
            <a:lvl9pPr marL="9144000" indent="0">
              <a:buNone/>
              <a:defRPr sz="4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4605" y="10020300"/>
            <a:ext cx="9670850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572876" y="6724652"/>
            <a:ext cx="9718478" cy="3295648"/>
          </a:xfrm>
        </p:spPr>
        <p:txBody>
          <a:bodyPr anchor="b"/>
          <a:lstStyle>
            <a:lvl1pPr marL="0" indent="0">
              <a:buNone/>
              <a:defRPr sz="6000" b="1"/>
            </a:lvl1pPr>
            <a:lvl2pPr marL="1143000" indent="0">
              <a:buNone/>
              <a:defRPr sz="5000" b="1"/>
            </a:lvl2pPr>
            <a:lvl3pPr marL="2286000" indent="0">
              <a:buNone/>
              <a:defRPr sz="4500" b="1"/>
            </a:lvl3pPr>
            <a:lvl4pPr marL="3429000" indent="0">
              <a:buNone/>
              <a:defRPr sz="4000" b="1"/>
            </a:lvl4pPr>
            <a:lvl5pPr marL="4572000" indent="0">
              <a:buNone/>
              <a:defRPr sz="4000" b="1"/>
            </a:lvl5pPr>
            <a:lvl6pPr marL="5715000" indent="0">
              <a:buNone/>
              <a:defRPr sz="4000" b="1"/>
            </a:lvl6pPr>
            <a:lvl7pPr marL="6858000" indent="0">
              <a:buNone/>
              <a:defRPr sz="4000" b="1"/>
            </a:lvl7pPr>
            <a:lvl8pPr marL="8001000" indent="0">
              <a:buNone/>
              <a:defRPr sz="4000" b="1"/>
            </a:lvl8pPr>
            <a:lvl9pPr marL="9144000" indent="0">
              <a:buNone/>
              <a:defRPr sz="4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572876" y="10020300"/>
            <a:ext cx="9718478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C51D8-03A4-AA43-88E5-6FBB93E7B8C5}" type="datetimeFigureOut">
              <a:rPr lang="en-US" smtClean="0"/>
              <a:t>11/7/25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32B3-7371-E747-83D1-293F3F59C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56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C51D8-03A4-AA43-88E5-6FBB93E7B8C5}" type="datetimeFigureOut">
              <a:rPr lang="en-US" smtClean="0"/>
              <a:t>11/7/25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32B3-7371-E747-83D1-293F3F59C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657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C51D8-03A4-AA43-88E5-6FBB93E7B8C5}" type="datetimeFigureOut">
              <a:rPr lang="en-US" smtClean="0"/>
              <a:t>11/7/25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32B3-7371-E747-83D1-293F3F59C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244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1828800"/>
            <a:ext cx="7372945" cy="640080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8477" y="3949706"/>
            <a:ext cx="11572875" cy="19494500"/>
          </a:xfrm>
        </p:spPr>
        <p:txBody>
          <a:bodyPr/>
          <a:lstStyle>
            <a:lvl1pPr>
              <a:defRPr sz="8000"/>
            </a:lvl1pPr>
            <a:lvl2pPr>
              <a:defRPr sz="7000"/>
            </a:lvl2pPr>
            <a:lvl3pPr>
              <a:defRPr sz="6000"/>
            </a:lvl3pPr>
            <a:lvl4pPr>
              <a:defRPr sz="5000"/>
            </a:lvl4pPr>
            <a:lvl5pPr>
              <a:defRPr sz="5000"/>
            </a:lvl5pPr>
            <a:lvl6pPr>
              <a:defRPr sz="5000"/>
            </a:lvl6pPr>
            <a:lvl7pPr>
              <a:defRPr sz="5000"/>
            </a:lvl7pPr>
            <a:lvl8pPr>
              <a:defRPr sz="5000"/>
            </a:lvl8pPr>
            <a:lvl9pPr>
              <a:defRPr sz="5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3" y="8229600"/>
            <a:ext cx="7372945" cy="15246352"/>
          </a:xfrm>
        </p:spPr>
        <p:txBody>
          <a:bodyPr/>
          <a:lstStyle>
            <a:lvl1pPr marL="0" indent="0">
              <a:buNone/>
              <a:defRPr sz="4000"/>
            </a:lvl1pPr>
            <a:lvl2pPr marL="1143000" indent="0">
              <a:buNone/>
              <a:defRPr sz="3500"/>
            </a:lvl2pPr>
            <a:lvl3pPr marL="2286000" indent="0">
              <a:buNone/>
              <a:defRPr sz="3000"/>
            </a:lvl3pPr>
            <a:lvl4pPr marL="3429000" indent="0">
              <a:buNone/>
              <a:defRPr sz="2500"/>
            </a:lvl4pPr>
            <a:lvl5pPr marL="4572000" indent="0">
              <a:buNone/>
              <a:defRPr sz="2500"/>
            </a:lvl5pPr>
            <a:lvl6pPr marL="5715000" indent="0">
              <a:buNone/>
              <a:defRPr sz="2500"/>
            </a:lvl6pPr>
            <a:lvl7pPr marL="6858000" indent="0">
              <a:buNone/>
              <a:defRPr sz="2500"/>
            </a:lvl7pPr>
            <a:lvl8pPr marL="8001000" indent="0">
              <a:buNone/>
              <a:defRPr sz="2500"/>
            </a:lvl8pPr>
            <a:lvl9pPr marL="9144000" indent="0">
              <a:buNone/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C51D8-03A4-AA43-88E5-6FBB93E7B8C5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32B3-7371-E747-83D1-293F3F59C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90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1828800"/>
            <a:ext cx="7372945" cy="640080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8477" y="3949706"/>
            <a:ext cx="11572875" cy="19494500"/>
          </a:xfrm>
        </p:spPr>
        <p:txBody>
          <a:bodyPr anchor="t"/>
          <a:lstStyle>
            <a:lvl1pPr marL="0" indent="0">
              <a:buNone/>
              <a:defRPr sz="8000"/>
            </a:lvl1pPr>
            <a:lvl2pPr marL="1143000" indent="0">
              <a:buNone/>
              <a:defRPr sz="7000"/>
            </a:lvl2pPr>
            <a:lvl3pPr marL="2286000" indent="0">
              <a:buNone/>
              <a:defRPr sz="6000"/>
            </a:lvl3pPr>
            <a:lvl4pPr marL="3429000" indent="0">
              <a:buNone/>
              <a:defRPr sz="5000"/>
            </a:lvl4pPr>
            <a:lvl5pPr marL="4572000" indent="0">
              <a:buNone/>
              <a:defRPr sz="5000"/>
            </a:lvl5pPr>
            <a:lvl6pPr marL="5715000" indent="0">
              <a:buNone/>
              <a:defRPr sz="5000"/>
            </a:lvl6pPr>
            <a:lvl7pPr marL="6858000" indent="0">
              <a:buNone/>
              <a:defRPr sz="5000"/>
            </a:lvl7pPr>
            <a:lvl8pPr marL="8001000" indent="0">
              <a:buNone/>
              <a:defRPr sz="5000"/>
            </a:lvl8pPr>
            <a:lvl9pPr marL="9144000" indent="0">
              <a:buNone/>
              <a:defRPr sz="5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3" y="8229600"/>
            <a:ext cx="7372945" cy="15246352"/>
          </a:xfrm>
        </p:spPr>
        <p:txBody>
          <a:bodyPr/>
          <a:lstStyle>
            <a:lvl1pPr marL="0" indent="0">
              <a:buNone/>
              <a:defRPr sz="4000"/>
            </a:lvl1pPr>
            <a:lvl2pPr marL="1143000" indent="0">
              <a:buNone/>
              <a:defRPr sz="3500"/>
            </a:lvl2pPr>
            <a:lvl3pPr marL="2286000" indent="0">
              <a:buNone/>
              <a:defRPr sz="3000"/>
            </a:lvl3pPr>
            <a:lvl4pPr marL="3429000" indent="0">
              <a:buNone/>
              <a:defRPr sz="2500"/>
            </a:lvl4pPr>
            <a:lvl5pPr marL="4572000" indent="0">
              <a:buNone/>
              <a:defRPr sz="2500"/>
            </a:lvl5pPr>
            <a:lvl6pPr marL="5715000" indent="0">
              <a:buNone/>
              <a:defRPr sz="2500"/>
            </a:lvl6pPr>
            <a:lvl7pPr marL="6858000" indent="0">
              <a:buNone/>
              <a:defRPr sz="2500"/>
            </a:lvl7pPr>
            <a:lvl8pPr marL="8001000" indent="0">
              <a:buNone/>
              <a:defRPr sz="2500"/>
            </a:lvl8pPr>
            <a:lvl9pPr marL="9144000" indent="0">
              <a:buNone/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C51D8-03A4-AA43-88E5-6FBB93E7B8C5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32B3-7371-E747-83D1-293F3F59C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54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C51D8-03A4-AA43-88E5-6FBB93E7B8C5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32B3-7371-E747-83D1-293F3F59C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682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359189" y="1460500"/>
            <a:ext cx="4929188" cy="232473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1626" y="1460500"/>
            <a:ext cx="14501813" cy="232473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C51D8-03A4-AA43-88E5-6FBB93E7B8C5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32B3-7371-E747-83D1-293F3F59C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981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71625" y="1460506"/>
            <a:ext cx="19716750" cy="5302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625" y="7302500"/>
            <a:ext cx="19716750" cy="17405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71625" y="25425406"/>
            <a:ext cx="51435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9C51D8-03A4-AA43-88E5-6FBB93E7B8C5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72375" y="25425406"/>
            <a:ext cx="771525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44875" y="25425406"/>
            <a:ext cx="51435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D532B3-7371-E747-83D1-293F3F59C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548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286000" rtl="0" eaLnBrk="1" latinLnBrk="0" hangingPunct="1">
        <a:lnSpc>
          <a:spcPct val="90000"/>
        </a:lnSpc>
        <a:spcBef>
          <a:spcPct val="0"/>
        </a:spcBef>
        <a:buNone/>
        <a:defRPr sz="11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1500" indent="-571500" algn="l" defTabSz="2286000" rtl="0" eaLnBrk="1" latinLnBrk="0" hangingPunct="1">
        <a:lnSpc>
          <a:spcPct val="90000"/>
        </a:lnSpc>
        <a:spcBef>
          <a:spcPts val="2500"/>
        </a:spcBef>
        <a:buFont typeface="Arial" panose="020B0604020202020204" pitchFamily="34" charset="0"/>
        <a:buChar char="•"/>
        <a:defRPr sz="700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2pPr>
      <a:lvl3pPr marL="2857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5000" kern="1200">
          <a:solidFill>
            <a:schemeClr val="tx1"/>
          </a:solidFill>
          <a:latin typeface="+mn-lt"/>
          <a:ea typeface="+mn-ea"/>
          <a:cs typeface="+mn-cs"/>
        </a:defRPr>
      </a:lvl3pPr>
      <a:lvl4pPr marL="4000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5143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6286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7429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8572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9715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1pPr>
      <a:lvl2pPr marL="1143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3pPr>
      <a:lvl4pPr marL="3429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4572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5715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6858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8001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9144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9E5C5A-6EC4-D76E-D82B-E0D548C60D97}"/>
              </a:ext>
            </a:extLst>
          </p:cNvPr>
          <p:cNvSpPr txBox="1"/>
          <p:nvPr/>
        </p:nvSpPr>
        <p:spPr>
          <a:xfrm>
            <a:off x="712161" y="788432"/>
            <a:ext cx="18321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1.2.1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670889-8735-9329-9022-484E2B689A97}"/>
              </a:ext>
            </a:extLst>
          </p:cNvPr>
          <p:cNvSpPr txBox="1"/>
          <p:nvPr/>
        </p:nvSpPr>
        <p:spPr>
          <a:xfrm>
            <a:off x="712162" y="1242125"/>
            <a:ext cx="8524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dirty="0"/>
              <a:t>Zamiana notacji </a:t>
            </a:r>
            <a:r>
              <a:rPr lang="pl-PL" sz="3600" dirty="0" err="1"/>
              <a:t>infiksowej</a:t>
            </a:r>
            <a:r>
              <a:rPr lang="pl-PL" sz="3600" dirty="0"/>
              <a:t> w </a:t>
            </a:r>
            <a:r>
              <a:rPr lang="pl-PL" sz="3600" dirty="0" err="1"/>
              <a:t>postfiksową</a:t>
            </a:r>
            <a:r>
              <a:rPr lang="pl-PL" sz="3600" dirty="0"/>
              <a:t>.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9029DBB9-2614-F686-2D60-FB22D588AC4D}"/>
              </a:ext>
            </a:extLst>
          </p:cNvPr>
          <p:cNvSpPr/>
          <p:nvPr/>
        </p:nvSpPr>
        <p:spPr>
          <a:xfrm>
            <a:off x="10368861" y="3019995"/>
            <a:ext cx="914400" cy="30175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Start</a:t>
            </a:r>
          </a:p>
        </p:txBody>
      </p:sp>
      <p:sp>
        <p:nvSpPr>
          <p:cNvPr id="7" name="Process 6">
            <a:extLst>
              <a:ext uri="{FF2B5EF4-FFF2-40B4-BE49-F238E27FC236}">
                <a16:creationId xmlns:a16="http://schemas.microsoft.com/office/drawing/2014/main" id="{953F89E7-8B6D-D39D-2796-B479AE066089}"/>
              </a:ext>
            </a:extLst>
          </p:cNvPr>
          <p:cNvSpPr/>
          <p:nvPr/>
        </p:nvSpPr>
        <p:spPr>
          <a:xfrm>
            <a:off x="9265894" y="5122703"/>
            <a:ext cx="3120337" cy="109610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values</a:t>
            </a:r>
            <a:r>
              <a:rPr lang="pl-PL" sz="1200" dirty="0"/>
              <a:t> ← pusty stos typu tekstowego</a:t>
            </a:r>
          </a:p>
          <a:p>
            <a:pPr algn="ctr"/>
            <a:r>
              <a:rPr lang="pl-PL" sz="1200" i="1" dirty="0" err="1"/>
              <a:t>operations</a:t>
            </a:r>
            <a:r>
              <a:rPr lang="pl-PL" sz="1200" dirty="0"/>
              <a:t> ← pusty stos typu tekstowego</a:t>
            </a:r>
          </a:p>
          <a:p>
            <a:pPr algn="ctr"/>
            <a:r>
              <a:rPr lang="pl-PL" sz="1200" i="1" dirty="0" err="1"/>
              <a:t>infix_equation</a:t>
            </a:r>
            <a:r>
              <a:rPr lang="pl-PL" sz="1200" dirty="0"/>
              <a:t> ← „(” + </a:t>
            </a:r>
            <a:r>
              <a:rPr lang="pl-PL" sz="1200" i="1" dirty="0" err="1"/>
              <a:t>infix_equation</a:t>
            </a:r>
            <a:r>
              <a:rPr lang="pl-PL" sz="1200" i="1" dirty="0"/>
              <a:t> + „)”</a:t>
            </a:r>
            <a:endParaRPr lang="pl-PL" sz="1200" dirty="0"/>
          </a:p>
          <a:p>
            <a:pPr algn="ctr"/>
            <a:r>
              <a:rPr lang="pl-PL" sz="1200" i="1" dirty="0" err="1"/>
              <a:t>is_previous_symbol_numeric</a:t>
            </a:r>
            <a:r>
              <a:rPr lang="pl-PL" sz="1200" dirty="0"/>
              <a:t> ← fałsz</a:t>
            </a:r>
          </a:p>
          <a:p>
            <a:pPr algn="ctr"/>
            <a:r>
              <a:rPr lang="pl-PL" sz="1200" i="1" dirty="0" err="1"/>
              <a:t>symbol_index</a:t>
            </a:r>
            <a:r>
              <a:rPr lang="pl-PL" sz="1200" i="1" dirty="0"/>
              <a:t> </a:t>
            </a:r>
            <a:r>
              <a:rPr lang="pl-PL" sz="1200" dirty="0"/>
              <a:t>← 1</a:t>
            </a:r>
          </a:p>
        </p:txBody>
      </p:sp>
      <p:sp>
        <p:nvSpPr>
          <p:cNvPr id="8" name="Data 7">
            <a:extLst>
              <a:ext uri="{FF2B5EF4-FFF2-40B4-BE49-F238E27FC236}">
                <a16:creationId xmlns:a16="http://schemas.microsoft.com/office/drawing/2014/main" id="{186C3F40-92E2-DC03-DF87-F3D86A28CD05}"/>
              </a:ext>
            </a:extLst>
          </p:cNvPr>
          <p:cNvSpPr/>
          <p:nvPr/>
        </p:nvSpPr>
        <p:spPr>
          <a:xfrm>
            <a:off x="8889686" y="4264739"/>
            <a:ext cx="3872753" cy="612648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Wczytaj równanie w notacji </a:t>
            </a:r>
            <a:r>
              <a:rPr lang="pl-PL" sz="1200" dirty="0" err="1"/>
              <a:t>infksowej</a:t>
            </a:r>
            <a:r>
              <a:rPr lang="pl-PL" sz="1200" dirty="0"/>
              <a:t> do </a:t>
            </a:r>
            <a:r>
              <a:rPr lang="pl-PL" sz="1200" i="1" dirty="0" err="1"/>
              <a:t>infix_equation</a:t>
            </a:r>
            <a:r>
              <a:rPr lang="pl-PL" sz="1200" dirty="0"/>
              <a:t> </a:t>
            </a:r>
          </a:p>
        </p:txBody>
      </p:sp>
      <p:sp>
        <p:nvSpPr>
          <p:cNvPr id="10" name="Decision 9">
            <a:extLst>
              <a:ext uri="{FF2B5EF4-FFF2-40B4-BE49-F238E27FC236}">
                <a16:creationId xmlns:a16="http://schemas.microsoft.com/office/drawing/2014/main" id="{0CEB0666-60E8-F01E-3CC6-F2B1E809380D}"/>
              </a:ext>
            </a:extLst>
          </p:cNvPr>
          <p:cNvSpPr/>
          <p:nvPr/>
        </p:nvSpPr>
        <p:spPr>
          <a:xfrm>
            <a:off x="9367572" y="6602550"/>
            <a:ext cx="2916978" cy="712171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symbol_index</a:t>
            </a:r>
            <a:r>
              <a:rPr lang="pl-PL" sz="1200" i="1" dirty="0"/>
              <a:t> </a:t>
            </a:r>
            <a:r>
              <a:rPr lang="pl-PL" sz="1200" dirty="0"/>
              <a:t>&lt;=</a:t>
            </a:r>
          </a:p>
          <a:p>
            <a:pPr algn="ctr"/>
            <a:r>
              <a:rPr lang="pl-PL" sz="1200" dirty="0"/>
              <a:t>długość</a:t>
            </a:r>
            <a:br>
              <a:rPr lang="pl-PL" sz="1200" dirty="0"/>
            </a:br>
            <a:r>
              <a:rPr lang="pl-PL" sz="1200" dirty="0"/>
              <a:t>(</a:t>
            </a:r>
            <a:r>
              <a:rPr lang="pl-PL" sz="1200" i="1" dirty="0" err="1"/>
              <a:t>infix_equation</a:t>
            </a:r>
            <a:r>
              <a:rPr lang="pl-PL" sz="1200" dirty="0"/>
              <a:t>)</a:t>
            </a:r>
          </a:p>
        </p:txBody>
      </p:sp>
      <p:sp>
        <p:nvSpPr>
          <p:cNvPr id="11" name="Decision 10">
            <a:extLst>
              <a:ext uri="{FF2B5EF4-FFF2-40B4-BE49-F238E27FC236}">
                <a16:creationId xmlns:a16="http://schemas.microsoft.com/office/drawing/2014/main" id="{2CE122A9-4964-812E-6A8D-162A3D5CBE87}"/>
              </a:ext>
            </a:extLst>
          </p:cNvPr>
          <p:cNvSpPr/>
          <p:nvPr/>
        </p:nvSpPr>
        <p:spPr>
          <a:xfrm>
            <a:off x="11658643" y="8145594"/>
            <a:ext cx="2916978" cy="712171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/>
              <a:t>symbol</a:t>
            </a:r>
            <a:r>
              <a:rPr lang="pl-PL" sz="1200" dirty="0"/>
              <a:t> jest liczbą?</a:t>
            </a:r>
          </a:p>
        </p:txBody>
      </p:sp>
      <p:sp>
        <p:nvSpPr>
          <p:cNvPr id="12" name="Process 11">
            <a:extLst>
              <a:ext uri="{FF2B5EF4-FFF2-40B4-BE49-F238E27FC236}">
                <a16:creationId xmlns:a16="http://schemas.microsoft.com/office/drawing/2014/main" id="{9D39F71C-D58B-2679-9B80-CE7B3FAC3785}"/>
              </a:ext>
            </a:extLst>
          </p:cNvPr>
          <p:cNvSpPr/>
          <p:nvPr/>
        </p:nvSpPr>
        <p:spPr>
          <a:xfrm>
            <a:off x="13711778" y="10313705"/>
            <a:ext cx="3415105" cy="34629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Wstaw na górę stosu </a:t>
            </a:r>
            <a:r>
              <a:rPr lang="pl-PL" sz="1200" i="1" dirty="0" err="1"/>
              <a:t>values</a:t>
            </a:r>
            <a:r>
              <a:rPr lang="pl-PL" sz="1200" dirty="0"/>
              <a:t> wartość </a:t>
            </a:r>
            <a:r>
              <a:rPr lang="pl-PL" sz="1200" i="1" dirty="0"/>
              <a:t>symbol</a:t>
            </a:r>
          </a:p>
        </p:txBody>
      </p:sp>
      <p:sp>
        <p:nvSpPr>
          <p:cNvPr id="13" name="Process 12">
            <a:extLst>
              <a:ext uri="{FF2B5EF4-FFF2-40B4-BE49-F238E27FC236}">
                <a16:creationId xmlns:a16="http://schemas.microsoft.com/office/drawing/2014/main" id="{188AE081-C11E-ABB2-838C-B65EF96E354E}"/>
              </a:ext>
            </a:extLst>
          </p:cNvPr>
          <p:cNvSpPr/>
          <p:nvPr/>
        </p:nvSpPr>
        <p:spPr>
          <a:xfrm>
            <a:off x="18277388" y="10037467"/>
            <a:ext cx="3673584" cy="89876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/>
              <a:t>temp1</a:t>
            </a:r>
            <a:r>
              <a:rPr lang="pl-PL" sz="1200" dirty="0"/>
              <a:t> ← Wartość z góry stosu </a:t>
            </a:r>
            <a:r>
              <a:rPr lang="pl-PL" sz="1200" i="1" dirty="0" err="1"/>
              <a:t>values</a:t>
            </a:r>
            <a:endParaRPr lang="pl-PL" sz="1200" i="1" dirty="0"/>
          </a:p>
          <a:p>
            <a:pPr algn="ctr"/>
            <a:r>
              <a:rPr lang="pl-PL" sz="1200" dirty="0"/>
              <a:t>Usuń wartość z góry stosu </a:t>
            </a:r>
            <a:r>
              <a:rPr lang="pl-PL" sz="1200" i="1" dirty="0" err="1"/>
              <a:t>values</a:t>
            </a:r>
            <a:endParaRPr lang="pl-PL" sz="1200" i="1" dirty="0"/>
          </a:p>
          <a:p>
            <a:pPr algn="ctr"/>
            <a:r>
              <a:rPr lang="pl-PL" sz="1200" i="1" dirty="0"/>
              <a:t>temp2</a:t>
            </a:r>
            <a:r>
              <a:rPr lang="pl-PL" sz="1200" dirty="0"/>
              <a:t> ← </a:t>
            </a:r>
            <a:r>
              <a:rPr lang="pl-PL" sz="1200" i="1" dirty="0"/>
              <a:t>temp1</a:t>
            </a:r>
            <a:r>
              <a:rPr lang="pl-PL" sz="1200" dirty="0"/>
              <a:t> + </a:t>
            </a:r>
            <a:r>
              <a:rPr lang="pl-PL" sz="1200" i="1" dirty="0"/>
              <a:t>symbol</a:t>
            </a:r>
          </a:p>
          <a:p>
            <a:pPr algn="ctr"/>
            <a:r>
              <a:rPr lang="pl-PL" sz="1200" dirty="0"/>
              <a:t>Wstaw na górę stosu </a:t>
            </a:r>
            <a:r>
              <a:rPr lang="pl-PL" sz="1200" i="1" dirty="0" err="1"/>
              <a:t>values</a:t>
            </a:r>
            <a:r>
              <a:rPr lang="pl-PL" sz="1200" dirty="0"/>
              <a:t> wartość </a:t>
            </a:r>
            <a:r>
              <a:rPr lang="pl-PL" sz="1200" i="1" dirty="0"/>
              <a:t>temp2</a:t>
            </a:r>
          </a:p>
        </p:txBody>
      </p:sp>
      <p:sp>
        <p:nvSpPr>
          <p:cNvPr id="14" name="Decision 13">
            <a:extLst>
              <a:ext uri="{FF2B5EF4-FFF2-40B4-BE49-F238E27FC236}">
                <a16:creationId xmlns:a16="http://schemas.microsoft.com/office/drawing/2014/main" id="{4D2D058B-F713-5598-E6F0-65D5388714CE}"/>
              </a:ext>
            </a:extLst>
          </p:cNvPr>
          <p:cNvSpPr/>
          <p:nvPr/>
        </p:nvSpPr>
        <p:spPr>
          <a:xfrm>
            <a:off x="16052696" y="9091769"/>
            <a:ext cx="3239430" cy="712171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is_previous_symbol_numeric</a:t>
            </a:r>
            <a:r>
              <a:rPr lang="pl-PL" sz="1200" i="1" dirty="0"/>
              <a:t> = prawda</a:t>
            </a:r>
            <a:endParaRPr lang="pl-PL" sz="1200" dirty="0"/>
          </a:p>
        </p:txBody>
      </p:sp>
      <p:sp>
        <p:nvSpPr>
          <p:cNvPr id="15" name="Process 14">
            <a:extLst>
              <a:ext uri="{FF2B5EF4-FFF2-40B4-BE49-F238E27FC236}">
                <a16:creationId xmlns:a16="http://schemas.microsoft.com/office/drawing/2014/main" id="{2DBCD415-01DF-F0DB-0AE0-564DA9E65D3D}"/>
              </a:ext>
            </a:extLst>
          </p:cNvPr>
          <p:cNvSpPr/>
          <p:nvPr/>
        </p:nvSpPr>
        <p:spPr>
          <a:xfrm>
            <a:off x="16112245" y="11562788"/>
            <a:ext cx="3120337" cy="34629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is_previous_symbol_numeric</a:t>
            </a:r>
            <a:r>
              <a:rPr lang="pl-PL" sz="1200" dirty="0"/>
              <a:t> ← prawda</a:t>
            </a:r>
          </a:p>
        </p:txBody>
      </p:sp>
      <p:sp>
        <p:nvSpPr>
          <p:cNvPr id="16" name="Process 15">
            <a:extLst>
              <a:ext uri="{FF2B5EF4-FFF2-40B4-BE49-F238E27FC236}">
                <a16:creationId xmlns:a16="http://schemas.microsoft.com/office/drawing/2014/main" id="{1550E7CC-EA1D-63B2-51A8-100713CC028F}"/>
              </a:ext>
            </a:extLst>
          </p:cNvPr>
          <p:cNvSpPr/>
          <p:nvPr/>
        </p:nvSpPr>
        <p:spPr>
          <a:xfrm>
            <a:off x="2734865" y="9224798"/>
            <a:ext cx="3120337" cy="34629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is_previous_symbol_numeric</a:t>
            </a:r>
            <a:r>
              <a:rPr lang="pl-PL" sz="1200" dirty="0"/>
              <a:t> ← fałsz</a:t>
            </a:r>
          </a:p>
        </p:txBody>
      </p:sp>
      <p:sp>
        <p:nvSpPr>
          <p:cNvPr id="17" name="Decision 16">
            <a:extLst>
              <a:ext uri="{FF2B5EF4-FFF2-40B4-BE49-F238E27FC236}">
                <a16:creationId xmlns:a16="http://schemas.microsoft.com/office/drawing/2014/main" id="{82874E08-D8CA-2F84-2C0E-D6531DABA5B7}"/>
              </a:ext>
            </a:extLst>
          </p:cNvPr>
          <p:cNvSpPr/>
          <p:nvPr/>
        </p:nvSpPr>
        <p:spPr>
          <a:xfrm>
            <a:off x="2844062" y="11272433"/>
            <a:ext cx="2916978" cy="712171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/>
              <a:t>symbol</a:t>
            </a:r>
            <a:r>
              <a:rPr lang="pl-PL" sz="1200" dirty="0"/>
              <a:t> = „(”</a:t>
            </a:r>
          </a:p>
        </p:txBody>
      </p:sp>
      <p:sp>
        <p:nvSpPr>
          <p:cNvPr id="19" name="Process 18">
            <a:extLst>
              <a:ext uri="{FF2B5EF4-FFF2-40B4-BE49-F238E27FC236}">
                <a16:creationId xmlns:a16="http://schemas.microsoft.com/office/drawing/2014/main" id="{762F5DF0-C872-99AE-C01A-E95094C8E2EC}"/>
              </a:ext>
            </a:extLst>
          </p:cNvPr>
          <p:cNvSpPr/>
          <p:nvPr/>
        </p:nvSpPr>
        <p:spPr>
          <a:xfrm>
            <a:off x="5387653" y="12226437"/>
            <a:ext cx="3415105" cy="34629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Wstaw na górę stosu </a:t>
            </a:r>
            <a:r>
              <a:rPr lang="pl-PL" sz="1200" i="1" dirty="0" err="1"/>
              <a:t>operations</a:t>
            </a:r>
            <a:r>
              <a:rPr lang="pl-PL" sz="1200" dirty="0"/>
              <a:t> wartość </a:t>
            </a:r>
            <a:r>
              <a:rPr lang="pl-PL" sz="1200" i="1" dirty="0"/>
              <a:t>symbol</a:t>
            </a:r>
          </a:p>
        </p:txBody>
      </p:sp>
      <p:sp>
        <p:nvSpPr>
          <p:cNvPr id="22" name="Decision 21">
            <a:extLst>
              <a:ext uri="{FF2B5EF4-FFF2-40B4-BE49-F238E27FC236}">
                <a16:creationId xmlns:a16="http://schemas.microsoft.com/office/drawing/2014/main" id="{B821F8E9-5CB4-1DA5-621B-064A6CA087BD}"/>
              </a:ext>
            </a:extLst>
          </p:cNvPr>
          <p:cNvSpPr/>
          <p:nvPr/>
        </p:nvSpPr>
        <p:spPr>
          <a:xfrm>
            <a:off x="7439241" y="13810222"/>
            <a:ext cx="3683048" cy="712171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Wartość na górze stosu </a:t>
            </a:r>
            <a:r>
              <a:rPr lang="pl-PL" sz="1200" i="1" dirty="0" err="1"/>
              <a:t>operations</a:t>
            </a:r>
            <a:r>
              <a:rPr lang="pl-PL" sz="1200" dirty="0"/>
              <a:t> &lt;&gt; „(”</a:t>
            </a:r>
          </a:p>
        </p:txBody>
      </p:sp>
      <p:sp>
        <p:nvSpPr>
          <p:cNvPr id="23" name="Process 22">
            <a:extLst>
              <a:ext uri="{FF2B5EF4-FFF2-40B4-BE49-F238E27FC236}">
                <a16:creationId xmlns:a16="http://schemas.microsoft.com/office/drawing/2014/main" id="{EC0FFD81-674A-BB70-CA92-0D842833716E}"/>
              </a:ext>
            </a:extLst>
          </p:cNvPr>
          <p:cNvSpPr/>
          <p:nvPr/>
        </p:nvSpPr>
        <p:spPr>
          <a:xfrm>
            <a:off x="9383543" y="14782191"/>
            <a:ext cx="4481905" cy="169329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right_operand</a:t>
            </a:r>
            <a:r>
              <a:rPr lang="pl-PL" sz="1200" dirty="0"/>
              <a:t> ← Wartość na górze stosu </a:t>
            </a:r>
            <a:r>
              <a:rPr lang="pl-PL" sz="1200" i="1" dirty="0" err="1"/>
              <a:t>values</a:t>
            </a:r>
            <a:endParaRPr lang="pl-PL" sz="1200" dirty="0"/>
          </a:p>
          <a:p>
            <a:pPr algn="ctr"/>
            <a:r>
              <a:rPr lang="pl-PL" sz="1200" dirty="0"/>
              <a:t>Usuń wartość z góry stosu </a:t>
            </a:r>
            <a:r>
              <a:rPr lang="pl-PL" sz="1200" i="1" dirty="0" err="1"/>
              <a:t>values</a:t>
            </a:r>
            <a:r>
              <a:rPr lang="pl-PL" sz="1200" dirty="0"/>
              <a:t>.</a:t>
            </a:r>
          </a:p>
          <a:p>
            <a:pPr algn="ctr"/>
            <a:r>
              <a:rPr lang="pl-PL" sz="1200" i="1" dirty="0" err="1"/>
              <a:t>left_operand</a:t>
            </a:r>
            <a:r>
              <a:rPr lang="pl-PL" sz="1200" dirty="0"/>
              <a:t> ← Wartość na górze stosu </a:t>
            </a:r>
            <a:r>
              <a:rPr lang="pl-PL" sz="1200" i="1" dirty="0" err="1"/>
              <a:t>values</a:t>
            </a:r>
            <a:endParaRPr lang="pl-PL" sz="1200" dirty="0"/>
          </a:p>
          <a:p>
            <a:pPr algn="ctr"/>
            <a:r>
              <a:rPr lang="pl-PL" sz="1200" dirty="0"/>
              <a:t>Usuń wartość z góry stosu </a:t>
            </a:r>
            <a:r>
              <a:rPr lang="pl-PL" sz="1200" i="1" dirty="0" err="1"/>
              <a:t>values</a:t>
            </a:r>
            <a:r>
              <a:rPr lang="pl-PL" sz="1200" dirty="0"/>
              <a:t>.</a:t>
            </a:r>
          </a:p>
          <a:p>
            <a:pPr algn="ctr"/>
            <a:r>
              <a:rPr lang="pl-PL" sz="1200" i="1" dirty="0" err="1"/>
              <a:t>operation</a:t>
            </a:r>
            <a:r>
              <a:rPr lang="pl-PL" sz="1200" dirty="0"/>
              <a:t> ← Wartość na górze stosu </a:t>
            </a:r>
            <a:r>
              <a:rPr lang="pl-PL" sz="1200" i="1" dirty="0" err="1"/>
              <a:t>operations</a:t>
            </a:r>
            <a:endParaRPr lang="pl-PL" sz="1200" dirty="0"/>
          </a:p>
          <a:p>
            <a:pPr algn="ctr"/>
            <a:r>
              <a:rPr lang="pl-PL" sz="1200" dirty="0"/>
              <a:t>Usuń wartość z góry stosu </a:t>
            </a:r>
            <a:r>
              <a:rPr lang="pl-PL" sz="1200" i="1" dirty="0" err="1"/>
              <a:t>operations</a:t>
            </a:r>
            <a:endParaRPr lang="pl-PL" sz="1200" dirty="0"/>
          </a:p>
          <a:p>
            <a:pPr algn="ctr"/>
            <a:r>
              <a:rPr lang="pl-PL" sz="1200" i="1" dirty="0"/>
              <a:t>temp1</a:t>
            </a:r>
            <a:r>
              <a:rPr lang="pl-PL" sz="1200" dirty="0"/>
              <a:t> ← </a:t>
            </a:r>
            <a:r>
              <a:rPr lang="pl-PL" sz="1200" i="1" dirty="0" err="1"/>
              <a:t>left_operand</a:t>
            </a:r>
            <a:r>
              <a:rPr lang="pl-PL" sz="1200" dirty="0"/>
              <a:t> + „ ” + </a:t>
            </a:r>
            <a:r>
              <a:rPr lang="pl-PL" sz="1200" i="1" dirty="0" err="1"/>
              <a:t>operation</a:t>
            </a:r>
            <a:r>
              <a:rPr lang="pl-PL" sz="1200" dirty="0"/>
              <a:t> + „ ” + </a:t>
            </a:r>
            <a:r>
              <a:rPr lang="pl-PL" sz="1200" i="1" dirty="0" err="1"/>
              <a:t>left_operand</a:t>
            </a:r>
            <a:endParaRPr lang="pl-PL" sz="1200" i="1" dirty="0"/>
          </a:p>
          <a:p>
            <a:pPr algn="ctr"/>
            <a:r>
              <a:rPr lang="pl-PL" sz="1200" dirty="0"/>
              <a:t>Wstaw wartość </a:t>
            </a:r>
            <a:r>
              <a:rPr lang="pl-PL" sz="1200" i="1" dirty="0"/>
              <a:t>temp1</a:t>
            </a:r>
            <a:r>
              <a:rPr lang="pl-PL" sz="1200" dirty="0"/>
              <a:t> na górę stosu </a:t>
            </a:r>
            <a:r>
              <a:rPr lang="pl-PL" sz="1200" i="1" dirty="0" err="1"/>
              <a:t>values</a:t>
            </a:r>
            <a:endParaRPr lang="pl-PL" sz="1200" dirty="0"/>
          </a:p>
        </p:txBody>
      </p:sp>
      <p:sp>
        <p:nvSpPr>
          <p:cNvPr id="24" name="Process 23">
            <a:extLst>
              <a:ext uri="{FF2B5EF4-FFF2-40B4-BE49-F238E27FC236}">
                <a16:creationId xmlns:a16="http://schemas.microsoft.com/office/drawing/2014/main" id="{E898C6AB-5B88-EC8D-0BC1-CB862D47164D}"/>
              </a:ext>
            </a:extLst>
          </p:cNvPr>
          <p:cNvSpPr/>
          <p:nvPr/>
        </p:nvSpPr>
        <p:spPr>
          <a:xfrm>
            <a:off x="5387653" y="14797215"/>
            <a:ext cx="3415105" cy="34629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Usuń wartość z góry stosu </a:t>
            </a:r>
            <a:r>
              <a:rPr lang="pl-PL" sz="1200" i="1" dirty="0" err="1"/>
              <a:t>operations</a:t>
            </a:r>
            <a:r>
              <a:rPr lang="pl-PL" sz="1200" dirty="0"/>
              <a:t>.</a:t>
            </a:r>
            <a:endParaRPr lang="pl-PL" sz="1200" i="1" dirty="0"/>
          </a:p>
        </p:txBody>
      </p:sp>
      <p:sp>
        <p:nvSpPr>
          <p:cNvPr id="26" name="Process 25">
            <a:extLst>
              <a:ext uri="{FF2B5EF4-FFF2-40B4-BE49-F238E27FC236}">
                <a16:creationId xmlns:a16="http://schemas.microsoft.com/office/drawing/2014/main" id="{1F8297C7-3B4B-704D-6512-6D936863DA34}"/>
              </a:ext>
            </a:extLst>
          </p:cNvPr>
          <p:cNvSpPr/>
          <p:nvPr/>
        </p:nvSpPr>
        <p:spPr>
          <a:xfrm>
            <a:off x="9265894" y="3548088"/>
            <a:ext cx="3120337" cy="48717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operation_order</a:t>
            </a:r>
            <a:r>
              <a:rPr lang="pl-PL" sz="1200" i="1" dirty="0"/>
              <a:t> </a:t>
            </a:r>
            <a:r>
              <a:rPr lang="pl-PL" sz="1200" dirty="0"/>
              <a:t>← mapa wartości</a:t>
            </a:r>
          </a:p>
          <a:p>
            <a:pPr algn="ctr"/>
            <a:r>
              <a:rPr lang="pl-PL" sz="1200" i="1" dirty="0"/>
              <a:t>{"(": 0, "+": 1, "-": 1, "*": 2, "/": 2, "^": 3}</a:t>
            </a:r>
          </a:p>
        </p:txBody>
      </p:sp>
      <p:sp>
        <p:nvSpPr>
          <p:cNvPr id="27" name="Decision 26">
            <a:extLst>
              <a:ext uri="{FF2B5EF4-FFF2-40B4-BE49-F238E27FC236}">
                <a16:creationId xmlns:a16="http://schemas.microsoft.com/office/drawing/2014/main" id="{09D442B7-BAFD-F205-3E5B-49A99C6062AE}"/>
              </a:ext>
            </a:extLst>
          </p:cNvPr>
          <p:cNvSpPr/>
          <p:nvPr/>
        </p:nvSpPr>
        <p:spPr>
          <a:xfrm>
            <a:off x="3964569" y="18636226"/>
            <a:ext cx="3683048" cy="712171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 err="1"/>
              <a:t>precedence_on_stack</a:t>
            </a:r>
            <a:r>
              <a:rPr lang="pl-PL" sz="1200" dirty="0"/>
              <a:t> &gt; </a:t>
            </a:r>
            <a:r>
              <a:rPr lang="pl-PL" sz="1200" dirty="0" err="1"/>
              <a:t>current_precedence</a:t>
            </a:r>
            <a:endParaRPr lang="pl-PL" sz="1200" dirty="0"/>
          </a:p>
        </p:txBody>
      </p:sp>
      <p:sp>
        <p:nvSpPr>
          <p:cNvPr id="28" name="Process 27">
            <a:extLst>
              <a:ext uri="{FF2B5EF4-FFF2-40B4-BE49-F238E27FC236}">
                <a16:creationId xmlns:a16="http://schemas.microsoft.com/office/drawing/2014/main" id="{25832528-0FAF-8F78-4CC9-9B710B50751C}"/>
              </a:ext>
            </a:extLst>
          </p:cNvPr>
          <p:cNvSpPr/>
          <p:nvPr/>
        </p:nvSpPr>
        <p:spPr>
          <a:xfrm>
            <a:off x="4098544" y="17848299"/>
            <a:ext cx="3415105" cy="549643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/>
              <a:t>temp1</a:t>
            </a:r>
            <a:r>
              <a:rPr lang="pl-PL" sz="1200" dirty="0"/>
              <a:t> ← Wartość na górze stosu </a:t>
            </a:r>
            <a:r>
              <a:rPr lang="pl-PL" sz="1200" i="1" dirty="0" err="1"/>
              <a:t>operations</a:t>
            </a:r>
            <a:endParaRPr lang="pl-PL" sz="1200" i="1" dirty="0"/>
          </a:p>
          <a:p>
            <a:pPr algn="ctr"/>
            <a:r>
              <a:rPr lang="pl-PL" sz="1200" i="1" dirty="0" err="1"/>
              <a:t>precedence_on_stack</a:t>
            </a:r>
            <a:r>
              <a:rPr lang="pl-PL" sz="1200" i="1" dirty="0"/>
              <a:t> </a:t>
            </a:r>
            <a:r>
              <a:rPr lang="pl-PL" sz="1200" dirty="0"/>
              <a:t>← </a:t>
            </a:r>
            <a:r>
              <a:rPr lang="pl-PL" sz="1200" i="1" dirty="0" err="1"/>
              <a:t>operation_order</a:t>
            </a:r>
            <a:r>
              <a:rPr lang="pl-PL" sz="1200" dirty="0"/>
              <a:t>[</a:t>
            </a:r>
            <a:r>
              <a:rPr lang="pl-PL" sz="1200" i="1" dirty="0"/>
              <a:t>temp1</a:t>
            </a:r>
            <a:r>
              <a:rPr lang="pl-PL" sz="1200" dirty="0"/>
              <a:t>]</a:t>
            </a:r>
          </a:p>
        </p:txBody>
      </p:sp>
      <p:sp>
        <p:nvSpPr>
          <p:cNvPr id="30" name="Process 29">
            <a:extLst>
              <a:ext uri="{FF2B5EF4-FFF2-40B4-BE49-F238E27FC236}">
                <a16:creationId xmlns:a16="http://schemas.microsoft.com/office/drawing/2014/main" id="{8F82A60D-B77A-F37B-EDD6-71BC5F50E5BC}"/>
              </a:ext>
            </a:extLst>
          </p:cNvPr>
          <p:cNvSpPr/>
          <p:nvPr/>
        </p:nvSpPr>
        <p:spPr>
          <a:xfrm>
            <a:off x="4098544" y="17263720"/>
            <a:ext cx="3415105" cy="34629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current_precedence</a:t>
            </a:r>
            <a:r>
              <a:rPr lang="pl-PL" sz="1200" i="1" dirty="0"/>
              <a:t> </a:t>
            </a:r>
            <a:r>
              <a:rPr lang="pl-PL" sz="1200" dirty="0"/>
              <a:t>← </a:t>
            </a:r>
            <a:r>
              <a:rPr lang="pl-PL" sz="1200" dirty="0" err="1"/>
              <a:t>operation_order</a:t>
            </a:r>
            <a:r>
              <a:rPr lang="pl-PL" sz="1200" dirty="0"/>
              <a:t>[symbol]</a:t>
            </a:r>
            <a:endParaRPr lang="pl-PL" sz="1200" i="1" dirty="0"/>
          </a:p>
        </p:txBody>
      </p:sp>
      <p:sp>
        <p:nvSpPr>
          <p:cNvPr id="31" name="Process 30">
            <a:extLst>
              <a:ext uri="{FF2B5EF4-FFF2-40B4-BE49-F238E27FC236}">
                <a16:creationId xmlns:a16="http://schemas.microsoft.com/office/drawing/2014/main" id="{4A1F3E37-174E-E7E8-9030-8CB816809461}"/>
              </a:ext>
            </a:extLst>
          </p:cNvPr>
          <p:cNvSpPr/>
          <p:nvPr/>
        </p:nvSpPr>
        <p:spPr>
          <a:xfrm>
            <a:off x="5866160" y="19586034"/>
            <a:ext cx="4481905" cy="169329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right_operand</a:t>
            </a:r>
            <a:r>
              <a:rPr lang="pl-PL" sz="1200" dirty="0"/>
              <a:t> ← Wartość na górze stosu </a:t>
            </a:r>
            <a:r>
              <a:rPr lang="pl-PL" sz="1200" i="1" dirty="0" err="1"/>
              <a:t>values</a:t>
            </a:r>
            <a:endParaRPr lang="pl-PL" sz="1200" dirty="0"/>
          </a:p>
          <a:p>
            <a:pPr algn="ctr"/>
            <a:r>
              <a:rPr lang="pl-PL" sz="1200" dirty="0"/>
              <a:t>Usuń wartość z góry stosu </a:t>
            </a:r>
            <a:r>
              <a:rPr lang="pl-PL" sz="1200" i="1" dirty="0" err="1"/>
              <a:t>values</a:t>
            </a:r>
            <a:r>
              <a:rPr lang="pl-PL" sz="1200" dirty="0"/>
              <a:t>.</a:t>
            </a:r>
          </a:p>
          <a:p>
            <a:pPr algn="ctr"/>
            <a:r>
              <a:rPr lang="pl-PL" sz="1200" i="1" dirty="0" err="1"/>
              <a:t>left_operand</a:t>
            </a:r>
            <a:r>
              <a:rPr lang="pl-PL" sz="1200" dirty="0"/>
              <a:t> ← Wartość na górze stosu </a:t>
            </a:r>
            <a:r>
              <a:rPr lang="pl-PL" sz="1200" i="1" dirty="0" err="1"/>
              <a:t>values</a:t>
            </a:r>
            <a:endParaRPr lang="pl-PL" sz="1200" dirty="0"/>
          </a:p>
          <a:p>
            <a:pPr algn="ctr"/>
            <a:r>
              <a:rPr lang="pl-PL" sz="1200" dirty="0"/>
              <a:t>Usuń wartość z góry stosu </a:t>
            </a:r>
            <a:r>
              <a:rPr lang="pl-PL" sz="1200" i="1" dirty="0" err="1"/>
              <a:t>values</a:t>
            </a:r>
            <a:r>
              <a:rPr lang="pl-PL" sz="1200" dirty="0"/>
              <a:t>.</a:t>
            </a:r>
          </a:p>
          <a:p>
            <a:pPr algn="ctr"/>
            <a:r>
              <a:rPr lang="pl-PL" sz="1200" i="1" dirty="0" err="1"/>
              <a:t>operation</a:t>
            </a:r>
            <a:r>
              <a:rPr lang="pl-PL" sz="1200" dirty="0"/>
              <a:t> ← Wartość na górze stosu </a:t>
            </a:r>
            <a:r>
              <a:rPr lang="pl-PL" sz="1200" i="1" dirty="0" err="1"/>
              <a:t>operations</a:t>
            </a:r>
            <a:endParaRPr lang="pl-PL" sz="1200" dirty="0"/>
          </a:p>
          <a:p>
            <a:pPr algn="ctr"/>
            <a:r>
              <a:rPr lang="pl-PL" sz="1200" dirty="0"/>
              <a:t>Usuń wartość z góry stosu </a:t>
            </a:r>
            <a:r>
              <a:rPr lang="pl-PL" sz="1200" i="1" dirty="0" err="1"/>
              <a:t>operations</a:t>
            </a:r>
            <a:endParaRPr lang="pl-PL" sz="1200" dirty="0"/>
          </a:p>
          <a:p>
            <a:pPr algn="ctr"/>
            <a:r>
              <a:rPr lang="pl-PL" sz="1200" i="1" dirty="0"/>
              <a:t>temp2</a:t>
            </a:r>
            <a:r>
              <a:rPr lang="pl-PL" sz="1200" dirty="0"/>
              <a:t> ← </a:t>
            </a:r>
            <a:r>
              <a:rPr lang="pl-PL" sz="1200" i="1" dirty="0" err="1"/>
              <a:t>left_operand</a:t>
            </a:r>
            <a:r>
              <a:rPr lang="pl-PL" sz="1200" dirty="0"/>
              <a:t> + „ ” + </a:t>
            </a:r>
            <a:r>
              <a:rPr lang="pl-PL" sz="1200" i="1" dirty="0" err="1"/>
              <a:t>operation</a:t>
            </a:r>
            <a:r>
              <a:rPr lang="pl-PL" sz="1200" dirty="0"/>
              <a:t> + „ ” + </a:t>
            </a:r>
            <a:r>
              <a:rPr lang="pl-PL" sz="1200" i="1" dirty="0" err="1"/>
              <a:t>left_operand</a:t>
            </a:r>
            <a:endParaRPr lang="pl-PL" sz="1200" i="1" dirty="0"/>
          </a:p>
          <a:p>
            <a:pPr algn="ctr"/>
            <a:r>
              <a:rPr lang="pl-PL" sz="1200" dirty="0"/>
              <a:t>Wstaw wartość </a:t>
            </a:r>
            <a:r>
              <a:rPr lang="pl-PL" sz="1200" i="1" dirty="0"/>
              <a:t>temp2</a:t>
            </a:r>
            <a:r>
              <a:rPr lang="pl-PL" sz="1200" dirty="0"/>
              <a:t> na górę stosu </a:t>
            </a:r>
            <a:r>
              <a:rPr lang="pl-PL" sz="1200" i="1" dirty="0" err="1"/>
              <a:t>values</a:t>
            </a:r>
            <a:endParaRPr lang="pl-PL" sz="1200" dirty="0"/>
          </a:p>
        </p:txBody>
      </p:sp>
      <p:sp>
        <p:nvSpPr>
          <p:cNvPr id="32" name="Process 31">
            <a:extLst>
              <a:ext uri="{FF2B5EF4-FFF2-40B4-BE49-F238E27FC236}">
                <a16:creationId xmlns:a16="http://schemas.microsoft.com/office/drawing/2014/main" id="{13534AF1-C7A6-D4B6-B26E-E14616D40EA0}"/>
              </a:ext>
            </a:extLst>
          </p:cNvPr>
          <p:cNvSpPr/>
          <p:nvPr/>
        </p:nvSpPr>
        <p:spPr>
          <a:xfrm>
            <a:off x="1857592" y="19586037"/>
            <a:ext cx="3415105" cy="34629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Wstaw wartość </a:t>
            </a:r>
            <a:r>
              <a:rPr lang="pl-PL" sz="1200" i="1" dirty="0"/>
              <a:t>symbol</a:t>
            </a:r>
            <a:r>
              <a:rPr lang="pl-PL" sz="1200" dirty="0"/>
              <a:t> na górę stosu </a:t>
            </a:r>
            <a:r>
              <a:rPr lang="pl-PL" sz="1200" i="1" dirty="0" err="1"/>
              <a:t>operations</a:t>
            </a:r>
            <a:endParaRPr lang="pl-PL" sz="1200" i="1" dirty="0"/>
          </a:p>
        </p:txBody>
      </p:sp>
      <p:sp>
        <p:nvSpPr>
          <p:cNvPr id="33" name="Data 32">
            <a:extLst>
              <a:ext uri="{FF2B5EF4-FFF2-40B4-BE49-F238E27FC236}">
                <a16:creationId xmlns:a16="http://schemas.microsoft.com/office/drawing/2014/main" id="{651CFFBF-D10E-CFFB-6EE5-A25AEF24277E}"/>
              </a:ext>
            </a:extLst>
          </p:cNvPr>
          <p:cNvSpPr/>
          <p:nvPr/>
        </p:nvSpPr>
        <p:spPr>
          <a:xfrm>
            <a:off x="5612317" y="7301102"/>
            <a:ext cx="4300050" cy="421581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Wypisz wartość z góry stosu </a:t>
            </a:r>
            <a:r>
              <a:rPr lang="pl-PL" sz="1200" i="1" dirty="0" err="1"/>
              <a:t>values</a:t>
            </a:r>
            <a:r>
              <a:rPr lang="pl-PL" sz="1200" dirty="0"/>
              <a:t>.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BE90ECB-A4EA-F694-3BE3-325077701FD7}"/>
              </a:ext>
            </a:extLst>
          </p:cNvPr>
          <p:cNvCxnSpPr>
            <a:stCxn id="6" idx="2"/>
            <a:endCxn id="26" idx="0"/>
          </p:cNvCxnSpPr>
          <p:nvPr/>
        </p:nvCxnSpPr>
        <p:spPr>
          <a:xfrm>
            <a:off x="10826062" y="3321747"/>
            <a:ext cx="1" cy="2263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E61814C-DE06-6342-4048-FA0D8E970ED3}"/>
              </a:ext>
            </a:extLst>
          </p:cNvPr>
          <p:cNvCxnSpPr>
            <a:stCxn id="26" idx="2"/>
            <a:endCxn id="8" idx="1"/>
          </p:cNvCxnSpPr>
          <p:nvPr/>
        </p:nvCxnSpPr>
        <p:spPr>
          <a:xfrm>
            <a:off x="10826062" y="4035264"/>
            <a:ext cx="0" cy="2294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A929588-933A-A13A-EAFB-CED6A2ADE5CF}"/>
              </a:ext>
            </a:extLst>
          </p:cNvPr>
          <p:cNvCxnSpPr>
            <a:stCxn id="8" idx="4"/>
            <a:endCxn id="7" idx="0"/>
          </p:cNvCxnSpPr>
          <p:nvPr/>
        </p:nvCxnSpPr>
        <p:spPr>
          <a:xfrm>
            <a:off x="10826062" y="4877387"/>
            <a:ext cx="0" cy="2453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2" name="Process 41">
            <a:extLst>
              <a:ext uri="{FF2B5EF4-FFF2-40B4-BE49-F238E27FC236}">
                <a16:creationId xmlns:a16="http://schemas.microsoft.com/office/drawing/2014/main" id="{DA5B3179-DD31-822B-DC2E-AD7FB8A1DC10}"/>
              </a:ext>
            </a:extLst>
          </p:cNvPr>
          <p:cNvSpPr/>
          <p:nvPr/>
        </p:nvSpPr>
        <p:spPr>
          <a:xfrm>
            <a:off x="13711777" y="22325265"/>
            <a:ext cx="3415105" cy="34629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symbol_index</a:t>
            </a:r>
            <a:r>
              <a:rPr lang="pl-PL" sz="1200" dirty="0"/>
              <a:t> ← </a:t>
            </a:r>
            <a:r>
              <a:rPr lang="pl-PL" sz="1200" i="1" dirty="0" err="1"/>
              <a:t>symbol_index</a:t>
            </a:r>
            <a:r>
              <a:rPr lang="pl-PL" sz="1200" dirty="0"/>
              <a:t> + 1</a:t>
            </a:r>
            <a:endParaRPr lang="pl-PL" sz="1200" i="1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F136F6C-5C04-596F-1D75-221BE3D0614B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flipH="1">
            <a:off x="10826062" y="6218810"/>
            <a:ext cx="1" cy="3837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E467A03-3292-C16E-3C37-46F081963C56}"/>
              </a:ext>
            </a:extLst>
          </p:cNvPr>
          <p:cNvSpPr txBox="1"/>
          <p:nvPr/>
        </p:nvSpPr>
        <p:spPr>
          <a:xfrm>
            <a:off x="12333359" y="6600823"/>
            <a:ext cx="494751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tak</a:t>
            </a:r>
          </a:p>
        </p:txBody>
      </p: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1531B693-1824-8574-7A1A-E878675B3BEC}"/>
              </a:ext>
            </a:extLst>
          </p:cNvPr>
          <p:cNvCxnSpPr>
            <a:cxnSpLocks/>
            <a:stCxn id="14" idx="3"/>
            <a:endCxn id="13" idx="0"/>
          </p:cNvCxnSpPr>
          <p:nvPr/>
        </p:nvCxnSpPr>
        <p:spPr>
          <a:xfrm>
            <a:off x="19292126" y="9447855"/>
            <a:ext cx="822054" cy="58961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405E408F-02AD-BDE6-5711-D9C97AB3B18A}"/>
              </a:ext>
            </a:extLst>
          </p:cNvPr>
          <p:cNvSpPr txBox="1"/>
          <p:nvPr/>
        </p:nvSpPr>
        <p:spPr>
          <a:xfrm>
            <a:off x="19195566" y="9073523"/>
            <a:ext cx="494751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tak</a:t>
            </a:r>
          </a:p>
        </p:txBody>
      </p: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9068C271-D630-87D4-E919-7B1D168F428E}"/>
              </a:ext>
            </a:extLst>
          </p:cNvPr>
          <p:cNvCxnSpPr>
            <a:cxnSpLocks/>
            <a:stCxn id="14" idx="1"/>
            <a:endCxn id="12" idx="0"/>
          </p:cNvCxnSpPr>
          <p:nvPr/>
        </p:nvCxnSpPr>
        <p:spPr>
          <a:xfrm rot="10800000" flipV="1">
            <a:off x="15419328" y="9447852"/>
            <a:ext cx="633368" cy="86585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920F872F-9649-72EE-C90B-65244E40B6FF}"/>
              </a:ext>
            </a:extLst>
          </p:cNvPr>
          <p:cNvSpPr txBox="1"/>
          <p:nvPr/>
        </p:nvSpPr>
        <p:spPr>
          <a:xfrm>
            <a:off x="15715875" y="9081772"/>
            <a:ext cx="487634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6CB0B1AF-4F86-6FB3-6C14-8096E92C939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 rot="16200000" flipH="1">
            <a:off x="16094475" y="9984852"/>
            <a:ext cx="902788" cy="225308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0CDC641E-7661-3D8A-8634-6877F09533E2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 rot="5400000">
            <a:off x="18580020" y="10028628"/>
            <a:ext cx="626552" cy="244176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A035457F-B8A5-6AED-558D-CBD0E17CD416}"/>
              </a:ext>
            </a:extLst>
          </p:cNvPr>
          <p:cNvCxnSpPr>
            <a:stCxn id="11" idx="3"/>
            <a:endCxn id="14" idx="0"/>
          </p:cNvCxnSpPr>
          <p:nvPr/>
        </p:nvCxnSpPr>
        <p:spPr>
          <a:xfrm>
            <a:off x="14575621" y="8501680"/>
            <a:ext cx="3096790" cy="59008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7BA4096-F0F1-CE3D-E7E4-4C670DBC3716}"/>
              </a:ext>
            </a:extLst>
          </p:cNvPr>
          <p:cNvSpPr txBox="1"/>
          <p:nvPr/>
        </p:nvSpPr>
        <p:spPr>
          <a:xfrm>
            <a:off x="14561071" y="8145593"/>
            <a:ext cx="494751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tak</a:t>
            </a:r>
          </a:p>
        </p:txBody>
      </p: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CD687555-EB4E-70F0-5A45-8C7AD2D3733B}"/>
              </a:ext>
            </a:extLst>
          </p:cNvPr>
          <p:cNvCxnSpPr>
            <a:stCxn id="11" idx="1"/>
            <a:endCxn id="16" idx="0"/>
          </p:cNvCxnSpPr>
          <p:nvPr/>
        </p:nvCxnSpPr>
        <p:spPr>
          <a:xfrm rot="10800000" flipV="1">
            <a:off x="4295031" y="8501679"/>
            <a:ext cx="7363612" cy="72311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2BFDBCE7-0190-BE07-E4D1-5A53F6010D02}"/>
              </a:ext>
            </a:extLst>
          </p:cNvPr>
          <p:cNvSpPr txBox="1"/>
          <p:nvPr/>
        </p:nvSpPr>
        <p:spPr>
          <a:xfrm>
            <a:off x="11165456" y="8148945"/>
            <a:ext cx="487634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7514AE45-24E0-A29E-820B-1BEBC011CEBA}"/>
              </a:ext>
            </a:extLst>
          </p:cNvPr>
          <p:cNvSpPr txBox="1"/>
          <p:nvPr/>
        </p:nvSpPr>
        <p:spPr>
          <a:xfrm>
            <a:off x="6955926" y="13817982"/>
            <a:ext cx="487634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6D602737-9BBE-AAA4-5D82-6222BEF2FE2B}"/>
              </a:ext>
            </a:extLst>
          </p:cNvPr>
          <p:cNvSpPr txBox="1"/>
          <p:nvPr/>
        </p:nvSpPr>
        <p:spPr>
          <a:xfrm>
            <a:off x="11127297" y="13787793"/>
            <a:ext cx="494751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tak</a:t>
            </a:r>
          </a:p>
        </p:txBody>
      </p:sp>
      <p:cxnSp>
        <p:nvCxnSpPr>
          <p:cNvPr id="206" name="Elbow Connector 205">
            <a:extLst>
              <a:ext uri="{FF2B5EF4-FFF2-40B4-BE49-F238E27FC236}">
                <a16:creationId xmlns:a16="http://schemas.microsoft.com/office/drawing/2014/main" id="{CCEE1E2A-0DD2-8264-51F7-EBCF9360A3BD}"/>
              </a:ext>
            </a:extLst>
          </p:cNvPr>
          <p:cNvCxnSpPr>
            <a:cxnSpLocks/>
            <a:stCxn id="22" idx="1"/>
            <a:endCxn id="24" idx="0"/>
          </p:cNvCxnSpPr>
          <p:nvPr/>
        </p:nvCxnSpPr>
        <p:spPr>
          <a:xfrm rot="10800000" flipV="1">
            <a:off x="7095203" y="14166307"/>
            <a:ext cx="344038" cy="63090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09" name="Elbow Connector 208">
            <a:extLst>
              <a:ext uri="{FF2B5EF4-FFF2-40B4-BE49-F238E27FC236}">
                <a16:creationId xmlns:a16="http://schemas.microsoft.com/office/drawing/2014/main" id="{6D8BDB02-3010-2D03-47F8-BA71580E95C8}"/>
              </a:ext>
            </a:extLst>
          </p:cNvPr>
          <p:cNvCxnSpPr>
            <a:stCxn id="23" idx="2"/>
            <a:endCxn id="22" idx="0"/>
          </p:cNvCxnSpPr>
          <p:nvPr/>
        </p:nvCxnSpPr>
        <p:spPr>
          <a:xfrm rot="5400000" flipH="1">
            <a:off x="9119994" y="13970990"/>
            <a:ext cx="2665270" cy="2343728"/>
          </a:xfrm>
          <a:prstGeom prst="bentConnector5">
            <a:avLst>
              <a:gd name="adj1" fmla="val -8577"/>
              <a:gd name="adj2" fmla="val -106886"/>
              <a:gd name="adj3" fmla="val 108577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20" name="Elbow Connector 219">
            <a:extLst>
              <a:ext uri="{FF2B5EF4-FFF2-40B4-BE49-F238E27FC236}">
                <a16:creationId xmlns:a16="http://schemas.microsoft.com/office/drawing/2014/main" id="{D3F6CC00-3773-78F6-AB7A-452C8C44313E}"/>
              </a:ext>
            </a:extLst>
          </p:cNvPr>
          <p:cNvCxnSpPr>
            <a:stCxn id="27" idx="3"/>
            <a:endCxn id="31" idx="0"/>
          </p:cNvCxnSpPr>
          <p:nvPr/>
        </p:nvCxnSpPr>
        <p:spPr>
          <a:xfrm>
            <a:off x="7647620" y="18992312"/>
            <a:ext cx="459493" cy="59372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22" name="Elbow Connector 221">
            <a:extLst>
              <a:ext uri="{FF2B5EF4-FFF2-40B4-BE49-F238E27FC236}">
                <a16:creationId xmlns:a16="http://schemas.microsoft.com/office/drawing/2014/main" id="{85B49190-E2C5-7085-1382-96B09F7127AD}"/>
              </a:ext>
            </a:extLst>
          </p:cNvPr>
          <p:cNvCxnSpPr>
            <a:stCxn id="31" idx="2"/>
            <a:endCxn id="28" idx="3"/>
          </p:cNvCxnSpPr>
          <p:nvPr/>
        </p:nvCxnSpPr>
        <p:spPr>
          <a:xfrm rot="5400000" flipH="1">
            <a:off x="6232271" y="19404493"/>
            <a:ext cx="3156214" cy="593464"/>
          </a:xfrm>
          <a:prstGeom prst="bentConnector4">
            <a:avLst>
              <a:gd name="adj1" fmla="val -7243"/>
              <a:gd name="adj2" fmla="val -416125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23" name="TextBox 222">
            <a:extLst>
              <a:ext uri="{FF2B5EF4-FFF2-40B4-BE49-F238E27FC236}">
                <a16:creationId xmlns:a16="http://schemas.microsoft.com/office/drawing/2014/main" id="{68CE39A4-5385-9822-7DFD-793055E614AB}"/>
              </a:ext>
            </a:extLst>
          </p:cNvPr>
          <p:cNvSpPr txBox="1"/>
          <p:nvPr/>
        </p:nvSpPr>
        <p:spPr>
          <a:xfrm>
            <a:off x="7563005" y="18636223"/>
            <a:ext cx="494751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tak</a:t>
            </a:r>
          </a:p>
        </p:txBody>
      </p:sp>
      <p:cxnSp>
        <p:nvCxnSpPr>
          <p:cNvPr id="227" name="Elbow Connector 226">
            <a:extLst>
              <a:ext uri="{FF2B5EF4-FFF2-40B4-BE49-F238E27FC236}">
                <a16:creationId xmlns:a16="http://schemas.microsoft.com/office/drawing/2014/main" id="{A4A41D32-6D56-3770-F7F4-BD7A112F084D}"/>
              </a:ext>
            </a:extLst>
          </p:cNvPr>
          <p:cNvCxnSpPr>
            <a:stCxn id="28" idx="2"/>
            <a:endCxn id="27" idx="0"/>
          </p:cNvCxnSpPr>
          <p:nvPr/>
        </p:nvCxnSpPr>
        <p:spPr>
          <a:xfrm rot="5400000">
            <a:off x="5686952" y="18517084"/>
            <a:ext cx="238284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31" name="Elbow Connector 230">
            <a:extLst>
              <a:ext uri="{FF2B5EF4-FFF2-40B4-BE49-F238E27FC236}">
                <a16:creationId xmlns:a16="http://schemas.microsoft.com/office/drawing/2014/main" id="{D339DABE-0D03-97AB-BC9B-5A231F239B64}"/>
              </a:ext>
            </a:extLst>
          </p:cNvPr>
          <p:cNvCxnSpPr>
            <a:stCxn id="27" idx="1"/>
            <a:endCxn id="32" idx="0"/>
          </p:cNvCxnSpPr>
          <p:nvPr/>
        </p:nvCxnSpPr>
        <p:spPr>
          <a:xfrm rot="10800000" flipV="1">
            <a:off x="3565146" y="18992311"/>
            <a:ext cx="399427" cy="59372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FB303E5E-0CE4-E8F6-BB00-CD932C166F88}"/>
              </a:ext>
            </a:extLst>
          </p:cNvPr>
          <p:cNvSpPr txBox="1"/>
          <p:nvPr/>
        </p:nvSpPr>
        <p:spPr>
          <a:xfrm>
            <a:off x="3536803" y="18636223"/>
            <a:ext cx="487634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484E92D4-A08E-3747-C373-136CD7B145ED}"/>
              </a:ext>
            </a:extLst>
          </p:cNvPr>
          <p:cNvCxnSpPr>
            <a:stCxn id="30" idx="2"/>
            <a:endCxn id="28" idx="0"/>
          </p:cNvCxnSpPr>
          <p:nvPr/>
        </p:nvCxnSpPr>
        <p:spPr>
          <a:xfrm>
            <a:off x="5806094" y="17610012"/>
            <a:ext cx="0" cy="2382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45" name="Elbow Connector 244">
            <a:extLst>
              <a:ext uri="{FF2B5EF4-FFF2-40B4-BE49-F238E27FC236}">
                <a16:creationId xmlns:a16="http://schemas.microsoft.com/office/drawing/2014/main" id="{484C7C74-20E5-C430-5C80-651D67032413}"/>
              </a:ext>
            </a:extLst>
          </p:cNvPr>
          <p:cNvCxnSpPr>
            <a:stCxn id="22" idx="3"/>
            <a:endCxn id="23" idx="0"/>
          </p:cNvCxnSpPr>
          <p:nvPr/>
        </p:nvCxnSpPr>
        <p:spPr>
          <a:xfrm>
            <a:off x="11122289" y="14166305"/>
            <a:ext cx="502204" cy="61588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51" name="Elbow Connector 250">
            <a:extLst>
              <a:ext uri="{FF2B5EF4-FFF2-40B4-BE49-F238E27FC236}">
                <a16:creationId xmlns:a16="http://schemas.microsoft.com/office/drawing/2014/main" id="{7BC66FA7-D123-8DD0-5765-F6E593D3657B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5761043" y="11621080"/>
            <a:ext cx="1334163" cy="6053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23D69D0F-E635-65B8-0BB8-9B58406D071B}"/>
              </a:ext>
            </a:extLst>
          </p:cNvPr>
          <p:cNvSpPr txBox="1"/>
          <p:nvPr/>
        </p:nvSpPr>
        <p:spPr>
          <a:xfrm>
            <a:off x="5761043" y="11288348"/>
            <a:ext cx="494751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tak</a:t>
            </a:r>
          </a:p>
        </p:txBody>
      </p:sp>
      <p:sp>
        <p:nvSpPr>
          <p:cNvPr id="253" name="Decision 252">
            <a:extLst>
              <a:ext uri="{FF2B5EF4-FFF2-40B4-BE49-F238E27FC236}">
                <a16:creationId xmlns:a16="http://schemas.microsoft.com/office/drawing/2014/main" id="{00437C52-A2BA-63B3-8116-4B893EC44121}"/>
              </a:ext>
            </a:extLst>
          </p:cNvPr>
          <p:cNvSpPr/>
          <p:nvPr/>
        </p:nvSpPr>
        <p:spPr>
          <a:xfrm>
            <a:off x="2844062" y="12822000"/>
            <a:ext cx="2916978" cy="712171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/>
              <a:t>symbol</a:t>
            </a:r>
            <a:r>
              <a:rPr lang="pl-PL" sz="1200" dirty="0"/>
              <a:t> = „)”</a:t>
            </a:r>
          </a:p>
        </p:txBody>
      </p:sp>
      <p:cxnSp>
        <p:nvCxnSpPr>
          <p:cNvPr id="255" name="Elbow Connector 254">
            <a:extLst>
              <a:ext uri="{FF2B5EF4-FFF2-40B4-BE49-F238E27FC236}">
                <a16:creationId xmlns:a16="http://schemas.microsoft.com/office/drawing/2014/main" id="{5BCB4D7C-D204-70D4-7B5F-A46500A95AE2}"/>
              </a:ext>
            </a:extLst>
          </p:cNvPr>
          <p:cNvCxnSpPr>
            <a:stCxn id="253" idx="3"/>
            <a:endCxn id="22" idx="0"/>
          </p:cNvCxnSpPr>
          <p:nvPr/>
        </p:nvCxnSpPr>
        <p:spPr>
          <a:xfrm>
            <a:off x="5761043" y="13178083"/>
            <a:ext cx="3519725" cy="63213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59" name="Straight Arrow Connector 258">
            <a:extLst>
              <a:ext uri="{FF2B5EF4-FFF2-40B4-BE49-F238E27FC236}">
                <a16:creationId xmlns:a16="http://schemas.microsoft.com/office/drawing/2014/main" id="{EA1C8F8A-EE8D-6DD7-749D-0444729D02E4}"/>
              </a:ext>
            </a:extLst>
          </p:cNvPr>
          <p:cNvCxnSpPr>
            <a:stCxn id="17" idx="2"/>
            <a:endCxn id="253" idx="0"/>
          </p:cNvCxnSpPr>
          <p:nvPr/>
        </p:nvCxnSpPr>
        <p:spPr>
          <a:xfrm>
            <a:off x="4302551" y="11984601"/>
            <a:ext cx="0" cy="8373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70" name="Elbow Connector 269">
            <a:extLst>
              <a:ext uri="{FF2B5EF4-FFF2-40B4-BE49-F238E27FC236}">
                <a16:creationId xmlns:a16="http://schemas.microsoft.com/office/drawing/2014/main" id="{235F0DDC-4ECF-AD6F-4149-2E387B8FE67B}"/>
              </a:ext>
            </a:extLst>
          </p:cNvPr>
          <p:cNvCxnSpPr>
            <a:stCxn id="253" idx="2"/>
            <a:endCxn id="30" idx="0"/>
          </p:cNvCxnSpPr>
          <p:nvPr/>
        </p:nvCxnSpPr>
        <p:spPr>
          <a:xfrm rot="16200000" flipH="1">
            <a:off x="3189551" y="14647173"/>
            <a:ext cx="3729549" cy="1503543"/>
          </a:xfrm>
          <a:prstGeom prst="bentConnector3">
            <a:avLst>
              <a:gd name="adj1" fmla="val 87763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72" name="TextBox 271">
            <a:extLst>
              <a:ext uri="{FF2B5EF4-FFF2-40B4-BE49-F238E27FC236}">
                <a16:creationId xmlns:a16="http://schemas.microsoft.com/office/drawing/2014/main" id="{317B51B4-3D22-DDE3-5DE1-F09A7A165590}"/>
              </a:ext>
            </a:extLst>
          </p:cNvPr>
          <p:cNvSpPr txBox="1"/>
          <p:nvPr/>
        </p:nvSpPr>
        <p:spPr>
          <a:xfrm>
            <a:off x="5748160" y="12795188"/>
            <a:ext cx="494751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tak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4BA8617B-374F-E0D1-11CC-DA043CABE830}"/>
              </a:ext>
            </a:extLst>
          </p:cNvPr>
          <p:cNvSpPr txBox="1"/>
          <p:nvPr/>
        </p:nvSpPr>
        <p:spPr>
          <a:xfrm>
            <a:off x="3533178" y="12011410"/>
            <a:ext cx="487634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1A892672-AC50-FD87-6A85-EF7FA98D6013}"/>
              </a:ext>
            </a:extLst>
          </p:cNvPr>
          <p:cNvSpPr txBox="1"/>
          <p:nvPr/>
        </p:nvSpPr>
        <p:spPr>
          <a:xfrm>
            <a:off x="3642898" y="13571416"/>
            <a:ext cx="487634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  <p:cxnSp>
        <p:nvCxnSpPr>
          <p:cNvPr id="276" name="Elbow Connector 275">
            <a:extLst>
              <a:ext uri="{FF2B5EF4-FFF2-40B4-BE49-F238E27FC236}">
                <a16:creationId xmlns:a16="http://schemas.microsoft.com/office/drawing/2014/main" id="{50376E4D-28F9-9F09-347C-958C8DBDC8EF}"/>
              </a:ext>
            </a:extLst>
          </p:cNvPr>
          <p:cNvCxnSpPr>
            <a:stCxn id="32" idx="2"/>
            <a:endCxn id="42" idx="0"/>
          </p:cNvCxnSpPr>
          <p:nvPr/>
        </p:nvCxnSpPr>
        <p:spPr>
          <a:xfrm rot="16200000" flipH="1">
            <a:off x="8295771" y="15201705"/>
            <a:ext cx="2392933" cy="11854185"/>
          </a:xfrm>
          <a:prstGeom prst="bentConnector3">
            <a:avLst>
              <a:gd name="adj1" fmla="val 82532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78" name="Elbow Connector 277">
            <a:extLst>
              <a:ext uri="{FF2B5EF4-FFF2-40B4-BE49-F238E27FC236}">
                <a16:creationId xmlns:a16="http://schemas.microsoft.com/office/drawing/2014/main" id="{827E7C0D-067D-1756-7F4D-C255BFD76E47}"/>
              </a:ext>
            </a:extLst>
          </p:cNvPr>
          <p:cNvCxnSpPr>
            <a:stCxn id="24" idx="2"/>
            <a:endCxn id="42" idx="0"/>
          </p:cNvCxnSpPr>
          <p:nvPr/>
        </p:nvCxnSpPr>
        <p:spPr>
          <a:xfrm rot="16200000" flipH="1">
            <a:off x="7666391" y="14572322"/>
            <a:ext cx="7181755" cy="8324124"/>
          </a:xfrm>
          <a:prstGeom prst="bentConnector3">
            <a:avLst>
              <a:gd name="adj1" fmla="val 25568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95" name="Elbow Connector 294">
            <a:extLst>
              <a:ext uri="{FF2B5EF4-FFF2-40B4-BE49-F238E27FC236}">
                <a16:creationId xmlns:a16="http://schemas.microsoft.com/office/drawing/2014/main" id="{337EAC9C-AB19-07E1-C348-9C68B6F33F1F}"/>
              </a:ext>
            </a:extLst>
          </p:cNvPr>
          <p:cNvCxnSpPr>
            <a:stCxn id="19" idx="2"/>
            <a:endCxn id="42" idx="0"/>
          </p:cNvCxnSpPr>
          <p:nvPr/>
        </p:nvCxnSpPr>
        <p:spPr>
          <a:xfrm rot="16200000" flipH="1">
            <a:off x="6381002" y="13286933"/>
            <a:ext cx="9752533" cy="8324124"/>
          </a:xfrm>
          <a:prstGeom prst="bentConnector3">
            <a:avLst>
              <a:gd name="adj1" fmla="val 3247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07" name="Elbow Connector 306">
            <a:extLst>
              <a:ext uri="{FF2B5EF4-FFF2-40B4-BE49-F238E27FC236}">
                <a16:creationId xmlns:a16="http://schemas.microsoft.com/office/drawing/2014/main" id="{48EE58A4-2FED-43E1-2502-AE3B8E561103}"/>
              </a:ext>
            </a:extLst>
          </p:cNvPr>
          <p:cNvCxnSpPr>
            <a:stCxn id="15" idx="2"/>
            <a:endCxn id="42" idx="0"/>
          </p:cNvCxnSpPr>
          <p:nvPr/>
        </p:nvCxnSpPr>
        <p:spPr>
          <a:xfrm rot="5400000">
            <a:off x="11337778" y="15990629"/>
            <a:ext cx="10416182" cy="2253084"/>
          </a:xfrm>
          <a:prstGeom prst="bentConnector3">
            <a:avLst>
              <a:gd name="adj1" fmla="val 58385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13" name="Elbow Connector 312">
            <a:extLst>
              <a:ext uri="{FF2B5EF4-FFF2-40B4-BE49-F238E27FC236}">
                <a16:creationId xmlns:a16="http://schemas.microsoft.com/office/drawing/2014/main" id="{16351E60-1993-9BB3-15E6-634F664D9D15}"/>
              </a:ext>
            </a:extLst>
          </p:cNvPr>
          <p:cNvCxnSpPr>
            <a:stCxn id="42" idx="2"/>
            <a:endCxn id="10" idx="0"/>
          </p:cNvCxnSpPr>
          <p:nvPr/>
        </p:nvCxnSpPr>
        <p:spPr>
          <a:xfrm rot="5400000" flipH="1">
            <a:off x="5088193" y="12340421"/>
            <a:ext cx="16069007" cy="4593266"/>
          </a:xfrm>
          <a:prstGeom prst="bentConnector5">
            <a:avLst>
              <a:gd name="adj1" fmla="val -1423"/>
              <a:gd name="adj2" fmla="val -150832"/>
              <a:gd name="adj3" fmla="val 101423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22" name="Elbow Connector 321">
            <a:extLst>
              <a:ext uri="{FF2B5EF4-FFF2-40B4-BE49-F238E27FC236}">
                <a16:creationId xmlns:a16="http://schemas.microsoft.com/office/drawing/2014/main" id="{855E7998-0839-8CE1-C29B-178C16EFAF82}"/>
              </a:ext>
            </a:extLst>
          </p:cNvPr>
          <p:cNvCxnSpPr>
            <a:cxnSpLocks/>
            <a:stCxn id="10" idx="1"/>
            <a:endCxn id="33" idx="1"/>
          </p:cNvCxnSpPr>
          <p:nvPr/>
        </p:nvCxnSpPr>
        <p:spPr>
          <a:xfrm rot="10800000" flipV="1">
            <a:off x="7762342" y="6958636"/>
            <a:ext cx="1605230" cy="34246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23" name="TextBox 322">
            <a:extLst>
              <a:ext uri="{FF2B5EF4-FFF2-40B4-BE49-F238E27FC236}">
                <a16:creationId xmlns:a16="http://schemas.microsoft.com/office/drawing/2014/main" id="{FB3C6E97-4787-4ABB-849B-3AD02A2768F2}"/>
              </a:ext>
            </a:extLst>
          </p:cNvPr>
          <p:cNvSpPr txBox="1"/>
          <p:nvPr/>
        </p:nvSpPr>
        <p:spPr>
          <a:xfrm>
            <a:off x="8741731" y="6551511"/>
            <a:ext cx="487634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  <p:sp>
        <p:nvSpPr>
          <p:cNvPr id="325" name="Terminator 324">
            <a:extLst>
              <a:ext uri="{FF2B5EF4-FFF2-40B4-BE49-F238E27FC236}">
                <a16:creationId xmlns:a16="http://schemas.microsoft.com/office/drawing/2014/main" id="{AB436150-BB47-AD01-FD3A-4592D5666D6D}"/>
              </a:ext>
            </a:extLst>
          </p:cNvPr>
          <p:cNvSpPr/>
          <p:nvPr/>
        </p:nvSpPr>
        <p:spPr>
          <a:xfrm>
            <a:off x="7305142" y="7963577"/>
            <a:ext cx="914400" cy="30175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Koniec</a:t>
            </a:r>
          </a:p>
        </p:txBody>
      </p:sp>
      <p:cxnSp>
        <p:nvCxnSpPr>
          <p:cNvPr id="329" name="Straight Arrow Connector 328">
            <a:extLst>
              <a:ext uri="{FF2B5EF4-FFF2-40B4-BE49-F238E27FC236}">
                <a16:creationId xmlns:a16="http://schemas.microsoft.com/office/drawing/2014/main" id="{6BC52137-E617-4113-2561-A57D32FF43AC}"/>
              </a:ext>
            </a:extLst>
          </p:cNvPr>
          <p:cNvCxnSpPr>
            <a:cxnSpLocks/>
            <a:stCxn id="33" idx="4"/>
            <a:endCxn id="325" idx="0"/>
          </p:cNvCxnSpPr>
          <p:nvPr/>
        </p:nvCxnSpPr>
        <p:spPr>
          <a:xfrm>
            <a:off x="7762342" y="7722683"/>
            <a:ext cx="0" cy="2408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30" name="Process 329">
            <a:extLst>
              <a:ext uri="{FF2B5EF4-FFF2-40B4-BE49-F238E27FC236}">
                <a16:creationId xmlns:a16="http://schemas.microsoft.com/office/drawing/2014/main" id="{C6746AEE-BF97-2222-8BAA-FC5D6A150877}"/>
              </a:ext>
            </a:extLst>
          </p:cNvPr>
          <p:cNvSpPr/>
          <p:nvPr/>
        </p:nvSpPr>
        <p:spPr>
          <a:xfrm>
            <a:off x="11556964" y="7503150"/>
            <a:ext cx="3120337" cy="30868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/>
              <a:t>symbol </a:t>
            </a:r>
            <a:r>
              <a:rPr lang="pl-PL" sz="1200" dirty="0"/>
              <a:t>← </a:t>
            </a:r>
            <a:r>
              <a:rPr lang="pl-PL" sz="1200" dirty="0" err="1"/>
              <a:t>infix_equation</a:t>
            </a:r>
            <a:r>
              <a:rPr lang="pl-PL" sz="1200" dirty="0"/>
              <a:t>[</a:t>
            </a:r>
            <a:r>
              <a:rPr lang="pl-PL" sz="1200" dirty="0" err="1"/>
              <a:t>symbol_index</a:t>
            </a:r>
            <a:r>
              <a:rPr lang="pl-PL" sz="1200" dirty="0"/>
              <a:t>]</a:t>
            </a:r>
            <a:endParaRPr lang="pl-PL" sz="1200" i="1" dirty="0"/>
          </a:p>
        </p:txBody>
      </p:sp>
      <p:cxnSp>
        <p:nvCxnSpPr>
          <p:cNvPr id="332" name="Elbow Connector 331">
            <a:extLst>
              <a:ext uri="{FF2B5EF4-FFF2-40B4-BE49-F238E27FC236}">
                <a16:creationId xmlns:a16="http://schemas.microsoft.com/office/drawing/2014/main" id="{BDFE6613-FE35-C998-658F-E2D9EEA429BF}"/>
              </a:ext>
            </a:extLst>
          </p:cNvPr>
          <p:cNvCxnSpPr>
            <a:stCxn id="10" idx="3"/>
            <a:endCxn id="330" idx="0"/>
          </p:cNvCxnSpPr>
          <p:nvPr/>
        </p:nvCxnSpPr>
        <p:spPr>
          <a:xfrm>
            <a:off x="12284550" y="6958636"/>
            <a:ext cx="832582" cy="5445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40" name="Straight Arrow Connector 339">
            <a:extLst>
              <a:ext uri="{FF2B5EF4-FFF2-40B4-BE49-F238E27FC236}">
                <a16:creationId xmlns:a16="http://schemas.microsoft.com/office/drawing/2014/main" id="{7270FE67-D784-9307-7998-D61B61C0C63F}"/>
              </a:ext>
            </a:extLst>
          </p:cNvPr>
          <p:cNvCxnSpPr>
            <a:stCxn id="330" idx="2"/>
            <a:endCxn id="11" idx="0"/>
          </p:cNvCxnSpPr>
          <p:nvPr/>
        </p:nvCxnSpPr>
        <p:spPr>
          <a:xfrm>
            <a:off x="13117132" y="7811835"/>
            <a:ext cx="0" cy="3337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57" name="Decision 356">
            <a:extLst>
              <a:ext uri="{FF2B5EF4-FFF2-40B4-BE49-F238E27FC236}">
                <a16:creationId xmlns:a16="http://schemas.microsoft.com/office/drawing/2014/main" id="{E9479571-1B14-ECBB-6B21-03DEE82FD5DA}"/>
              </a:ext>
            </a:extLst>
          </p:cNvPr>
          <p:cNvSpPr/>
          <p:nvPr/>
        </p:nvSpPr>
        <p:spPr>
          <a:xfrm>
            <a:off x="2840095" y="9892364"/>
            <a:ext cx="2916978" cy="712171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/>
              <a:t>symbol</a:t>
            </a:r>
            <a:r>
              <a:rPr lang="pl-PL" sz="1200" dirty="0"/>
              <a:t> = „ ”</a:t>
            </a:r>
          </a:p>
        </p:txBody>
      </p:sp>
      <p:cxnSp>
        <p:nvCxnSpPr>
          <p:cNvPr id="359" name="Straight Arrow Connector 358">
            <a:extLst>
              <a:ext uri="{FF2B5EF4-FFF2-40B4-BE49-F238E27FC236}">
                <a16:creationId xmlns:a16="http://schemas.microsoft.com/office/drawing/2014/main" id="{C944D847-CD1A-6F6F-6698-A3E096D3BACF}"/>
              </a:ext>
            </a:extLst>
          </p:cNvPr>
          <p:cNvCxnSpPr>
            <a:stCxn id="357" idx="2"/>
            <a:endCxn id="17" idx="0"/>
          </p:cNvCxnSpPr>
          <p:nvPr/>
        </p:nvCxnSpPr>
        <p:spPr>
          <a:xfrm>
            <a:off x="4298587" y="10604532"/>
            <a:ext cx="3967" cy="667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61" name="TextBox 360">
            <a:extLst>
              <a:ext uri="{FF2B5EF4-FFF2-40B4-BE49-F238E27FC236}">
                <a16:creationId xmlns:a16="http://schemas.microsoft.com/office/drawing/2014/main" id="{06A5E281-7B1F-D9D5-A361-35A934E8B4E1}"/>
              </a:ext>
            </a:extLst>
          </p:cNvPr>
          <p:cNvSpPr txBox="1"/>
          <p:nvPr/>
        </p:nvSpPr>
        <p:spPr>
          <a:xfrm>
            <a:off x="3597921" y="10591285"/>
            <a:ext cx="487634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  <p:cxnSp>
        <p:nvCxnSpPr>
          <p:cNvPr id="368" name="Straight Arrow Connector 367">
            <a:extLst>
              <a:ext uri="{FF2B5EF4-FFF2-40B4-BE49-F238E27FC236}">
                <a16:creationId xmlns:a16="http://schemas.microsoft.com/office/drawing/2014/main" id="{39DC633D-68B1-AD29-7BFA-6D8243A911C7}"/>
              </a:ext>
            </a:extLst>
          </p:cNvPr>
          <p:cNvCxnSpPr>
            <a:stCxn id="16" idx="2"/>
            <a:endCxn id="357" idx="0"/>
          </p:cNvCxnSpPr>
          <p:nvPr/>
        </p:nvCxnSpPr>
        <p:spPr>
          <a:xfrm>
            <a:off x="4295034" y="9571093"/>
            <a:ext cx="3553" cy="3212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81" name="Elbow Connector 380">
            <a:extLst>
              <a:ext uri="{FF2B5EF4-FFF2-40B4-BE49-F238E27FC236}">
                <a16:creationId xmlns:a16="http://schemas.microsoft.com/office/drawing/2014/main" id="{5D7E9BCC-5D32-81FF-AFE9-90063D6440A7}"/>
              </a:ext>
            </a:extLst>
          </p:cNvPr>
          <p:cNvCxnSpPr>
            <a:cxnSpLocks/>
            <a:stCxn id="357" idx="3"/>
          </p:cNvCxnSpPr>
          <p:nvPr/>
        </p:nvCxnSpPr>
        <p:spPr>
          <a:xfrm>
            <a:off x="5757076" y="10248447"/>
            <a:ext cx="9562775" cy="2636034"/>
          </a:xfrm>
          <a:prstGeom prst="bentConnector3">
            <a:avLst>
              <a:gd name="adj1" fmla="val 4672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417160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32811A-E80A-44A2-155A-E9BCDC277DC3}"/>
              </a:ext>
            </a:extLst>
          </p:cNvPr>
          <p:cNvSpPr txBox="1"/>
          <p:nvPr/>
        </p:nvSpPr>
        <p:spPr>
          <a:xfrm>
            <a:off x="712161" y="788432"/>
            <a:ext cx="18321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1.2.2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5BE1BA-4508-F31C-3A41-58CBDD8E7FB8}"/>
              </a:ext>
            </a:extLst>
          </p:cNvPr>
          <p:cNvSpPr txBox="1"/>
          <p:nvPr/>
        </p:nvSpPr>
        <p:spPr>
          <a:xfrm>
            <a:off x="712162" y="1242125"/>
            <a:ext cx="8524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dirty="0"/>
              <a:t>Zamiana notacji </a:t>
            </a:r>
            <a:r>
              <a:rPr lang="pl-PL" sz="3600" dirty="0" err="1"/>
              <a:t>postfiksowej</a:t>
            </a:r>
            <a:r>
              <a:rPr lang="pl-PL" sz="3600" dirty="0"/>
              <a:t> w </a:t>
            </a:r>
            <a:r>
              <a:rPr lang="pl-PL" sz="3600" dirty="0" err="1"/>
              <a:t>infiksową</a:t>
            </a:r>
            <a:r>
              <a:rPr lang="pl-PL" sz="3600" dirty="0"/>
              <a:t>.</a:t>
            </a:r>
          </a:p>
        </p:txBody>
      </p:sp>
      <p:sp>
        <p:nvSpPr>
          <p:cNvPr id="7" name="Terminator 6">
            <a:extLst>
              <a:ext uri="{FF2B5EF4-FFF2-40B4-BE49-F238E27FC236}">
                <a16:creationId xmlns:a16="http://schemas.microsoft.com/office/drawing/2014/main" id="{C6CDC1A7-244E-A1D0-C5C4-281364B518B0}"/>
              </a:ext>
            </a:extLst>
          </p:cNvPr>
          <p:cNvSpPr/>
          <p:nvPr/>
        </p:nvSpPr>
        <p:spPr>
          <a:xfrm>
            <a:off x="7474740" y="3019995"/>
            <a:ext cx="914400" cy="30175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Start</a:t>
            </a:r>
          </a:p>
        </p:txBody>
      </p:sp>
      <p:sp>
        <p:nvSpPr>
          <p:cNvPr id="8" name="Process 7">
            <a:extLst>
              <a:ext uri="{FF2B5EF4-FFF2-40B4-BE49-F238E27FC236}">
                <a16:creationId xmlns:a16="http://schemas.microsoft.com/office/drawing/2014/main" id="{CDF0ED7C-E202-6E3B-ECEA-2ED1809FE453}"/>
              </a:ext>
            </a:extLst>
          </p:cNvPr>
          <p:cNvSpPr/>
          <p:nvPr/>
        </p:nvSpPr>
        <p:spPr>
          <a:xfrm>
            <a:off x="6371772" y="5122704"/>
            <a:ext cx="3120337" cy="80166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values</a:t>
            </a:r>
            <a:r>
              <a:rPr lang="pl-PL" sz="1200" dirty="0"/>
              <a:t> ← pusty stos typu tekstowego</a:t>
            </a:r>
          </a:p>
          <a:p>
            <a:pPr algn="ctr"/>
            <a:r>
              <a:rPr lang="pl-PL" sz="1200" i="1" dirty="0" err="1"/>
              <a:t>operations</a:t>
            </a:r>
            <a:r>
              <a:rPr lang="pl-PL" sz="1200" dirty="0"/>
              <a:t> ← pusty stos typu tekstowego</a:t>
            </a:r>
          </a:p>
          <a:p>
            <a:pPr algn="ctr"/>
            <a:r>
              <a:rPr lang="pl-PL" sz="1200" i="1" dirty="0" err="1"/>
              <a:t>is_previous_symbol_numeric</a:t>
            </a:r>
            <a:r>
              <a:rPr lang="pl-PL" sz="1200" dirty="0"/>
              <a:t> ← fałsz</a:t>
            </a:r>
          </a:p>
          <a:p>
            <a:pPr algn="ctr"/>
            <a:r>
              <a:rPr lang="pl-PL" sz="1200" i="1" dirty="0" err="1"/>
              <a:t>symbol_index</a:t>
            </a:r>
            <a:r>
              <a:rPr lang="pl-PL" sz="1200" i="1" dirty="0"/>
              <a:t> </a:t>
            </a:r>
            <a:r>
              <a:rPr lang="pl-PL" sz="1200" dirty="0"/>
              <a:t>← 1</a:t>
            </a:r>
          </a:p>
        </p:txBody>
      </p:sp>
      <p:sp>
        <p:nvSpPr>
          <p:cNvPr id="9" name="Data 8">
            <a:extLst>
              <a:ext uri="{FF2B5EF4-FFF2-40B4-BE49-F238E27FC236}">
                <a16:creationId xmlns:a16="http://schemas.microsoft.com/office/drawing/2014/main" id="{3733A604-11C9-C44F-3D73-A5DA0FFA617D}"/>
              </a:ext>
            </a:extLst>
          </p:cNvPr>
          <p:cNvSpPr/>
          <p:nvPr/>
        </p:nvSpPr>
        <p:spPr>
          <a:xfrm>
            <a:off x="5935343" y="4264739"/>
            <a:ext cx="3993194" cy="612648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Wczytaj równanie w notacji </a:t>
            </a:r>
            <a:r>
              <a:rPr lang="pl-PL" sz="1200" dirty="0" err="1"/>
              <a:t>postfiksowej</a:t>
            </a:r>
            <a:r>
              <a:rPr lang="pl-PL" sz="1200" dirty="0"/>
              <a:t> do </a:t>
            </a:r>
            <a:r>
              <a:rPr lang="pl-PL" sz="1200" i="1" dirty="0" err="1"/>
              <a:t>postfix_equation</a:t>
            </a:r>
            <a:r>
              <a:rPr lang="pl-PL" sz="1200" dirty="0"/>
              <a:t> </a:t>
            </a:r>
          </a:p>
        </p:txBody>
      </p:sp>
      <p:sp>
        <p:nvSpPr>
          <p:cNvPr id="10" name="Process 9">
            <a:extLst>
              <a:ext uri="{FF2B5EF4-FFF2-40B4-BE49-F238E27FC236}">
                <a16:creationId xmlns:a16="http://schemas.microsoft.com/office/drawing/2014/main" id="{B88F59AB-4396-FC2E-138E-4C4E3E3F8920}"/>
              </a:ext>
            </a:extLst>
          </p:cNvPr>
          <p:cNvSpPr/>
          <p:nvPr/>
        </p:nvSpPr>
        <p:spPr>
          <a:xfrm>
            <a:off x="6371772" y="3548088"/>
            <a:ext cx="3120337" cy="48717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operation_order</a:t>
            </a:r>
            <a:r>
              <a:rPr lang="pl-PL" sz="1200" i="1" dirty="0"/>
              <a:t> </a:t>
            </a:r>
            <a:r>
              <a:rPr lang="pl-PL" sz="1200" dirty="0"/>
              <a:t>← mapa wartości</a:t>
            </a:r>
          </a:p>
          <a:p>
            <a:pPr algn="ctr"/>
            <a:r>
              <a:rPr lang="pl-PL" sz="1200" i="1" dirty="0"/>
              <a:t>{"(": 0, "+": 1, "-": 1, "*": 2, "/": 2, "^": 3}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E6084F-9EBE-CE42-ED35-CE64E3A27F13}"/>
              </a:ext>
            </a:extLst>
          </p:cNvPr>
          <p:cNvCxnSpPr>
            <a:cxnSpLocks/>
          </p:cNvCxnSpPr>
          <p:nvPr/>
        </p:nvCxnSpPr>
        <p:spPr>
          <a:xfrm>
            <a:off x="7931940" y="3321747"/>
            <a:ext cx="1" cy="2263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560192A-9FAB-191C-5CEE-028A0E176397}"/>
              </a:ext>
            </a:extLst>
          </p:cNvPr>
          <p:cNvCxnSpPr>
            <a:cxnSpLocks/>
          </p:cNvCxnSpPr>
          <p:nvPr/>
        </p:nvCxnSpPr>
        <p:spPr>
          <a:xfrm flipH="1">
            <a:off x="7931939" y="4035264"/>
            <a:ext cx="1" cy="2294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D843CEE-EF98-D02A-24A5-FA4565A1BB41}"/>
              </a:ext>
            </a:extLst>
          </p:cNvPr>
          <p:cNvCxnSpPr>
            <a:cxnSpLocks/>
          </p:cNvCxnSpPr>
          <p:nvPr/>
        </p:nvCxnSpPr>
        <p:spPr>
          <a:xfrm>
            <a:off x="7931939" y="4877387"/>
            <a:ext cx="1" cy="2453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1" name="Process 20">
            <a:extLst>
              <a:ext uri="{FF2B5EF4-FFF2-40B4-BE49-F238E27FC236}">
                <a16:creationId xmlns:a16="http://schemas.microsoft.com/office/drawing/2014/main" id="{0CF6E8D0-A6EE-EB79-2FD2-84487EA06ECD}"/>
              </a:ext>
            </a:extLst>
          </p:cNvPr>
          <p:cNvSpPr/>
          <p:nvPr/>
        </p:nvSpPr>
        <p:spPr>
          <a:xfrm>
            <a:off x="6371772" y="7371017"/>
            <a:ext cx="3120337" cy="30868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/>
              <a:t>symbol </a:t>
            </a:r>
            <a:r>
              <a:rPr lang="pl-PL" sz="1200" dirty="0"/>
              <a:t>← </a:t>
            </a:r>
            <a:r>
              <a:rPr lang="pl-PL" sz="1200" dirty="0" err="1"/>
              <a:t>infix_equation</a:t>
            </a:r>
            <a:r>
              <a:rPr lang="pl-PL" sz="1200" dirty="0"/>
              <a:t>[</a:t>
            </a:r>
            <a:r>
              <a:rPr lang="pl-PL" sz="1200" dirty="0" err="1"/>
              <a:t>symbol_index</a:t>
            </a:r>
            <a:r>
              <a:rPr lang="pl-PL" sz="1200" dirty="0"/>
              <a:t>]</a:t>
            </a:r>
            <a:endParaRPr lang="pl-PL" sz="1200" i="1" dirty="0"/>
          </a:p>
        </p:txBody>
      </p:sp>
      <p:sp>
        <p:nvSpPr>
          <p:cNvPr id="22" name="Decision 21">
            <a:extLst>
              <a:ext uri="{FF2B5EF4-FFF2-40B4-BE49-F238E27FC236}">
                <a16:creationId xmlns:a16="http://schemas.microsoft.com/office/drawing/2014/main" id="{7D976B19-3C90-254A-13BD-6D8C58E9AFDC}"/>
              </a:ext>
            </a:extLst>
          </p:cNvPr>
          <p:cNvSpPr/>
          <p:nvPr/>
        </p:nvSpPr>
        <p:spPr>
          <a:xfrm>
            <a:off x="6473451" y="6169689"/>
            <a:ext cx="2916978" cy="712171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symbol_index</a:t>
            </a:r>
            <a:r>
              <a:rPr lang="pl-PL" sz="1200" i="1" dirty="0"/>
              <a:t> </a:t>
            </a:r>
            <a:r>
              <a:rPr lang="pl-PL" sz="1200" dirty="0"/>
              <a:t>&lt;=</a:t>
            </a:r>
          </a:p>
          <a:p>
            <a:pPr algn="ctr"/>
            <a:r>
              <a:rPr lang="pl-PL" sz="1200" dirty="0"/>
              <a:t>długość</a:t>
            </a:r>
            <a:br>
              <a:rPr lang="pl-PL" sz="1200" dirty="0"/>
            </a:br>
            <a:r>
              <a:rPr lang="pl-PL" sz="1200" dirty="0"/>
              <a:t>(</a:t>
            </a:r>
            <a:r>
              <a:rPr lang="pl-PL" sz="1200" i="1" dirty="0" err="1"/>
              <a:t>infix_equation</a:t>
            </a:r>
            <a:r>
              <a:rPr lang="pl-PL" sz="1200" dirty="0"/>
              <a:t>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6FE3B08-38BB-982B-F3F6-F8CA503DA4DB}"/>
              </a:ext>
            </a:extLst>
          </p:cNvPr>
          <p:cNvCxnSpPr>
            <a:stCxn id="8" idx="2"/>
            <a:endCxn id="22" idx="0"/>
          </p:cNvCxnSpPr>
          <p:nvPr/>
        </p:nvCxnSpPr>
        <p:spPr>
          <a:xfrm flipH="1">
            <a:off x="7931940" y="5924372"/>
            <a:ext cx="1" cy="2453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A6038B2-25AB-B89A-6F2B-DA9FD1F62D1E}"/>
              </a:ext>
            </a:extLst>
          </p:cNvPr>
          <p:cNvCxnSpPr>
            <a:stCxn id="22" idx="2"/>
            <a:endCxn id="21" idx="0"/>
          </p:cNvCxnSpPr>
          <p:nvPr/>
        </p:nvCxnSpPr>
        <p:spPr>
          <a:xfrm>
            <a:off x="7931940" y="6881860"/>
            <a:ext cx="1" cy="489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8A5C4FB-7B5F-B798-E65B-4240008CD787}"/>
              </a:ext>
            </a:extLst>
          </p:cNvPr>
          <p:cNvSpPr txBox="1"/>
          <p:nvPr/>
        </p:nvSpPr>
        <p:spPr>
          <a:xfrm>
            <a:off x="7965399" y="6931612"/>
            <a:ext cx="494751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tak</a:t>
            </a:r>
          </a:p>
        </p:txBody>
      </p:sp>
      <p:sp>
        <p:nvSpPr>
          <p:cNvPr id="28" name="Process 27">
            <a:extLst>
              <a:ext uri="{FF2B5EF4-FFF2-40B4-BE49-F238E27FC236}">
                <a16:creationId xmlns:a16="http://schemas.microsoft.com/office/drawing/2014/main" id="{8FEB4851-3553-3269-45B7-565E02F54F78}"/>
              </a:ext>
            </a:extLst>
          </p:cNvPr>
          <p:cNvSpPr/>
          <p:nvPr/>
        </p:nvSpPr>
        <p:spPr>
          <a:xfrm>
            <a:off x="8752178" y="9967952"/>
            <a:ext cx="3415105" cy="507681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Wstaw na górę stosu </a:t>
            </a:r>
            <a:r>
              <a:rPr lang="pl-PL" sz="1200" i="1" dirty="0" err="1"/>
              <a:t>values</a:t>
            </a:r>
            <a:r>
              <a:rPr lang="pl-PL" sz="1200" dirty="0"/>
              <a:t> wartość </a:t>
            </a:r>
            <a:r>
              <a:rPr lang="pl-PL" sz="1200" i="1" dirty="0"/>
              <a:t>symbol</a:t>
            </a:r>
          </a:p>
          <a:p>
            <a:pPr algn="ctr"/>
            <a:r>
              <a:rPr lang="pl-PL" sz="1200" dirty="0"/>
              <a:t>Wstaw na górę stosu </a:t>
            </a:r>
            <a:r>
              <a:rPr lang="pl-PL" sz="1200" i="1" dirty="0" err="1"/>
              <a:t>operations</a:t>
            </a:r>
            <a:r>
              <a:rPr lang="pl-PL" sz="1200" dirty="0"/>
              <a:t> wartość „L”</a:t>
            </a:r>
          </a:p>
        </p:txBody>
      </p:sp>
      <p:sp>
        <p:nvSpPr>
          <p:cNvPr id="29" name="Process 28">
            <a:extLst>
              <a:ext uri="{FF2B5EF4-FFF2-40B4-BE49-F238E27FC236}">
                <a16:creationId xmlns:a16="http://schemas.microsoft.com/office/drawing/2014/main" id="{228C53E9-C609-9CE8-71CC-C68C4A42FFD0}"/>
              </a:ext>
            </a:extLst>
          </p:cNvPr>
          <p:cNvSpPr/>
          <p:nvPr/>
        </p:nvSpPr>
        <p:spPr>
          <a:xfrm>
            <a:off x="12812695" y="9772410"/>
            <a:ext cx="3673584" cy="89876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/>
              <a:t>temp1</a:t>
            </a:r>
            <a:r>
              <a:rPr lang="pl-PL" sz="1200" dirty="0"/>
              <a:t> ← Wartość z góry stosu </a:t>
            </a:r>
            <a:r>
              <a:rPr lang="pl-PL" sz="1200" i="1" dirty="0" err="1"/>
              <a:t>values</a:t>
            </a:r>
            <a:endParaRPr lang="pl-PL" sz="1200" i="1" dirty="0"/>
          </a:p>
          <a:p>
            <a:pPr algn="ctr"/>
            <a:r>
              <a:rPr lang="pl-PL" sz="1200" dirty="0"/>
              <a:t>Usuń wartość z góry stosu </a:t>
            </a:r>
            <a:r>
              <a:rPr lang="pl-PL" sz="1200" i="1" dirty="0" err="1"/>
              <a:t>values</a:t>
            </a:r>
            <a:endParaRPr lang="pl-PL" sz="1200" i="1" dirty="0"/>
          </a:p>
          <a:p>
            <a:pPr algn="ctr"/>
            <a:r>
              <a:rPr lang="pl-PL" sz="1200" i="1" dirty="0"/>
              <a:t>temp2</a:t>
            </a:r>
            <a:r>
              <a:rPr lang="pl-PL" sz="1200" dirty="0"/>
              <a:t> ← </a:t>
            </a:r>
            <a:r>
              <a:rPr lang="pl-PL" sz="1200" i="1" dirty="0"/>
              <a:t>temp1</a:t>
            </a:r>
            <a:r>
              <a:rPr lang="pl-PL" sz="1200" dirty="0"/>
              <a:t> + </a:t>
            </a:r>
            <a:r>
              <a:rPr lang="pl-PL" sz="1200" i="1" dirty="0"/>
              <a:t>symbol</a:t>
            </a:r>
          </a:p>
          <a:p>
            <a:pPr algn="ctr"/>
            <a:r>
              <a:rPr lang="pl-PL" sz="1200" dirty="0"/>
              <a:t>Wstaw na górę stosu </a:t>
            </a:r>
            <a:r>
              <a:rPr lang="pl-PL" sz="1200" i="1" dirty="0" err="1"/>
              <a:t>values</a:t>
            </a:r>
            <a:r>
              <a:rPr lang="pl-PL" sz="1200" dirty="0"/>
              <a:t> wartość </a:t>
            </a:r>
            <a:r>
              <a:rPr lang="pl-PL" sz="1200" i="1" dirty="0"/>
              <a:t>temp2</a:t>
            </a:r>
          </a:p>
        </p:txBody>
      </p:sp>
      <p:sp>
        <p:nvSpPr>
          <p:cNvPr id="30" name="Decision 29">
            <a:extLst>
              <a:ext uri="{FF2B5EF4-FFF2-40B4-BE49-F238E27FC236}">
                <a16:creationId xmlns:a16="http://schemas.microsoft.com/office/drawing/2014/main" id="{92C24E9B-F1A5-E69D-4DCB-39FA79BDFB42}"/>
              </a:ext>
            </a:extLst>
          </p:cNvPr>
          <p:cNvSpPr/>
          <p:nvPr/>
        </p:nvSpPr>
        <p:spPr>
          <a:xfrm>
            <a:off x="10898722" y="8889468"/>
            <a:ext cx="3239430" cy="712171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is_previous_symbol_numeric</a:t>
            </a:r>
            <a:r>
              <a:rPr lang="pl-PL" sz="1200" i="1" dirty="0"/>
              <a:t> = prawda</a:t>
            </a:r>
            <a:endParaRPr lang="pl-PL" sz="1200" dirty="0"/>
          </a:p>
        </p:txBody>
      </p:sp>
      <p:sp>
        <p:nvSpPr>
          <p:cNvPr id="31" name="Process 30">
            <a:extLst>
              <a:ext uri="{FF2B5EF4-FFF2-40B4-BE49-F238E27FC236}">
                <a16:creationId xmlns:a16="http://schemas.microsoft.com/office/drawing/2014/main" id="{5DFB0FCF-BA76-A792-C688-6EBB0D55BE7F}"/>
              </a:ext>
            </a:extLst>
          </p:cNvPr>
          <p:cNvSpPr/>
          <p:nvPr/>
        </p:nvSpPr>
        <p:spPr>
          <a:xfrm>
            <a:off x="10958271" y="11360487"/>
            <a:ext cx="3120337" cy="34629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is_previous_symbol_numeric</a:t>
            </a:r>
            <a:r>
              <a:rPr lang="pl-PL" sz="1200" dirty="0"/>
              <a:t> ← prawda</a:t>
            </a:r>
          </a:p>
        </p:txBody>
      </p: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E38F0738-E893-DFEF-6A97-EC83CE1043F5}"/>
              </a:ext>
            </a:extLst>
          </p:cNvPr>
          <p:cNvCxnSpPr>
            <a:cxnSpLocks/>
            <a:stCxn id="30" idx="3"/>
            <a:endCxn id="29" idx="0"/>
          </p:cNvCxnSpPr>
          <p:nvPr/>
        </p:nvCxnSpPr>
        <p:spPr>
          <a:xfrm>
            <a:off x="14138152" y="9245554"/>
            <a:ext cx="511335" cy="52685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179EC5B-026D-5A0A-EE5D-72968E539F93}"/>
              </a:ext>
            </a:extLst>
          </p:cNvPr>
          <p:cNvSpPr txBox="1"/>
          <p:nvPr/>
        </p:nvSpPr>
        <p:spPr>
          <a:xfrm>
            <a:off x="14078608" y="8880509"/>
            <a:ext cx="494751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tak</a:t>
            </a:r>
          </a:p>
        </p:txBody>
      </p: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B5C6617C-746E-FB6A-B1BF-71AEDA30C4BB}"/>
              </a:ext>
            </a:extLst>
          </p:cNvPr>
          <p:cNvCxnSpPr>
            <a:cxnSpLocks/>
            <a:stCxn id="30" idx="1"/>
            <a:endCxn id="28" idx="0"/>
          </p:cNvCxnSpPr>
          <p:nvPr/>
        </p:nvCxnSpPr>
        <p:spPr>
          <a:xfrm rot="10800000" flipV="1">
            <a:off x="10459732" y="9245554"/>
            <a:ext cx="438991" cy="72239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80ADEBB-69A7-764C-1365-54868003FCE6}"/>
              </a:ext>
            </a:extLst>
          </p:cNvPr>
          <p:cNvSpPr txBox="1"/>
          <p:nvPr/>
        </p:nvSpPr>
        <p:spPr>
          <a:xfrm>
            <a:off x="10459731" y="8899256"/>
            <a:ext cx="487634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75B49C83-D633-7211-708C-DDA06C369A50}"/>
              </a:ext>
            </a:extLst>
          </p:cNvPr>
          <p:cNvCxnSpPr>
            <a:cxnSpLocks/>
            <a:stCxn id="28" idx="2"/>
            <a:endCxn id="31" idx="0"/>
          </p:cNvCxnSpPr>
          <p:nvPr/>
        </p:nvCxnSpPr>
        <p:spPr>
          <a:xfrm rot="16200000" flipH="1">
            <a:off x="11046658" y="9888705"/>
            <a:ext cx="884854" cy="20587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17A5C117-413D-E3E6-8664-49929B6109D4}"/>
              </a:ext>
            </a:extLst>
          </p:cNvPr>
          <p:cNvCxnSpPr>
            <a:cxnSpLocks/>
            <a:stCxn id="29" idx="2"/>
            <a:endCxn id="31" idx="0"/>
          </p:cNvCxnSpPr>
          <p:nvPr/>
        </p:nvCxnSpPr>
        <p:spPr>
          <a:xfrm rot="5400000">
            <a:off x="13239309" y="9950308"/>
            <a:ext cx="689311" cy="21310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864BAD7-6262-52CB-4994-C53A15BDF37E}"/>
              </a:ext>
            </a:extLst>
          </p:cNvPr>
          <p:cNvSpPr txBox="1"/>
          <p:nvPr/>
        </p:nvSpPr>
        <p:spPr>
          <a:xfrm>
            <a:off x="9390428" y="7914232"/>
            <a:ext cx="494751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tak</a:t>
            </a:r>
          </a:p>
        </p:txBody>
      </p:sp>
      <p:sp>
        <p:nvSpPr>
          <p:cNvPr id="40" name="Decision 39">
            <a:extLst>
              <a:ext uri="{FF2B5EF4-FFF2-40B4-BE49-F238E27FC236}">
                <a16:creationId xmlns:a16="http://schemas.microsoft.com/office/drawing/2014/main" id="{46B2810E-A292-1E43-0913-3785E463E0CE}"/>
              </a:ext>
            </a:extLst>
          </p:cNvPr>
          <p:cNvSpPr/>
          <p:nvPr/>
        </p:nvSpPr>
        <p:spPr>
          <a:xfrm>
            <a:off x="6473450" y="7924020"/>
            <a:ext cx="2916978" cy="712171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/>
              <a:t>symbol</a:t>
            </a:r>
            <a:r>
              <a:rPr lang="pl-PL" sz="1200" dirty="0"/>
              <a:t> jest liczbą?</a:t>
            </a:r>
          </a:p>
        </p:txBody>
      </p: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81063ABA-E91B-E4FE-9CF3-F77E9A679960}"/>
              </a:ext>
            </a:extLst>
          </p:cNvPr>
          <p:cNvCxnSpPr>
            <a:stCxn id="40" idx="3"/>
            <a:endCxn id="30" idx="0"/>
          </p:cNvCxnSpPr>
          <p:nvPr/>
        </p:nvCxnSpPr>
        <p:spPr>
          <a:xfrm>
            <a:off x="9390428" y="8280106"/>
            <a:ext cx="3128009" cy="60936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EB73659-C3F6-03CD-AF22-6F2A6396C84D}"/>
              </a:ext>
            </a:extLst>
          </p:cNvPr>
          <p:cNvCxnSpPr>
            <a:stCxn id="21" idx="2"/>
            <a:endCxn id="40" idx="0"/>
          </p:cNvCxnSpPr>
          <p:nvPr/>
        </p:nvCxnSpPr>
        <p:spPr>
          <a:xfrm flipH="1">
            <a:off x="7931939" y="7679702"/>
            <a:ext cx="2" cy="2443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62" name="Process 61">
            <a:extLst>
              <a:ext uri="{FF2B5EF4-FFF2-40B4-BE49-F238E27FC236}">
                <a16:creationId xmlns:a16="http://schemas.microsoft.com/office/drawing/2014/main" id="{7F87D800-A7B0-3F01-9A30-87AABB09AD40}"/>
              </a:ext>
            </a:extLst>
          </p:cNvPr>
          <p:cNvSpPr/>
          <p:nvPr/>
        </p:nvSpPr>
        <p:spPr>
          <a:xfrm>
            <a:off x="4006354" y="8880509"/>
            <a:ext cx="3120337" cy="34629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is_previous_symbol_numeric</a:t>
            </a:r>
            <a:r>
              <a:rPr lang="pl-PL" sz="1200" dirty="0"/>
              <a:t> ← fałsz</a:t>
            </a:r>
          </a:p>
        </p:txBody>
      </p:sp>
      <p:sp>
        <p:nvSpPr>
          <p:cNvPr id="63" name="Decision 62">
            <a:extLst>
              <a:ext uri="{FF2B5EF4-FFF2-40B4-BE49-F238E27FC236}">
                <a16:creationId xmlns:a16="http://schemas.microsoft.com/office/drawing/2014/main" id="{6461115C-B60F-0CA9-1658-CD325EBECAD3}"/>
              </a:ext>
            </a:extLst>
          </p:cNvPr>
          <p:cNvSpPr/>
          <p:nvPr/>
        </p:nvSpPr>
        <p:spPr>
          <a:xfrm>
            <a:off x="4396393" y="9480911"/>
            <a:ext cx="2340256" cy="712171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symbol = </a:t>
            </a:r>
            <a:r>
              <a:rPr lang="pl-PL" sz="1200"/>
              <a:t>„ ”</a:t>
            </a:r>
            <a:endParaRPr lang="pl-PL" sz="1200" dirty="0"/>
          </a:p>
        </p:txBody>
      </p: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7C674604-4194-AB45-D6F6-8C2840A919D7}"/>
              </a:ext>
            </a:extLst>
          </p:cNvPr>
          <p:cNvCxnSpPr>
            <a:stCxn id="40" idx="1"/>
            <a:endCxn id="62" idx="0"/>
          </p:cNvCxnSpPr>
          <p:nvPr/>
        </p:nvCxnSpPr>
        <p:spPr>
          <a:xfrm rot="10800000" flipV="1">
            <a:off x="5566524" y="8280105"/>
            <a:ext cx="906927" cy="60040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0B45A0E-9945-DEE1-B7AC-F6F43007852A}"/>
              </a:ext>
            </a:extLst>
          </p:cNvPr>
          <p:cNvCxnSpPr>
            <a:cxnSpLocks/>
            <a:stCxn id="62" idx="2"/>
            <a:endCxn id="63" idx="0"/>
          </p:cNvCxnSpPr>
          <p:nvPr/>
        </p:nvCxnSpPr>
        <p:spPr>
          <a:xfrm flipH="1">
            <a:off x="5566521" y="9226804"/>
            <a:ext cx="2" cy="254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117F1FBE-FEEF-A8AA-30CE-8549B34F2CD7}"/>
              </a:ext>
            </a:extLst>
          </p:cNvPr>
          <p:cNvSpPr txBox="1"/>
          <p:nvPr/>
        </p:nvSpPr>
        <p:spPr>
          <a:xfrm>
            <a:off x="5978699" y="7924019"/>
            <a:ext cx="487634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  <p:sp>
        <p:nvSpPr>
          <p:cNvPr id="70" name="Process 69">
            <a:extLst>
              <a:ext uri="{FF2B5EF4-FFF2-40B4-BE49-F238E27FC236}">
                <a16:creationId xmlns:a16="http://schemas.microsoft.com/office/drawing/2014/main" id="{081F2ADD-4EC4-913A-B279-1C60AB847983}"/>
              </a:ext>
            </a:extLst>
          </p:cNvPr>
          <p:cNvSpPr/>
          <p:nvPr/>
        </p:nvSpPr>
        <p:spPr>
          <a:xfrm>
            <a:off x="3331263" y="10889004"/>
            <a:ext cx="4447148" cy="1317791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right_value</a:t>
            </a:r>
            <a:r>
              <a:rPr lang="pl-PL" sz="1200" dirty="0"/>
              <a:t> ← Wartość z góry stosu </a:t>
            </a:r>
            <a:r>
              <a:rPr lang="pl-PL" sz="1200" i="1" dirty="0" err="1"/>
              <a:t>values</a:t>
            </a:r>
            <a:endParaRPr lang="pl-PL" sz="1200" i="1" dirty="0"/>
          </a:p>
          <a:p>
            <a:pPr algn="ctr"/>
            <a:r>
              <a:rPr lang="pl-PL" sz="1200" dirty="0"/>
              <a:t>Usuń wartość z góry stosu </a:t>
            </a:r>
            <a:r>
              <a:rPr lang="pl-PL" sz="1200" i="1" dirty="0" err="1"/>
              <a:t>values</a:t>
            </a:r>
            <a:endParaRPr lang="pl-PL" sz="1200" i="1" dirty="0"/>
          </a:p>
          <a:p>
            <a:pPr algn="ctr"/>
            <a:r>
              <a:rPr lang="pl-PL" sz="1200" i="1" dirty="0" err="1"/>
              <a:t>right_operation</a:t>
            </a:r>
            <a:r>
              <a:rPr lang="pl-PL" sz="1200" dirty="0"/>
              <a:t> ← Wartość z góry stosu </a:t>
            </a:r>
            <a:r>
              <a:rPr lang="pl-PL" sz="1200" i="1" dirty="0" err="1"/>
              <a:t>operations</a:t>
            </a:r>
            <a:endParaRPr lang="pl-PL" sz="1200" i="1" dirty="0"/>
          </a:p>
          <a:p>
            <a:pPr algn="ctr"/>
            <a:r>
              <a:rPr lang="pl-PL" sz="1200" dirty="0"/>
              <a:t>Usuń wartość z góry stosu </a:t>
            </a:r>
            <a:r>
              <a:rPr lang="pl-PL" sz="1200" i="1" dirty="0" err="1"/>
              <a:t>operations</a:t>
            </a:r>
            <a:endParaRPr lang="pl-PL" sz="1200" i="1" dirty="0"/>
          </a:p>
          <a:p>
            <a:pPr algn="ctr"/>
            <a:r>
              <a:rPr lang="pl-PL" sz="1200" i="1" dirty="0" err="1"/>
              <a:t>current_precedence</a:t>
            </a:r>
            <a:r>
              <a:rPr lang="pl-PL" sz="1200" dirty="0"/>
              <a:t> ← </a:t>
            </a:r>
            <a:r>
              <a:rPr lang="pl-PL" sz="1200" i="1" dirty="0" err="1"/>
              <a:t>operation_order</a:t>
            </a:r>
            <a:r>
              <a:rPr lang="pl-PL" sz="1200" dirty="0"/>
              <a:t>[</a:t>
            </a:r>
            <a:r>
              <a:rPr lang="pl-PL" sz="1200" i="1" dirty="0"/>
              <a:t>symbol</a:t>
            </a:r>
            <a:r>
              <a:rPr lang="pl-PL" sz="1200" dirty="0"/>
              <a:t>]</a:t>
            </a:r>
          </a:p>
          <a:p>
            <a:pPr algn="ctr"/>
            <a:r>
              <a:rPr lang="pl-PL" sz="1200" i="1" dirty="0" err="1"/>
              <a:t>precedence_on_stack</a:t>
            </a:r>
            <a:r>
              <a:rPr lang="pl-PL" sz="1200" dirty="0"/>
              <a:t> ← </a:t>
            </a:r>
            <a:r>
              <a:rPr lang="pl-PL" sz="1200" i="1" dirty="0" err="1"/>
              <a:t>operation_order</a:t>
            </a:r>
            <a:r>
              <a:rPr lang="pl-PL" sz="1200" dirty="0"/>
              <a:t>[</a:t>
            </a:r>
            <a:r>
              <a:rPr lang="pl-PL" sz="1200" i="1" dirty="0" err="1"/>
              <a:t>right_operation</a:t>
            </a:r>
            <a:r>
              <a:rPr lang="pl-PL" sz="1200" dirty="0"/>
              <a:t>]</a:t>
            </a:r>
            <a:endParaRPr lang="pl-PL" sz="1200" i="1" dirty="0"/>
          </a:p>
        </p:txBody>
      </p:sp>
      <p:sp>
        <p:nvSpPr>
          <p:cNvPr id="71" name="Decision 70">
            <a:extLst>
              <a:ext uri="{FF2B5EF4-FFF2-40B4-BE49-F238E27FC236}">
                <a16:creationId xmlns:a16="http://schemas.microsoft.com/office/drawing/2014/main" id="{E9D8B95D-A99B-3F10-D21B-A21649E37B43}"/>
              </a:ext>
            </a:extLst>
          </p:cNvPr>
          <p:cNvSpPr/>
          <p:nvPr/>
        </p:nvSpPr>
        <p:spPr>
          <a:xfrm>
            <a:off x="3753197" y="12466553"/>
            <a:ext cx="3603281" cy="123028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right_operation</a:t>
            </a:r>
            <a:r>
              <a:rPr lang="pl-PL" sz="1200" i="1" dirty="0"/>
              <a:t> </a:t>
            </a:r>
            <a:r>
              <a:rPr lang="pl-PL" sz="1200" dirty="0"/>
              <a:t>!= „L”</a:t>
            </a:r>
          </a:p>
          <a:p>
            <a:pPr algn="ctr"/>
            <a:r>
              <a:rPr lang="pl-PL" sz="1200" dirty="0"/>
              <a:t>&amp;&amp;</a:t>
            </a:r>
          </a:p>
          <a:p>
            <a:pPr algn="ctr"/>
            <a:r>
              <a:rPr lang="pl-PL" sz="1200" i="1" dirty="0" err="1"/>
              <a:t>current_precedence</a:t>
            </a:r>
            <a:r>
              <a:rPr lang="pl-PL" sz="1200" dirty="0"/>
              <a:t> &gt; </a:t>
            </a:r>
            <a:r>
              <a:rPr lang="pl-PL" sz="1200" i="1" dirty="0" err="1"/>
              <a:t>precedence_on_stack</a:t>
            </a:r>
            <a:endParaRPr lang="pl-PL" sz="1200" i="1" dirty="0"/>
          </a:p>
        </p:txBody>
      </p:sp>
      <p:sp>
        <p:nvSpPr>
          <p:cNvPr id="76" name="Process 75">
            <a:extLst>
              <a:ext uri="{FF2B5EF4-FFF2-40B4-BE49-F238E27FC236}">
                <a16:creationId xmlns:a16="http://schemas.microsoft.com/office/drawing/2014/main" id="{7A24176F-B862-130E-9217-26F1B32D2AAA}"/>
              </a:ext>
            </a:extLst>
          </p:cNvPr>
          <p:cNvSpPr/>
          <p:nvPr/>
        </p:nvSpPr>
        <p:spPr>
          <a:xfrm>
            <a:off x="6222516" y="14049079"/>
            <a:ext cx="3120337" cy="34629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right_value</a:t>
            </a:r>
            <a:r>
              <a:rPr lang="pl-PL" sz="1200" dirty="0"/>
              <a:t> = „(” + </a:t>
            </a:r>
            <a:r>
              <a:rPr lang="pl-PL" sz="1200" i="1" dirty="0" err="1"/>
              <a:t>right_value</a:t>
            </a:r>
            <a:r>
              <a:rPr lang="pl-PL" sz="1200" dirty="0"/>
              <a:t> + „)”</a:t>
            </a:r>
          </a:p>
        </p:txBody>
      </p: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67FA9A96-3786-801A-0099-293463A4F500}"/>
              </a:ext>
            </a:extLst>
          </p:cNvPr>
          <p:cNvCxnSpPr>
            <a:stCxn id="71" idx="3"/>
            <a:endCxn id="76" idx="0"/>
          </p:cNvCxnSpPr>
          <p:nvPr/>
        </p:nvCxnSpPr>
        <p:spPr>
          <a:xfrm>
            <a:off x="7356478" y="13081695"/>
            <a:ext cx="426207" cy="96738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0DEC91D3-290A-7B8D-EA9F-EE5952BA2EB1}"/>
              </a:ext>
            </a:extLst>
          </p:cNvPr>
          <p:cNvSpPr txBox="1"/>
          <p:nvPr/>
        </p:nvSpPr>
        <p:spPr>
          <a:xfrm>
            <a:off x="7287933" y="12735400"/>
            <a:ext cx="494751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tak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18D9A15E-7CF9-3CAE-BCF9-02ED83C94B4D}"/>
              </a:ext>
            </a:extLst>
          </p:cNvPr>
          <p:cNvCxnSpPr>
            <a:cxnSpLocks/>
            <a:stCxn id="70" idx="2"/>
            <a:endCxn id="71" idx="0"/>
          </p:cNvCxnSpPr>
          <p:nvPr/>
        </p:nvCxnSpPr>
        <p:spPr>
          <a:xfrm>
            <a:off x="5554837" y="12206795"/>
            <a:ext cx="1" cy="259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87" name="Process 86">
            <a:extLst>
              <a:ext uri="{FF2B5EF4-FFF2-40B4-BE49-F238E27FC236}">
                <a16:creationId xmlns:a16="http://schemas.microsoft.com/office/drawing/2014/main" id="{D66D18B7-DFF3-01E8-A37F-2F2F2A4C1FA8}"/>
              </a:ext>
            </a:extLst>
          </p:cNvPr>
          <p:cNvSpPr/>
          <p:nvPr/>
        </p:nvSpPr>
        <p:spPr>
          <a:xfrm>
            <a:off x="3331263" y="14926803"/>
            <a:ext cx="4447148" cy="116162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left_value</a:t>
            </a:r>
            <a:r>
              <a:rPr lang="pl-PL" sz="1200" dirty="0"/>
              <a:t> ← Wartość z góry stosu </a:t>
            </a:r>
            <a:r>
              <a:rPr lang="pl-PL" sz="1200" i="1" dirty="0" err="1"/>
              <a:t>values</a:t>
            </a:r>
            <a:endParaRPr lang="pl-PL" sz="1200" i="1" dirty="0"/>
          </a:p>
          <a:p>
            <a:pPr algn="ctr"/>
            <a:r>
              <a:rPr lang="pl-PL" sz="1200" dirty="0"/>
              <a:t>Usuń wartość z góry stosu </a:t>
            </a:r>
            <a:r>
              <a:rPr lang="pl-PL" sz="1200" i="1" dirty="0" err="1"/>
              <a:t>values</a:t>
            </a:r>
            <a:endParaRPr lang="pl-PL" sz="1200" i="1" dirty="0"/>
          </a:p>
          <a:p>
            <a:pPr algn="ctr"/>
            <a:r>
              <a:rPr lang="pl-PL" sz="1200" i="1" dirty="0" err="1"/>
              <a:t>left_operation</a:t>
            </a:r>
            <a:r>
              <a:rPr lang="pl-PL" sz="1200" dirty="0"/>
              <a:t> ← Wartość z góry stosu </a:t>
            </a:r>
            <a:r>
              <a:rPr lang="pl-PL" sz="1200" i="1" dirty="0" err="1"/>
              <a:t>operations</a:t>
            </a:r>
            <a:endParaRPr lang="pl-PL" sz="1200" i="1" dirty="0"/>
          </a:p>
          <a:p>
            <a:pPr algn="ctr"/>
            <a:r>
              <a:rPr lang="pl-PL" sz="1200" dirty="0"/>
              <a:t>Usuń wartość z góry stosu </a:t>
            </a:r>
            <a:r>
              <a:rPr lang="pl-PL" sz="1200" i="1" dirty="0" err="1"/>
              <a:t>operations</a:t>
            </a:r>
            <a:endParaRPr lang="pl-PL" sz="1200" i="1" dirty="0"/>
          </a:p>
          <a:p>
            <a:pPr algn="ctr"/>
            <a:r>
              <a:rPr lang="pl-PL" sz="1200" i="1" dirty="0" err="1"/>
              <a:t>precedence_on_stack</a:t>
            </a:r>
            <a:r>
              <a:rPr lang="pl-PL" sz="1200" dirty="0"/>
              <a:t> ← </a:t>
            </a:r>
            <a:r>
              <a:rPr lang="pl-PL" sz="1200" i="1" dirty="0" err="1"/>
              <a:t>operation_order</a:t>
            </a:r>
            <a:r>
              <a:rPr lang="pl-PL" sz="1200" dirty="0"/>
              <a:t>[</a:t>
            </a:r>
            <a:r>
              <a:rPr lang="pl-PL" sz="1200" i="1" dirty="0" err="1"/>
              <a:t>left_operation</a:t>
            </a:r>
            <a:r>
              <a:rPr lang="pl-PL" sz="1200" dirty="0"/>
              <a:t>]</a:t>
            </a:r>
            <a:endParaRPr lang="pl-PL" sz="1200" i="1" dirty="0"/>
          </a:p>
        </p:txBody>
      </p:sp>
      <p:sp>
        <p:nvSpPr>
          <p:cNvPr id="88" name="Decision 87">
            <a:extLst>
              <a:ext uri="{FF2B5EF4-FFF2-40B4-BE49-F238E27FC236}">
                <a16:creationId xmlns:a16="http://schemas.microsoft.com/office/drawing/2014/main" id="{A2DFFBD6-C3BF-B19E-B764-8FC7E2730E85}"/>
              </a:ext>
            </a:extLst>
          </p:cNvPr>
          <p:cNvSpPr/>
          <p:nvPr/>
        </p:nvSpPr>
        <p:spPr>
          <a:xfrm>
            <a:off x="3753197" y="16353986"/>
            <a:ext cx="3603281" cy="123028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left_operation</a:t>
            </a:r>
            <a:r>
              <a:rPr lang="pl-PL" sz="1200" i="1" dirty="0"/>
              <a:t> </a:t>
            </a:r>
            <a:r>
              <a:rPr lang="pl-PL" sz="1200" dirty="0"/>
              <a:t>!= „L”</a:t>
            </a:r>
          </a:p>
          <a:p>
            <a:pPr algn="ctr"/>
            <a:r>
              <a:rPr lang="pl-PL" sz="1200" dirty="0"/>
              <a:t>&amp;&amp;</a:t>
            </a:r>
          </a:p>
          <a:p>
            <a:pPr algn="ctr"/>
            <a:r>
              <a:rPr lang="pl-PL" sz="1200" i="1" dirty="0" err="1"/>
              <a:t>current_precedence</a:t>
            </a:r>
            <a:r>
              <a:rPr lang="pl-PL" sz="1200" dirty="0"/>
              <a:t> &gt; </a:t>
            </a:r>
            <a:r>
              <a:rPr lang="pl-PL" sz="1200" i="1" dirty="0" err="1"/>
              <a:t>precedence_on_stack</a:t>
            </a:r>
            <a:endParaRPr lang="pl-PL" sz="1200" i="1" dirty="0"/>
          </a:p>
        </p:txBody>
      </p:sp>
      <p:sp>
        <p:nvSpPr>
          <p:cNvPr id="89" name="Process 88">
            <a:extLst>
              <a:ext uri="{FF2B5EF4-FFF2-40B4-BE49-F238E27FC236}">
                <a16:creationId xmlns:a16="http://schemas.microsoft.com/office/drawing/2014/main" id="{C52AB002-EFB6-C88A-BB27-2A7A2E932EA9}"/>
              </a:ext>
            </a:extLst>
          </p:cNvPr>
          <p:cNvSpPr/>
          <p:nvPr/>
        </p:nvSpPr>
        <p:spPr>
          <a:xfrm>
            <a:off x="6352183" y="17936512"/>
            <a:ext cx="3120337" cy="34629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left_value</a:t>
            </a:r>
            <a:r>
              <a:rPr lang="pl-PL" sz="1200" dirty="0"/>
              <a:t> = „(” + </a:t>
            </a:r>
            <a:r>
              <a:rPr lang="pl-PL" sz="1200" i="1" dirty="0" err="1"/>
              <a:t>left_value</a:t>
            </a:r>
            <a:r>
              <a:rPr lang="pl-PL" sz="1200" dirty="0"/>
              <a:t> + „)”</a:t>
            </a:r>
          </a:p>
        </p:txBody>
      </p: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F8D9CAB6-E147-75B8-5248-4D194AB9FB6C}"/>
              </a:ext>
            </a:extLst>
          </p:cNvPr>
          <p:cNvCxnSpPr>
            <a:stCxn id="88" idx="3"/>
            <a:endCxn id="89" idx="0"/>
          </p:cNvCxnSpPr>
          <p:nvPr/>
        </p:nvCxnSpPr>
        <p:spPr>
          <a:xfrm>
            <a:off x="7356478" y="16969128"/>
            <a:ext cx="555874" cy="96738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98A9BC91-49A5-56E7-E4BD-4BAD43FAF10C}"/>
              </a:ext>
            </a:extLst>
          </p:cNvPr>
          <p:cNvSpPr txBox="1"/>
          <p:nvPr/>
        </p:nvSpPr>
        <p:spPr>
          <a:xfrm>
            <a:off x="7417600" y="16622833"/>
            <a:ext cx="494751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tak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C3A6651-32F4-BA0B-2F74-CC708413FF2D}"/>
              </a:ext>
            </a:extLst>
          </p:cNvPr>
          <p:cNvCxnSpPr>
            <a:cxnSpLocks/>
            <a:stCxn id="87" idx="2"/>
            <a:endCxn id="88" idx="0"/>
          </p:cNvCxnSpPr>
          <p:nvPr/>
        </p:nvCxnSpPr>
        <p:spPr>
          <a:xfrm>
            <a:off x="5554837" y="16088430"/>
            <a:ext cx="1" cy="265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6F7E0CD-A864-4DE0-73DC-3443EC3FE84A}"/>
              </a:ext>
            </a:extLst>
          </p:cNvPr>
          <p:cNvCxnSpPr>
            <a:cxnSpLocks/>
            <a:stCxn id="71" idx="2"/>
            <a:endCxn id="87" idx="0"/>
          </p:cNvCxnSpPr>
          <p:nvPr/>
        </p:nvCxnSpPr>
        <p:spPr>
          <a:xfrm flipH="1">
            <a:off x="5554837" y="13696837"/>
            <a:ext cx="1" cy="12299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7" name="Elbow Connector 96">
            <a:extLst>
              <a:ext uri="{FF2B5EF4-FFF2-40B4-BE49-F238E27FC236}">
                <a16:creationId xmlns:a16="http://schemas.microsoft.com/office/drawing/2014/main" id="{BEFECC8A-E7A9-8EAF-5E06-9C301B6C50E9}"/>
              </a:ext>
            </a:extLst>
          </p:cNvPr>
          <p:cNvCxnSpPr>
            <a:cxnSpLocks/>
            <a:stCxn id="76" idx="2"/>
            <a:endCxn id="87" idx="0"/>
          </p:cNvCxnSpPr>
          <p:nvPr/>
        </p:nvCxnSpPr>
        <p:spPr>
          <a:xfrm rot="5400000">
            <a:off x="6403047" y="13547164"/>
            <a:ext cx="531429" cy="222784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98" name="Process 97">
            <a:extLst>
              <a:ext uri="{FF2B5EF4-FFF2-40B4-BE49-F238E27FC236}">
                <a16:creationId xmlns:a16="http://schemas.microsoft.com/office/drawing/2014/main" id="{A67438AF-CF6E-0B99-85C2-2335272E4EAC}"/>
              </a:ext>
            </a:extLst>
          </p:cNvPr>
          <p:cNvSpPr/>
          <p:nvPr/>
        </p:nvSpPr>
        <p:spPr>
          <a:xfrm>
            <a:off x="3721456" y="18777685"/>
            <a:ext cx="3666761" cy="76921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/>
              <a:t>temp1</a:t>
            </a:r>
            <a:r>
              <a:rPr lang="pl-PL" sz="1200" dirty="0"/>
              <a:t> ← </a:t>
            </a:r>
            <a:r>
              <a:rPr lang="pl-PL" sz="1200" i="1" dirty="0" err="1"/>
              <a:t>left_value</a:t>
            </a:r>
            <a:r>
              <a:rPr lang="pl-PL" sz="1200" dirty="0"/>
              <a:t> + </a:t>
            </a:r>
            <a:r>
              <a:rPr lang="pl-PL" sz="1200" i="1" dirty="0"/>
              <a:t>symbol</a:t>
            </a:r>
            <a:r>
              <a:rPr lang="pl-PL" sz="1200" dirty="0"/>
              <a:t> + </a:t>
            </a:r>
            <a:r>
              <a:rPr lang="pl-PL" sz="1200" i="1" dirty="0" err="1"/>
              <a:t>right_value</a:t>
            </a:r>
            <a:endParaRPr lang="pl-PL" sz="1200" i="1" dirty="0"/>
          </a:p>
          <a:p>
            <a:pPr algn="ctr"/>
            <a:r>
              <a:rPr lang="pl-PL" sz="1200" dirty="0"/>
              <a:t>Wstaw na górę stosu </a:t>
            </a:r>
            <a:r>
              <a:rPr lang="pl-PL" sz="1200" i="1" dirty="0" err="1"/>
              <a:t>values</a:t>
            </a:r>
            <a:r>
              <a:rPr lang="pl-PL" sz="1200" dirty="0"/>
              <a:t> wartość </a:t>
            </a:r>
            <a:r>
              <a:rPr lang="pl-PL" sz="1200" i="1" dirty="0"/>
              <a:t>temp1</a:t>
            </a:r>
            <a:r>
              <a:rPr lang="pl-PL" sz="1200" dirty="0"/>
              <a:t> </a:t>
            </a:r>
          </a:p>
          <a:p>
            <a:pPr algn="ctr"/>
            <a:r>
              <a:rPr lang="pl-PL" sz="1200" dirty="0"/>
              <a:t>Wstaw na górę stosu </a:t>
            </a:r>
            <a:r>
              <a:rPr lang="pl-PL" sz="1200" i="1" dirty="0" err="1"/>
              <a:t>operations</a:t>
            </a:r>
            <a:r>
              <a:rPr lang="pl-PL" sz="1200" dirty="0"/>
              <a:t> wartość </a:t>
            </a:r>
            <a:r>
              <a:rPr lang="pl-PL" sz="1200" i="1" dirty="0"/>
              <a:t>symbol</a:t>
            </a:r>
            <a:r>
              <a:rPr lang="pl-PL" sz="1200" dirty="0"/>
              <a:t> </a:t>
            </a:r>
          </a:p>
        </p:txBody>
      </p:sp>
      <p:cxnSp>
        <p:nvCxnSpPr>
          <p:cNvPr id="105" name="Elbow Connector 104">
            <a:extLst>
              <a:ext uri="{FF2B5EF4-FFF2-40B4-BE49-F238E27FC236}">
                <a16:creationId xmlns:a16="http://schemas.microsoft.com/office/drawing/2014/main" id="{CEFE09E6-6ACE-9941-F72B-61E3521275FA}"/>
              </a:ext>
            </a:extLst>
          </p:cNvPr>
          <p:cNvCxnSpPr>
            <a:stCxn id="89" idx="2"/>
            <a:endCxn id="98" idx="0"/>
          </p:cNvCxnSpPr>
          <p:nvPr/>
        </p:nvCxnSpPr>
        <p:spPr>
          <a:xfrm rot="5400000">
            <a:off x="6486156" y="17351489"/>
            <a:ext cx="494878" cy="235751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7CF2442-016E-A1D3-102B-698C2A1745AA}"/>
              </a:ext>
            </a:extLst>
          </p:cNvPr>
          <p:cNvCxnSpPr>
            <a:stCxn id="88" idx="2"/>
            <a:endCxn id="98" idx="0"/>
          </p:cNvCxnSpPr>
          <p:nvPr/>
        </p:nvCxnSpPr>
        <p:spPr>
          <a:xfrm flipH="1">
            <a:off x="5554837" y="17584270"/>
            <a:ext cx="1" cy="1193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EAC449A3-20CC-60C5-C1C7-355FF550E25D}"/>
              </a:ext>
            </a:extLst>
          </p:cNvPr>
          <p:cNvSpPr txBox="1"/>
          <p:nvPr/>
        </p:nvSpPr>
        <p:spPr>
          <a:xfrm>
            <a:off x="5060085" y="13676773"/>
            <a:ext cx="487634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0AA20F0-D975-8BC4-2CA7-8F2C3C94535E}"/>
              </a:ext>
            </a:extLst>
          </p:cNvPr>
          <p:cNvSpPr txBox="1"/>
          <p:nvPr/>
        </p:nvSpPr>
        <p:spPr>
          <a:xfrm>
            <a:off x="4998963" y="17575725"/>
            <a:ext cx="487634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  <p:sp>
        <p:nvSpPr>
          <p:cNvPr id="114" name="Process 113">
            <a:extLst>
              <a:ext uri="{FF2B5EF4-FFF2-40B4-BE49-F238E27FC236}">
                <a16:creationId xmlns:a16="http://schemas.microsoft.com/office/drawing/2014/main" id="{2C9680C1-EDED-03F3-5AB1-50A00A8569CC}"/>
              </a:ext>
            </a:extLst>
          </p:cNvPr>
          <p:cNvSpPr/>
          <p:nvPr/>
        </p:nvSpPr>
        <p:spPr>
          <a:xfrm>
            <a:off x="9722448" y="20112838"/>
            <a:ext cx="3415105" cy="34629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symbol_index</a:t>
            </a:r>
            <a:r>
              <a:rPr lang="pl-PL" sz="1200" dirty="0"/>
              <a:t> ← </a:t>
            </a:r>
            <a:r>
              <a:rPr lang="pl-PL" sz="1200" i="1" dirty="0" err="1"/>
              <a:t>symbol_index</a:t>
            </a:r>
            <a:r>
              <a:rPr lang="pl-PL" sz="1200" dirty="0"/>
              <a:t> + 1</a:t>
            </a:r>
            <a:endParaRPr lang="pl-PL" sz="1200" i="1" dirty="0"/>
          </a:p>
        </p:txBody>
      </p:sp>
      <p:cxnSp>
        <p:nvCxnSpPr>
          <p:cNvPr id="116" name="Elbow Connector 115">
            <a:extLst>
              <a:ext uri="{FF2B5EF4-FFF2-40B4-BE49-F238E27FC236}">
                <a16:creationId xmlns:a16="http://schemas.microsoft.com/office/drawing/2014/main" id="{8C9977E4-B40B-641F-EB27-C9FB2178B67A}"/>
              </a:ext>
            </a:extLst>
          </p:cNvPr>
          <p:cNvCxnSpPr>
            <a:stCxn id="31" idx="2"/>
            <a:endCxn id="114" idx="0"/>
          </p:cNvCxnSpPr>
          <p:nvPr/>
        </p:nvCxnSpPr>
        <p:spPr>
          <a:xfrm rot="5400000">
            <a:off x="7771193" y="15365591"/>
            <a:ext cx="8406056" cy="108843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CECCCB96-A0B8-6FFA-1C43-982B99EF1334}"/>
              </a:ext>
            </a:extLst>
          </p:cNvPr>
          <p:cNvCxnSpPr>
            <a:stCxn id="98" idx="2"/>
            <a:endCxn id="114" idx="0"/>
          </p:cNvCxnSpPr>
          <p:nvPr/>
        </p:nvCxnSpPr>
        <p:spPr>
          <a:xfrm rot="16200000" flipH="1">
            <a:off x="8209451" y="16892288"/>
            <a:ext cx="565936" cy="587516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24" name="Elbow Connector 123">
            <a:extLst>
              <a:ext uri="{FF2B5EF4-FFF2-40B4-BE49-F238E27FC236}">
                <a16:creationId xmlns:a16="http://schemas.microsoft.com/office/drawing/2014/main" id="{6AF03C01-1D15-1FC8-9CB6-B8E7AE22D1A2}"/>
              </a:ext>
            </a:extLst>
          </p:cNvPr>
          <p:cNvCxnSpPr>
            <a:cxnSpLocks/>
            <a:stCxn id="63" idx="3"/>
          </p:cNvCxnSpPr>
          <p:nvPr/>
        </p:nvCxnSpPr>
        <p:spPr>
          <a:xfrm>
            <a:off x="6736649" y="9836997"/>
            <a:ext cx="3124355" cy="182698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D233075B-9F84-F990-8666-5F585072780B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22590" y="13002400"/>
            <a:ext cx="4245824" cy="1568993"/>
          </a:xfrm>
          <a:prstGeom prst="bentConnector3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FBBD7326-C4D2-4A69-5FD1-FBFE096B675E}"/>
              </a:ext>
            </a:extLst>
          </p:cNvPr>
          <p:cNvCxnSpPr>
            <a:stCxn id="63" idx="2"/>
            <a:endCxn id="70" idx="0"/>
          </p:cNvCxnSpPr>
          <p:nvPr/>
        </p:nvCxnSpPr>
        <p:spPr>
          <a:xfrm flipH="1">
            <a:off x="5554837" y="10193082"/>
            <a:ext cx="11684" cy="6959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3074A1C3-D549-EBB9-0184-31FDA30A71F9}"/>
              </a:ext>
            </a:extLst>
          </p:cNvPr>
          <p:cNvSpPr txBox="1"/>
          <p:nvPr/>
        </p:nvSpPr>
        <p:spPr>
          <a:xfrm>
            <a:off x="6724896" y="9472455"/>
            <a:ext cx="494751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tak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71E26C9-BD84-F15A-7566-0411F2ABDD2C}"/>
              </a:ext>
            </a:extLst>
          </p:cNvPr>
          <p:cNvSpPr txBox="1"/>
          <p:nvPr/>
        </p:nvSpPr>
        <p:spPr>
          <a:xfrm>
            <a:off x="4966205" y="10202228"/>
            <a:ext cx="487634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  <p:cxnSp>
        <p:nvCxnSpPr>
          <p:cNvPr id="141" name="Elbow Connector 140">
            <a:extLst>
              <a:ext uri="{FF2B5EF4-FFF2-40B4-BE49-F238E27FC236}">
                <a16:creationId xmlns:a16="http://schemas.microsoft.com/office/drawing/2014/main" id="{3338757C-8F6E-35B2-BE05-6164C4F39591}"/>
              </a:ext>
            </a:extLst>
          </p:cNvPr>
          <p:cNvCxnSpPr>
            <a:cxnSpLocks/>
            <a:stCxn id="114" idx="2"/>
            <a:endCxn id="22" idx="0"/>
          </p:cNvCxnSpPr>
          <p:nvPr/>
        </p:nvCxnSpPr>
        <p:spPr>
          <a:xfrm rot="5400000" flipH="1">
            <a:off x="2536249" y="11565381"/>
            <a:ext cx="14289444" cy="3498061"/>
          </a:xfrm>
          <a:prstGeom prst="bentConnector5">
            <a:avLst>
              <a:gd name="adj1" fmla="val -1600"/>
              <a:gd name="adj2" fmla="val -155562"/>
              <a:gd name="adj3" fmla="val 100879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47" name="Data 146">
            <a:extLst>
              <a:ext uri="{FF2B5EF4-FFF2-40B4-BE49-F238E27FC236}">
                <a16:creationId xmlns:a16="http://schemas.microsoft.com/office/drawing/2014/main" id="{42AAD50B-4D52-BCE9-2654-BA715F5E939A}"/>
              </a:ext>
            </a:extLst>
          </p:cNvPr>
          <p:cNvSpPr/>
          <p:nvPr/>
        </p:nvSpPr>
        <p:spPr>
          <a:xfrm>
            <a:off x="1180068" y="7007518"/>
            <a:ext cx="4300050" cy="421581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Wypisz wartość z góry stosu </a:t>
            </a:r>
            <a:r>
              <a:rPr lang="pl-PL" sz="1200" i="1" dirty="0" err="1"/>
              <a:t>values</a:t>
            </a:r>
            <a:endParaRPr lang="pl-PL" sz="1200" dirty="0"/>
          </a:p>
        </p:txBody>
      </p:sp>
      <p:sp>
        <p:nvSpPr>
          <p:cNvPr id="148" name="Terminator 147">
            <a:extLst>
              <a:ext uri="{FF2B5EF4-FFF2-40B4-BE49-F238E27FC236}">
                <a16:creationId xmlns:a16="http://schemas.microsoft.com/office/drawing/2014/main" id="{CA49B599-3335-C7D1-018E-828DEE5C942C}"/>
              </a:ext>
            </a:extLst>
          </p:cNvPr>
          <p:cNvSpPr/>
          <p:nvPr/>
        </p:nvSpPr>
        <p:spPr>
          <a:xfrm>
            <a:off x="2872893" y="7669993"/>
            <a:ext cx="914400" cy="30175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Koniec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FAD513E5-8246-CA60-8347-4F19F5243029}"/>
              </a:ext>
            </a:extLst>
          </p:cNvPr>
          <p:cNvCxnSpPr>
            <a:stCxn id="147" idx="4"/>
            <a:endCxn id="148" idx="0"/>
          </p:cNvCxnSpPr>
          <p:nvPr/>
        </p:nvCxnSpPr>
        <p:spPr>
          <a:xfrm>
            <a:off x="3330093" y="7429099"/>
            <a:ext cx="0" cy="2408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52" name="Elbow Connector 151">
            <a:extLst>
              <a:ext uri="{FF2B5EF4-FFF2-40B4-BE49-F238E27FC236}">
                <a16:creationId xmlns:a16="http://schemas.microsoft.com/office/drawing/2014/main" id="{1F5C7BE9-3A66-263F-B490-5AF60809BF61}"/>
              </a:ext>
            </a:extLst>
          </p:cNvPr>
          <p:cNvCxnSpPr>
            <a:endCxn id="147" idx="1"/>
          </p:cNvCxnSpPr>
          <p:nvPr/>
        </p:nvCxnSpPr>
        <p:spPr>
          <a:xfrm rot="10800000" flipV="1">
            <a:off x="3330093" y="6503830"/>
            <a:ext cx="3136240" cy="50368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A2164A52-8C0A-9ED7-BEF4-8E250AC9E8B4}"/>
              </a:ext>
            </a:extLst>
          </p:cNvPr>
          <p:cNvSpPr txBox="1"/>
          <p:nvPr/>
        </p:nvSpPr>
        <p:spPr>
          <a:xfrm>
            <a:off x="5976727" y="6130270"/>
            <a:ext cx="487634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</p:spTree>
    <p:extLst>
      <p:ext uri="{BB962C8B-B14F-4D97-AF65-F5344CB8AC3E}">
        <p14:creationId xmlns:p14="http://schemas.microsoft.com/office/powerpoint/2010/main" val="4004526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1214</TotalTime>
  <Words>781</Words>
  <Application>Microsoft Macintosh PowerPoint</Application>
  <PresentationFormat>Custom</PresentationFormat>
  <Paragraphs>129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6</cp:revision>
  <dcterms:created xsi:type="dcterms:W3CDTF">2025-11-05T22:03:03Z</dcterms:created>
  <dcterms:modified xsi:type="dcterms:W3CDTF">2025-11-07T17:49:19Z</dcterms:modified>
</cp:coreProperties>
</file>