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1"/>
  </p:sldMasterIdLst>
  <p:sldIdLst>
    <p:sldId id="257" r:id="rId2"/>
    <p:sldId id="258" r:id="rId3"/>
    <p:sldId id="259" r:id="rId4"/>
  </p:sldIdLst>
  <p:sldSz cx="9144000" cy="109728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038"/>
    <p:restoredTop sz="94648"/>
  </p:normalViewPr>
  <p:slideViewPr>
    <p:cSldViewPr snapToGrid="0">
      <p:cViewPr varScale="1">
        <p:scale>
          <a:sx n="118" d="100"/>
          <a:sy n="118" d="100"/>
        </p:scale>
        <p:origin x="4720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795781"/>
            <a:ext cx="7772400" cy="382016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5763261"/>
            <a:ext cx="6858000" cy="2649219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20D1FC-2253-9541-B174-ECE369BAD33E}" type="datetimeFigureOut">
              <a:rPr lang="pl-PL" smtClean="0"/>
              <a:t>2.01.2026</a:t>
            </a:fld>
            <a:endParaRPr lang="pl-P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3955-F6F9-134B-AEA3-F38AFE876402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1943921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20D1FC-2253-9541-B174-ECE369BAD33E}" type="datetimeFigureOut">
              <a:rPr lang="pl-PL" smtClean="0"/>
              <a:t>2.01.2026</a:t>
            </a:fld>
            <a:endParaRPr lang="pl-P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3955-F6F9-134B-AEA3-F38AFE876402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541306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2735583"/>
            <a:ext cx="7886700" cy="4564379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7343143"/>
            <a:ext cx="7886700" cy="2400299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20D1FC-2253-9541-B174-ECE369BAD33E}" type="datetimeFigureOut">
              <a:rPr lang="pl-PL" smtClean="0"/>
              <a:t>2.01.2026</a:t>
            </a:fld>
            <a:endParaRPr lang="pl-P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3955-F6F9-134B-AEA3-F38AFE876402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33329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2921000"/>
            <a:ext cx="3886200" cy="69621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2921000"/>
            <a:ext cx="3886200" cy="69621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20D1FC-2253-9541-B174-ECE369BAD33E}" type="datetimeFigureOut">
              <a:rPr lang="pl-PL" smtClean="0"/>
              <a:t>2.01.2026</a:t>
            </a:fld>
            <a:endParaRPr lang="pl-P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3955-F6F9-134B-AEA3-F38AFE876402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5249158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584202"/>
            <a:ext cx="7886700" cy="212090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2689861"/>
            <a:ext cx="3868340" cy="1318259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4008120"/>
            <a:ext cx="3868340" cy="58953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1" y="2689861"/>
            <a:ext cx="3887391" cy="1318259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1" y="4008120"/>
            <a:ext cx="3887391" cy="58953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20D1FC-2253-9541-B174-ECE369BAD33E}" type="datetimeFigureOut">
              <a:rPr lang="pl-PL" smtClean="0"/>
              <a:t>2.01.2026</a:t>
            </a:fld>
            <a:endParaRPr lang="pl-P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3955-F6F9-134B-AEA3-F38AFE876402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41103843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20D1FC-2253-9541-B174-ECE369BAD33E}" type="datetimeFigureOut">
              <a:rPr lang="pl-PL" smtClean="0"/>
              <a:t>2.01.2026</a:t>
            </a:fld>
            <a:endParaRPr lang="pl-P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3955-F6F9-134B-AEA3-F38AFE876402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7925845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20D1FC-2253-9541-B174-ECE369BAD33E}" type="datetimeFigureOut">
              <a:rPr lang="pl-PL" smtClean="0"/>
              <a:t>2.01.2026</a:t>
            </a:fld>
            <a:endParaRPr lang="pl-P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3955-F6F9-134B-AEA3-F38AFE876402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7482937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731520"/>
            <a:ext cx="2949178" cy="256032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1579882"/>
            <a:ext cx="4629150" cy="77978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3291840"/>
            <a:ext cx="2949178" cy="6098541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20D1FC-2253-9541-B174-ECE369BAD33E}" type="datetimeFigureOut">
              <a:rPr lang="pl-PL" smtClean="0"/>
              <a:t>2.01.2026</a:t>
            </a:fld>
            <a:endParaRPr lang="pl-P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3955-F6F9-134B-AEA3-F38AFE876402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2882996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731520"/>
            <a:ext cx="2949178" cy="256032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1579882"/>
            <a:ext cx="4629150" cy="7797800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3291840"/>
            <a:ext cx="2949178" cy="6098541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20D1FC-2253-9541-B174-ECE369BAD33E}" type="datetimeFigureOut">
              <a:rPr lang="pl-PL" smtClean="0"/>
              <a:t>2.01.2026</a:t>
            </a:fld>
            <a:endParaRPr lang="pl-P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3955-F6F9-134B-AEA3-F38AFE876402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5130501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20D1FC-2253-9541-B174-ECE369BAD33E}" type="datetimeFigureOut">
              <a:rPr lang="pl-PL" smtClean="0"/>
              <a:t>2.01.2026</a:t>
            </a:fld>
            <a:endParaRPr lang="pl-P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3955-F6F9-134B-AEA3-F38AFE876402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6486644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6" y="584200"/>
            <a:ext cx="1971675" cy="929894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1" y="584200"/>
            <a:ext cx="5800725" cy="929894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20D1FC-2253-9541-B174-ECE369BAD33E}" type="datetimeFigureOut">
              <a:rPr lang="pl-PL" smtClean="0"/>
              <a:t>2.01.2026</a:t>
            </a:fld>
            <a:endParaRPr lang="pl-P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3955-F6F9-134B-AEA3-F38AFE876402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4853244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584202"/>
            <a:ext cx="7886700" cy="21209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2921000"/>
            <a:ext cx="7886700" cy="696214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10170162"/>
            <a:ext cx="2057400" cy="5842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620D1FC-2253-9541-B174-ECE369BAD33E}" type="datetimeFigureOut">
              <a:rPr lang="pl-PL" smtClean="0"/>
              <a:t>2.01.2026</a:t>
            </a:fld>
            <a:endParaRPr lang="pl-P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10170162"/>
            <a:ext cx="3086100" cy="5842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l-P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10170162"/>
            <a:ext cx="2057400" cy="5842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3B83955-F6F9-134B-AEA3-F38AFE876402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9415111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C41727B-FEF8-44B3-37B7-3FF4765D230B}"/>
              </a:ext>
            </a:extLst>
          </p:cNvPr>
          <p:cNvSpPr txBox="1"/>
          <p:nvPr/>
        </p:nvSpPr>
        <p:spPr>
          <a:xfrm>
            <a:off x="420571" y="471043"/>
            <a:ext cx="2077620" cy="34624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l-PL" sz="165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Zadanie 3.1. Kolejka.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A008E97-840D-F703-3F7B-50A11CE6F3E5}"/>
              </a:ext>
            </a:extLst>
          </p:cNvPr>
          <p:cNvSpPr txBox="1"/>
          <p:nvPr/>
        </p:nvSpPr>
        <p:spPr>
          <a:xfrm>
            <a:off x="420573" y="811313"/>
            <a:ext cx="5315751" cy="507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l-PL" sz="2700" dirty="0"/>
              <a:t>Dodawanie elementów (</a:t>
            </a:r>
            <a:r>
              <a:rPr lang="pl-PL" sz="2700" dirty="0" err="1"/>
              <a:t>enqueue</a:t>
            </a:r>
            <a:r>
              <a:rPr lang="pl-PL" sz="2700" dirty="0"/>
              <a:t>).</a:t>
            </a:r>
          </a:p>
        </p:txBody>
      </p:sp>
      <p:sp>
        <p:nvSpPr>
          <p:cNvPr id="6" name="Terminator 5">
            <a:extLst>
              <a:ext uri="{FF2B5EF4-FFF2-40B4-BE49-F238E27FC236}">
                <a16:creationId xmlns:a16="http://schemas.microsoft.com/office/drawing/2014/main" id="{E402C046-98F0-65EE-8D76-B5C679C100EC}"/>
              </a:ext>
            </a:extLst>
          </p:cNvPr>
          <p:cNvSpPr/>
          <p:nvPr/>
        </p:nvSpPr>
        <p:spPr>
          <a:xfrm>
            <a:off x="3153308" y="4678246"/>
            <a:ext cx="685800" cy="226314"/>
          </a:xfrm>
          <a:prstGeom prst="flowChartTerminator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/>
              <a:t>Start</a:t>
            </a:r>
          </a:p>
        </p:txBody>
      </p:sp>
      <p:sp>
        <p:nvSpPr>
          <p:cNvPr id="7" name="Data 6">
            <a:extLst>
              <a:ext uri="{FF2B5EF4-FFF2-40B4-BE49-F238E27FC236}">
                <a16:creationId xmlns:a16="http://schemas.microsoft.com/office/drawing/2014/main" id="{B8A4C49B-7550-489B-FB16-6D52D32C7784}"/>
              </a:ext>
            </a:extLst>
          </p:cNvPr>
          <p:cNvSpPr/>
          <p:nvPr/>
        </p:nvSpPr>
        <p:spPr>
          <a:xfrm>
            <a:off x="2351056" y="5115914"/>
            <a:ext cx="2290304" cy="248945"/>
          </a:xfrm>
          <a:prstGeom prst="flowChartInputOutpu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 err="1"/>
              <a:t>Wczytaj</a:t>
            </a:r>
            <a:r>
              <a:rPr lang="en-US" sz="900" dirty="0"/>
              <a:t> </a:t>
            </a:r>
            <a:r>
              <a:rPr lang="en-US" sz="900" i="1" dirty="0"/>
              <a:t>value</a:t>
            </a:r>
            <a:r>
              <a:rPr lang="en-US" sz="900" dirty="0"/>
              <a:t>.</a:t>
            </a:r>
            <a:endParaRPr lang="en-US" sz="900" i="1" dirty="0"/>
          </a:p>
        </p:txBody>
      </p:sp>
      <p:sp>
        <p:nvSpPr>
          <p:cNvPr id="11" name="Process 10">
            <a:extLst>
              <a:ext uri="{FF2B5EF4-FFF2-40B4-BE49-F238E27FC236}">
                <a16:creationId xmlns:a16="http://schemas.microsoft.com/office/drawing/2014/main" id="{857AD6E5-352F-8CCC-60B3-468DFF87EDD0}"/>
              </a:ext>
            </a:extLst>
          </p:cNvPr>
          <p:cNvSpPr/>
          <p:nvPr/>
        </p:nvSpPr>
        <p:spPr>
          <a:xfrm>
            <a:off x="3989450" y="6112863"/>
            <a:ext cx="2557447" cy="472122"/>
          </a:xfrm>
          <a:prstGeom prst="flowChart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l-PL" sz="900" i="1" dirty="0" err="1"/>
              <a:t>insert_index</a:t>
            </a:r>
            <a:r>
              <a:rPr lang="pl-PL" sz="900" i="1" dirty="0"/>
              <a:t> </a:t>
            </a:r>
            <a:r>
              <a:rPr lang="pl-PL" sz="900" dirty="0"/>
              <a:t>← (</a:t>
            </a:r>
            <a:r>
              <a:rPr lang="pl-PL" sz="900" i="1" dirty="0" err="1"/>
              <a:t>start_index</a:t>
            </a:r>
            <a:r>
              <a:rPr lang="pl-PL" sz="900" dirty="0"/>
              <a:t> + </a:t>
            </a:r>
            <a:r>
              <a:rPr lang="pl-PL" sz="900" i="1" dirty="0" err="1"/>
              <a:t>size</a:t>
            </a:r>
            <a:r>
              <a:rPr lang="pl-PL" sz="900" dirty="0"/>
              <a:t>) </a:t>
            </a:r>
            <a:r>
              <a:rPr lang="pl-PL" sz="900" dirty="0" err="1"/>
              <a:t>mod</a:t>
            </a:r>
            <a:r>
              <a:rPr lang="pl-PL" sz="900" dirty="0"/>
              <a:t> </a:t>
            </a:r>
            <a:r>
              <a:rPr lang="pl-PL" sz="900" i="1" dirty="0" err="1"/>
              <a:t>capacity</a:t>
            </a:r>
            <a:endParaRPr lang="pl-PL" sz="900" i="1" dirty="0"/>
          </a:p>
          <a:p>
            <a:pPr algn="ctr"/>
            <a:r>
              <a:rPr lang="pl-PL" sz="900" i="1" dirty="0" err="1"/>
              <a:t>buffer</a:t>
            </a:r>
            <a:r>
              <a:rPr lang="pl-PL" sz="900" dirty="0"/>
              <a:t>[</a:t>
            </a:r>
            <a:r>
              <a:rPr lang="pl-PL" sz="900" i="1" dirty="0" err="1"/>
              <a:t>insert_index</a:t>
            </a:r>
            <a:r>
              <a:rPr lang="pl-PL" sz="900" dirty="0"/>
              <a:t>] ← </a:t>
            </a:r>
            <a:r>
              <a:rPr lang="pl-PL" sz="900" i="1" dirty="0" err="1"/>
              <a:t>value</a:t>
            </a:r>
            <a:endParaRPr lang="pl-PL" sz="900" i="1" dirty="0"/>
          </a:p>
          <a:p>
            <a:pPr algn="ctr"/>
            <a:r>
              <a:rPr lang="pl-PL" sz="900" i="1" dirty="0" err="1"/>
              <a:t>size</a:t>
            </a:r>
            <a:r>
              <a:rPr lang="pl-PL" sz="900" i="1" dirty="0"/>
              <a:t> </a:t>
            </a:r>
            <a:r>
              <a:rPr lang="pl-PL" sz="900" dirty="0"/>
              <a:t>← </a:t>
            </a:r>
            <a:r>
              <a:rPr lang="pl-PL" sz="900" i="1" dirty="0" err="1"/>
              <a:t>size</a:t>
            </a:r>
            <a:r>
              <a:rPr lang="pl-PL" sz="900" dirty="0"/>
              <a:t> + 1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970E347-3C11-0BA0-97F6-147FD32411B0}"/>
              </a:ext>
            </a:extLst>
          </p:cNvPr>
          <p:cNvSpPr/>
          <p:nvPr/>
        </p:nvSpPr>
        <p:spPr>
          <a:xfrm>
            <a:off x="420569" y="1568090"/>
            <a:ext cx="6503605" cy="258567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pl-PL" sz="1400" dirty="0">
                <a:solidFill>
                  <a:schemeClr val="accent2"/>
                </a:solidFill>
              </a:rPr>
              <a:t>Uwaga</a:t>
            </a:r>
          </a:p>
          <a:p>
            <a:r>
              <a:rPr lang="pl-PL" dirty="0"/>
              <a:t>Struktura danych została zaimplementowana z wykorzystaniem bufora cyklicznego (jak na wykładzie).</a:t>
            </a:r>
          </a:p>
          <a:p>
            <a:endParaRPr lang="pl-PL" dirty="0"/>
          </a:p>
          <a:p>
            <a:r>
              <a:rPr lang="pl-PL" dirty="0"/>
              <a:t>Klasa ją implementująca zawiera następujące pola:</a:t>
            </a:r>
            <a:br>
              <a:rPr lang="pl-PL" dirty="0"/>
            </a:br>
            <a:r>
              <a:rPr lang="pl-PL" i="1" dirty="0" err="1"/>
              <a:t>size</a:t>
            </a:r>
            <a:r>
              <a:rPr lang="pl-PL" dirty="0"/>
              <a:t> – ilość elementów,</a:t>
            </a:r>
          </a:p>
          <a:p>
            <a:r>
              <a:rPr lang="pl-PL" i="1" dirty="0" err="1"/>
              <a:t>capacity</a:t>
            </a:r>
            <a:r>
              <a:rPr lang="pl-PL" dirty="0"/>
              <a:t> – maksymalna pojemność,</a:t>
            </a:r>
          </a:p>
          <a:p>
            <a:r>
              <a:rPr lang="pl-PL" i="1" dirty="0" err="1"/>
              <a:t>buffer</a:t>
            </a:r>
            <a:r>
              <a:rPr lang="pl-PL" dirty="0"/>
              <a:t> – tablica rozmiaru </a:t>
            </a:r>
            <a:r>
              <a:rPr lang="pl-PL" i="1" dirty="0" err="1"/>
              <a:t>capacity</a:t>
            </a:r>
            <a:r>
              <a:rPr lang="pl-PL" dirty="0"/>
              <a:t>,</a:t>
            </a:r>
            <a:endParaRPr lang="pl-PL" i="1" dirty="0"/>
          </a:p>
          <a:p>
            <a:r>
              <a:rPr lang="pl-PL" i="1" dirty="0" err="1"/>
              <a:t>start_index</a:t>
            </a:r>
            <a:r>
              <a:rPr lang="pl-PL" dirty="0"/>
              <a:t> – pozycja na której zaczynają się wartości w buforze.</a:t>
            </a:r>
          </a:p>
        </p:txBody>
      </p:sp>
      <p:sp>
        <p:nvSpPr>
          <p:cNvPr id="3" name="Decision 2">
            <a:extLst>
              <a:ext uri="{FF2B5EF4-FFF2-40B4-BE49-F238E27FC236}">
                <a16:creationId xmlns:a16="http://schemas.microsoft.com/office/drawing/2014/main" id="{76C92572-49D9-695C-8EB7-A233D22C1643}"/>
              </a:ext>
            </a:extLst>
          </p:cNvPr>
          <p:cNvSpPr/>
          <p:nvPr/>
        </p:nvSpPr>
        <p:spPr>
          <a:xfrm>
            <a:off x="2679763" y="5576213"/>
            <a:ext cx="1632890" cy="325296"/>
          </a:xfrm>
          <a:prstGeom prst="flowChartDecision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pl-PL" sz="900" i="1" dirty="0" err="1"/>
              <a:t>size</a:t>
            </a:r>
            <a:r>
              <a:rPr lang="pl-PL" sz="900" dirty="0"/>
              <a:t> &lt; </a:t>
            </a:r>
            <a:r>
              <a:rPr lang="pl-PL" sz="900" i="1" dirty="0" err="1"/>
              <a:t>capacity</a:t>
            </a:r>
            <a:endParaRPr lang="pl-PL" sz="900" i="1" dirty="0"/>
          </a:p>
        </p:txBody>
      </p:sp>
      <p:sp>
        <p:nvSpPr>
          <p:cNvPr id="10" name="Data 9">
            <a:extLst>
              <a:ext uri="{FF2B5EF4-FFF2-40B4-BE49-F238E27FC236}">
                <a16:creationId xmlns:a16="http://schemas.microsoft.com/office/drawing/2014/main" id="{941B053F-ADF1-4D14-4E38-723B0E557676}"/>
              </a:ext>
            </a:extLst>
          </p:cNvPr>
          <p:cNvSpPr/>
          <p:nvPr/>
        </p:nvSpPr>
        <p:spPr>
          <a:xfrm>
            <a:off x="808401" y="6190667"/>
            <a:ext cx="2241152" cy="307777"/>
          </a:xfrm>
          <a:prstGeom prst="flowChartInputOutpu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 err="1"/>
              <a:t>Wypisz</a:t>
            </a:r>
            <a:r>
              <a:rPr lang="en-US" sz="900" dirty="0"/>
              <a:t> </a:t>
            </a:r>
            <a:r>
              <a:rPr lang="en-US" sz="900" dirty="0" err="1"/>
              <a:t>błąd</a:t>
            </a:r>
            <a:r>
              <a:rPr lang="en-US" sz="900" dirty="0"/>
              <a:t> o </a:t>
            </a:r>
            <a:r>
              <a:rPr lang="en-US" sz="900" dirty="0" err="1"/>
              <a:t>przepełnieniu</a:t>
            </a:r>
            <a:r>
              <a:rPr lang="en-US" sz="900" dirty="0"/>
              <a:t> </a:t>
            </a:r>
            <a:r>
              <a:rPr lang="en-US" sz="900" dirty="0" err="1"/>
              <a:t>bufora</a:t>
            </a:r>
            <a:r>
              <a:rPr lang="en-US" sz="900" dirty="0"/>
              <a:t>.</a:t>
            </a:r>
            <a:endParaRPr lang="en-US" sz="900" i="1" dirty="0"/>
          </a:p>
        </p:txBody>
      </p:sp>
      <p:sp>
        <p:nvSpPr>
          <p:cNvPr id="12" name="Terminator 11">
            <a:extLst>
              <a:ext uri="{FF2B5EF4-FFF2-40B4-BE49-F238E27FC236}">
                <a16:creationId xmlns:a16="http://schemas.microsoft.com/office/drawing/2014/main" id="{AC072F6A-A953-8511-E74F-55327FA2B930}"/>
              </a:ext>
            </a:extLst>
          </p:cNvPr>
          <p:cNvSpPr/>
          <p:nvPr/>
        </p:nvSpPr>
        <p:spPr>
          <a:xfrm>
            <a:off x="3153308" y="6796340"/>
            <a:ext cx="685800" cy="226314"/>
          </a:xfrm>
          <a:prstGeom prst="flowChartTerminator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/>
              <a:t>Stop</a:t>
            </a:r>
          </a:p>
        </p:txBody>
      </p:sp>
      <p:cxnSp>
        <p:nvCxnSpPr>
          <p:cNvPr id="14" name="Elbow Connector 13">
            <a:extLst>
              <a:ext uri="{FF2B5EF4-FFF2-40B4-BE49-F238E27FC236}">
                <a16:creationId xmlns:a16="http://schemas.microsoft.com/office/drawing/2014/main" id="{BF4274D8-4035-0C6D-69E3-F57164517EAC}"/>
              </a:ext>
            </a:extLst>
          </p:cNvPr>
          <p:cNvCxnSpPr>
            <a:stCxn id="3" idx="3"/>
            <a:endCxn id="11" idx="0"/>
          </p:cNvCxnSpPr>
          <p:nvPr/>
        </p:nvCxnSpPr>
        <p:spPr>
          <a:xfrm>
            <a:off x="4312653" y="5738861"/>
            <a:ext cx="955521" cy="37400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Elbow Connector 15">
            <a:extLst>
              <a:ext uri="{FF2B5EF4-FFF2-40B4-BE49-F238E27FC236}">
                <a16:creationId xmlns:a16="http://schemas.microsoft.com/office/drawing/2014/main" id="{B5E9A302-2AC5-BE79-8F5D-A68C97D197A6}"/>
              </a:ext>
            </a:extLst>
          </p:cNvPr>
          <p:cNvCxnSpPr>
            <a:stCxn id="3" idx="1"/>
            <a:endCxn id="10" idx="1"/>
          </p:cNvCxnSpPr>
          <p:nvPr/>
        </p:nvCxnSpPr>
        <p:spPr>
          <a:xfrm rot="10800000" flipV="1">
            <a:off x="1928977" y="5738861"/>
            <a:ext cx="750786" cy="451806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70812014-45F8-CB1B-AED8-FD42C0DC64F8}"/>
              </a:ext>
            </a:extLst>
          </p:cNvPr>
          <p:cNvCxnSpPr>
            <a:stCxn id="7" idx="4"/>
            <a:endCxn id="3" idx="0"/>
          </p:cNvCxnSpPr>
          <p:nvPr/>
        </p:nvCxnSpPr>
        <p:spPr>
          <a:xfrm>
            <a:off x="3496208" y="5364859"/>
            <a:ext cx="0" cy="21135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31256BDB-D9E9-8D39-B0B7-049772DCF42A}"/>
              </a:ext>
            </a:extLst>
          </p:cNvPr>
          <p:cNvCxnSpPr>
            <a:stCxn id="6" idx="2"/>
            <a:endCxn id="7" idx="1"/>
          </p:cNvCxnSpPr>
          <p:nvPr/>
        </p:nvCxnSpPr>
        <p:spPr>
          <a:xfrm>
            <a:off x="3496208" y="4904560"/>
            <a:ext cx="0" cy="21135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Elbow Connector 21">
            <a:extLst>
              <a:ext uri="{FF2B5EF4-FFF2-40B4-BE49-F238E27FC236}">
                <a16:creationId xmlns:a16="http://schemas.microsoft.com/office/drawing/2014/main" id="{F99DCDD4-7423-55B5-6EDD-CD393EC9319E}"/>
              </a:ext>
            </a:extLst>
          </p:cNvPr>
          <p:cNvCxnSpPr>
            <a:stCxn id="10" idx="4"/>
            <a:endCxn id="12" idx="0"/>
          </p:cNvCxnSpPr>
          <p:nvPr/>
        </p:nvCxnSpPr>
        <p:spPr>
          <a:xfrm rot="16200000" flipH="1">
            <a:off x="2563644" y="5863776"/>
            <a:ext cx="297896" cy="1567231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Elbow Connector 23">
            <a:extLst>
              <a:ext uri="{FF2B5EF4-FFF2-40B4-BE49-F238E27FC236}">
                <a16:creationId xmlns:a16="http://schemas.microsoft.com/office/drawing/2014/main" id="{157ADF5C-ECB8-ED43-0576-35677C2CD17D}"/>
              </a:ext>
            </a:extLst>
          </p:cNvPr>
          <p:cNvCxnSpPr>
            <a:stCxn id="11" idx="2"/>
            <a:endCxn id="12" idx="0"/>
          </p:cNvCxnSpPr>
          <p:nvPr/>
        </p:nvCxnSpPr>
        <p:spPr>
          <a:xfrm rot="5400000">
            <a:off x="4276514" y="5804679"/>
            <a:ext cx="211355" cy="1771966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B7CF9373-2BCB-5FE7-B0D0-E9C6B82DD15E}"/>
              </a:ext>
            </a:extLst>
          </p:cNvPr>
          <p:cNvSpPr txBox="1"/>
          <p:nvPr/>
        </p:nvSpPr>
        <p:spPr>
          <a:xfrm>
            <a:off x="2304370" y="5470536"/>
            <a:ext cx="4797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1400" dirty="0"/>
              <a:t>nie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8EF6E33-0998-92A8-01EB-A52ECAC39F52}"/>
              </a:ext>
            </a:extLst>
          </p:cNvPr>
          <p:cNvSpPr txBox="1"/>
          <p:nvPr/>
        </p:nvSpPr>
        <p:spPr>
          <a:xfrm>
            <a:off x="4310700" y="5464197"/>
            <a:ext cx="4797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1400" dirty="0"/>
              <a:t>tak</a:t>
            </a:r>
          </a:p>
        </p:txBody>
      </p:sp>
    </p:spTree>
    <p:extLst>
      <p:ext uri="{BB962C8B-B14F-4D97-AF65-F5344CB8AC3E}">
        <p14:creationId xmlns:p14="http://schemas.microsoft.com/office/powerpoint/2010/main" val="9775083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9CCD02-4464-3CEE-22F4-A9894B756F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1520552-6347-0DFA-3A80-E779687C0CF7}"/>
              </a:ext>
            </a:extLst>
          </p:cNvPr>
          <p:cNvSpPr txBox="1"/>
          <p:nvPr/>
        </p:nvSpPr>
        <p:spPr>
          <a:xfrm>
            <a:off x="420571" y="471043"/>
            <a:ext cx="2077620" cy="34624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l-PL" sz="165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Zadanie 3.1. Kolejka.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8D24DF5-855F-2BB2-F2F0-8A86F0EA7AD8}"/>
              </a:ext>
            </a:extLst>
          </p:cNvPr>
          <p:cNvSpPr txBox="1"/>
          <p:nvPr/>
        </p:nvSpPr>
        <p:spPr>
          <a:xfrm>
            <a:off x="420573" y="811313"/>
            <a:ext cx="5110566" cy="507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l-PL" sz="2700" dirty="0"/>
              <a:t>Usuwanie elementów (</a:t>
            </a:r>
            <a:r>
              <a:rPr lang="pl-PL" sz="2700" dirty="0" err="1"/>
              <a:t>dequeue</a:t>
            </a:r>
            <a:r>
              <a:rPr lang="pl-PL" sz="2700" dirty="0"/>
              <a:t>).</a:t>
            </a:r>
          </a:p>
        </p:txBody>
      </p:sp>
      <p:sp>
        <p:nvSpPr>
          <p:cNvPr id="6" name="Terminator 5">
            <a:extLst>
              <a:ext uri="{FF2B5EF4-FFF2-40B4-BE49-F238E27FC236}">
                <a16:creationId xmlns:a16="http://schemas.microsoft.com/office/drawing/2014/main" id="{6D212BDD-EF80-7BCC-D633-95A686A0432F}"/>
              </a:ext>
            </a:extLst>
          </p:cNvPr>
          <p:cNvSpPr/>
          <p:nvPr/>
        </p:nvSpPr>
        <p:spPr>
          <a:xfrm>
            <a:off x="3153308" y="4678246"/>
            <a:ext cx="685800" cy="226314"/>
          </a:xfrm>
          <a:prstGeom prst="flowChartTerminator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/>
              <a:t>Start</a:t>
            </a:r>
          </a:p>
        </p:txBody>
      </p:sp>
      <p:sp>
        <p:nvSpPr>
          <p:cNvPr id="11" name="Process 10">
            <a:extLst>
              <a:ext uri="{FF2B5EF4-FFF2-40B4-BE49-F238E27FC236}">
                <a16:creationId xmlns:a16="http://schemas.microsoft.com/office/drawing/2014/main" id="{3D2F5A87-F813-93AC-D7B8-D8B078A535C2}"/>
              </a:ext>
            </a:extLst>
          </p:cNvPr>
          <p:cNvSpPr/>
          <p:nvPr/>
        </p:nvSpPr>
        <p:spPr>
          <a:xfrm>
            <a:off x="3989450" y="5640398"/>
            <a:ext cx="2557447" cy="451806"/>
          </a:xfrm>
          <a:prstGeom prst="flowChart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l-PL" sz="900" i="1" dirty="0" err="1"/>
              <a:t>dequeued_value</a:t>
            </a:r>
            <a:r>
              <a:rPr lang="pl-PL" sz="900" dirty="0"/>
              <a:t> ← </a:t>
            </a:r>
            <a:r>
              <a:rPr lang="pl-PL" sz="900" i="1" dirty="0" err="1"/>
              <a:t>buffer</a:t>
            </a:r>
            <a:r>
              <a:rPr lang="pl-PL" sz="900" dirty="0"/>
              <a:t>[</a:t>
            </a:r>
            <a:r>
              <a:rPr lang="pl-PL" sz="900" i="1" dirty="0" err="1"/>
              <a:t>start_index</a:t>
            </a:r>
            <a:r>
              <a:rPr lang="pl-PL" sz="900" dirty="0"/>
              <a:t>]</a:t>
            </a:r>
          </a:p>
          <a:p>
            <a:pPr algn="ctr"/>
            <a:r>
              <a:rPr lang="pl-PL" sz="900" i="1" dirty="0" err="1"/>
              <a:t>start_index</a:t>
            </a:r>
            <a:r>
              <a:rPr lang="pl-PL" sz="900" dirty="0"/>
              <a:t> ← (</a:t>
            </a:r>
            <a:r>
              <a:rPr lang="pl-PL" sz="900" i="1" dirty="0" err="1"/>
              <a:t>start_index</a:t>
            </a:r>
            <a:r>
              <a:rPr lang="pl-PL" sz="900" dirty="0"/>
              <a:t> + 1) </a:t>
            </a:r>
            <a:r>
              <a:rPr lang="pl-PL" sz="900" dirty="0" err="1"/>
              <a:t>mod</a:t>
            </a:r>
            <a:r>
              <a:rPr lang="pl-PL" sz="900" dirty="0"/>
              <a:t> </a:t>
            </a:r>
            <a:r>
              <a:rPr lang="pl-PL" sz="900" i="1" dirty="0" err="1"/>
              <a:t>capacity</a:t>
            </a:r>
            <a:endParaRPr lang="pl-PL" sz="900" i="1" dirty="0"/>
          </a:p>
          <a:p>
            <a:pPr algn="ctr"/>
            <a:r>
              <a:rPr lang="pl-PL" sz="900" i="1" dirty="0" err="1"/>
              <a:t>size</a:t>
            </a:r>
            <a:r>
              <a:rPr lang="pl-PL" sz="900" i="1" dirty="0"/>
              <a:t> </a:t>
            </a:r>
            <a:r>
              <a:rPr lang="pl-PL" sz="900" dirty="0"/>
              <a:t>← </a:t>
            </a:r>
            <a:r>
              <a:rPr lang="pl-PL" sz="900" i="1" dirty="0" err="1"/>
              <a:t>size</a:t>
            </a:r>
            <a:r>
              <a:rPr lang="pl-PL" sz="900" dirty="0"/>
              <a:t> - 1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D044EAA-E0D5-13A6-3A70-68598931D099}"/>
              </a:ext>
            </a:extLst>
          </p:cNvPr>
          <p:cNvSpPr/>
          <p:nvPr/>
        </p:nvSpPr>
        <p:spPr>
          <a:xfrm>
            <a:off x="420569" y="1568090"/>
            <a:ext cx="6503605" cy="258567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pl-PL" sz="1400" dirty="0">
                <a:solidFill>
                  <a:schemeClr val="accent2"/>
                </a:solidFill>
              </a:rPr>
              <a:t>Uwaga</a:t>
            </a:r>
          </a:p>
          <a:p>
            <a:r>
              <a:rPr lang="pl-PL" dirty="0"/>
              <a:t>Struktura danych została zaimplementowana z wykorzystaniem bufora cyklicznego (jak na wykładzie).</a:t>
            </a:r>
          </a:p>
          <a:p>
            <a:endParaRPr lang="pl-PL" dirty="0"/>
          </a:p>
          <a:p>
            <a:r>
              <a:rPr lang="pl-PL" dirty="0"/>
              <a:t>Klasa ją implementująca zawiera następujące pola:</a:t>
            </a:r>
            <a:br>
              <a:rPr lang="pl-PL" dirty="0"/>
            </a:br>
            <a:r>
              <a:rPr lang="pl-PL" i="1" dirty="0" err="1"/>
              <a:t>size</a:t>
            </a:r>
            <a:r>
              <a:rPr lang="pl-PL" dirty="0"/>
              <a:t> – ilość elementów,</a:t>
            </a:r>
          </a:p>
          <a:p>
            <a:r>
              <a:rPr lang="pl-PL" i="1" dirty="0" err="1"/>
              <a:t>capacity</a:t>
            </a:r>
            <a:r>
              <a:rPr lang="pl-PL" dirty="0"/>
              <a:t> – maksymalna pojemność,</a:t>
            </a:r>
          </a:p>
          <a:p>
            <a:r>
              <a:rPr lang="pl-PL" i="1" dirty="0" err="1"/>
              <a:t>buffer</a:t>
            </a:r>
            <a:r>
              <a:rPr lang="pl-PL" dirty="0"/>
              <a:t> – tablica rozmiaru </a:t>
            </a:r>
            <a:r>
              <a:rPr lang="pl-PL" i="1" dirty="0" err="1"/>
              <a:t>capacity</a:t>
            </a:r>
            <a:r>
              <a:rPr lang="pl-PL" dirty="0"/>
              <a:t>,</a:t>
            </a:r>
            <a:endParaRPr lang="pl-PL" i="1" dirty="0"/>
          </a:p>
          <a:p>
            <a:r>
              <a:rPr lang="pl-PL" i="1" dirty="0" err="1"/>
              <a:t>start_index</a:t>
            </a:r>
            <a:r>
              <a:rPr lang="pl-PL" dirty="0"/>
              <a:t> – pozycja na której zaczynają się wartości w buforze.</a:t>
            </a:r>
          </a:p>
        </p:txBody>
      </p:sp>
      <p:sp>
        <p:nvSpPr>
          <p:cNvPr id="3" name="Decision 2">
            <a:extLst>
              <a:ext uri="{FF2B5EF4-FFF2-40B4-BE49-F238E27FC236}">
                <a16:creationId xmlns:a16="http://schemas.microsoft.com/office/drawing/2014/main" id="{24D6430B-B4E1-867B-412C-C0FBC1794C8D}"/>
              </a:ext>
            </a:extLst>
          </p:cNvPr>
          <p:cNvSpPr/>
          <p:nvPr/>
        </p:nvSpPr>
        <p:spPr>
          <a:xfrm>
            <a:off x="2679763" y="5103748"/>
            <a:ext cx="1632890" cy="325296"/>
          </a:xfrm>
          <a:prstGeom prst="flowChartDecision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pl-PL" sz="900" i="1" dirty="0" err="1"/>
              <a:t>size</a:t>
            </a:r>
            <a:r>
              <a:rPr lang="pl-PL" sz="900" dirty="0"/>
              <a:t> &gt;= 1</a:t>
            </a:r>
            <a:endParaRPr lang="pl-PL" sz="900" i="1" dirty="0"/>
          </a:p>
        </p:txBody>
      </p:sp>
      <p:sp>
        <p:nvSpPr>
          <p:cNvPr id="10" name="Data 9">
            <a:extLst>
              <a:ext uri="{FF2B5EF4-FFF2-40B4-BE49-F238E27FC236}">
                <a16:creationId xmlns:a16="http://schemas.microsoft.com/office/drawing/2014/main" id="{88C3AC21-F925-1C81-C1DE-E27D8F96A42F}"/>
              </a:ext>
            </a:extLst>
          </p:cNvPr>
          <p:cNvSpPr/>
          <p:nvPr/>
        </p:nvSpPr>
        <p:spPr>
          <a:xfrm>
            <a:off x="808401" y="5938315"/>
            <a:ext cx="2241152" cy="307777"/>
          </a:xfrm>
          <a:prstGeom prst="flowChartInputOutpu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 err="1"/>
              <a:t>Wypisz</a:t>
            </a:r>
            <a:r>
              <a:rPr lang="en-US" sz="900" dirty="0"/>
              <a:t> </a:t>
            </a:r>
            <a:r>
              <a:rPr lang="en-US" sz="900" dirty="0" err="1"/>
              <a:t>błąd</a:t>
            </a:r>
            <a:endParaRPr lang="en-US" sz="900" dirty="0"/>
          </a:p>
          <a:p>
            <a:pPr algn="ctr"/>
            <a:r>
              <a:rPr lang="en-US" sz="900" dirty="0"/>
              <a:t>o </a:t>
            </a:r>
            <a:r>
              <a:rPr lang="en-US" sz="900" dirty="0" err="1"/>
              <a:t>pustej</a:t>
            </a:r>
            <a:r>
              <a:rPr lang="en-US" sz="900" dirty="0"/>
              <a:t> </a:t>
            </a:r>
            <a:r>
              <a:rPr lang="en-US" sz="900" dirty="0" err="1"/>
              <a:t>kolejce</a:t>
            </a:r>
            <a:r>
              <a:rPr lang="en-US" sz="900" dirty="0"/>
              <a:t>.</a:t>
            </a:r>
            <a:endParaRPr lang="en-US" sz="900" i="1" dirty="0"/>
          </a:p>
        </p:txBody>
      </p:sp>
      <p:sp>
        <p:nvSpPr>
          <p:cNvPr id="12" name="Terminator 11">
            <a:extLst>
              <a:ext uri="{FF2B5EF4-FFF2-40B4-BE49-F238E27FC236}">
                <a16:creationId xmlns:a16="http://schemas.microsoft.com/office/drawing/2014/main" id="{6C3604A1-531C-CAC9-D06D-1B12D941898B}"/>
              </a:ext>
            </a:extLst>
          </p:cNvPr>
          <p:cNvSpPr/>
          <p:nvPr/>
        </p:nvSpPr>
        <p:spPr>
          <a:xfrm>
            <a:off x="3303650" y="7105271"/>
            <a:ext cx="685800" cy="226314"/>
          </a:xfrm>
          <a:prstGeom prst="flowChartTerminator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/>
              <a:t>Stop</a:t>
            </a:r>
          </a:p>
        </p:txBody>
      </p:sp>
      <p:cxnSp>
        <p:nvCxnSpPr>
          <p:cNvPr id="14" name="Elbow Connector 13">
            <a:extLst>
              <a:ext uri="{FF2B5EF4-FFF2-40B4-BE49-F238E27FC236}">
                <a16:creationId xmlns:a16="http://schemas.microsoft.com/office/drawing/2014/main" id="{C6413533-70D3-75B5-2C93-CDE8D1BFA2C2}"/>
              </a:ext>
            </a:extLst>
          </p:cNvPr>
          <p:cNvCxnSpPr>
            <a:cxnSpLocks/>
            <a:stCxn id="3" idx="3"/>
            <a:endCxn id="11" idx="0"/>
          </p:cNvCxnSpPr>
          <p:nvPr/>
        </p:nvCxnSpPr>
        <p:spPr>
          <a:xfrm>
            <a:off x="4312653" y="5266396"/>
            <a:ext cx="955521" cy="37400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Elbow Connector 15">
            <a:extLst>
              <a:ext uri="{FF2B5EF4-FFF2-40B4-BE49-F238E27FC236}">
                <a16:creationId xmlns:a16="http://schemas.microsoft.com/office/drawing/2014/main" id="{54817429-5965-64BA-1069-7F5BB6A0FA1E}"/>
              </a:ext>
            </a:extLst>
          </p:cNvPr>
          <p:cNvCxnSpPr>
            <a:stCxn id="3" idx="1"/>
            <a:endCxn id="10" idx="1"/>
          </p:cNvCxnSpPr>
          <p:nvPr/>
        </p:nvCxnSpPr>
        <p:spPr>
          <a:xfrm rot="10800000" flipV="1">
            <a:off x="1928977" y="5266395"/>
            <a:ext cx="750786" cy="67191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D6E4536E-4EDC-CFC8-1FE5-1F449A2E84F5}"/>
              </a:ext>
            </a:extLst>
          </p:cNvPr>
          <p:cNvCxnSpPr>
            <a:cxnSpLocks/>
            <a:stCxn id="6" idx="2"/>
            <a:endCxn id="3" idx="0"/>
          </p:cNvCxnSpPr>
          <p:nvPr/>
        </p:nvCxnSpPr>
        <p:spPr>
          <a:xfrm>
            <a:off x="3496208" y="4904560"/>
            <a:ext cx="0" cy="19918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Elbow Connector 21">
            <a:extLst>
              <a:ext uri="{FF2B5EF4-FFF2-40B4-BE49-F238E27FC236}">
                <a16:creationId xmlns:a16="http://schemas.microsoft.com/office/drawing/2014/main" id="{C7EDE81B-052B-65B5-52C1-9D01F27EF91D}"/>
              </a:ext>
            </a:extLst>
          </p:cNvPr>
          <p:cNvCxnSpPr>
            <a:stCxn id="10" idx="4"/>
            <a:endCxn id="12" idx="0"/>
          </p:cNvCxnSpPr>
          <p:nvPr/>
        </p:nvCxnSpPr>
        <p:spPr>
          <a:xfrm rot="16200000" flipH="1">
            <a:off x="2358174" y="5816894"/>
            <a:ext cx="859179" cy="171757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2A3B061A-C006-4DB9-C3BF-0B87C623C432}"/>
              </a:ext>
            </a:extLst>
          </p:cNvPr>
          <p:cNvSpPr txBox="1"/>
          <p:nvPr/>
        </p:nvSpPr>
        <p:spPr>
          <a:xfrm>
            <a:off x="2304370" y="4998071"/>
            <a:ext cx="4797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1400" dirty="0"/>
              <a:t>nie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9DB0ADB-9B53-1EEE-A7BE-560B4382CE8E}"/>
              </a:ext>
            </a:extLst>
          </p:cNvPr>
          <p:cNvSpPr txBox="1"/>
          <p:nvPr/>
        </p:nvSpPr>
        <p:spPr>
          <a:xfrm>
            <a:off x="4310700" y="4991732"/>
            <a:ext cx="4797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1400" dirty="0"/>
              <a:t>tak</a:t>
            </a:r>
          </a:p>
        </p:txBody>
      </p:sp>
      <p:sp>
        <p:nvSpPr>
          <p:cNvPr id="13" name="Data 12">
            <a:extLst>
              <a:ext uri="{FF2B5EF4-FFF2-40B4-BE49-F238E27FC236}">
                <a16:creationId xmlns:a16="http://schemas.microsoft.com/office/drawing/2014/main" id="{C8C2C8F7-629B-3B86-C52B-999DA0430F86}"/>
              </a:ext>
            </a:extLst>
          </p:cNvPr>
          <p:cNvSpPr/>
          <p:nvPr/>
        </p:nvSpPr>
        <p:spPr>
          <a:xfrm>
            <a:off x="4039950" y="6303558"/>
            <a:ext cx="2456446" cy="248945"/>
          </a:xfrm>
          <a:prstGeom prst="flowChartInputOutpu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 err="1"/>
              <a:t>Wypisz</a:t>
            </a:r>
            <a:r>
              <a:rPr lang="en-US" sz="900" dirty="0"/>
              <a:t> </a:t>
            </a:r>
            <a:r>
              <a:rPr lang="en-US" sz="900" i="1" dirty="0" err="1"/>
              <a:t>dequeued_value</a:t>
            </a:r>
            <a:r>
              <a:rPr lang="en-US" sz="900" dirty="0"/>
              <a:t>.</a:t>
            </a:r>
            <a:endParaRPr lang="en-US" sz="900" i="1" dirty="0"/>
          </a:p>
        </p:txBody>
      </p:sp>
      <p:cxnSp>
        <p:nvCxnSpPr>
          <p:cNvPr id="26" name="Elbow Connector 25">
            <a:extLst>
              <a:ext uri="{FF2B5EF4-FFF2-40B4-BE49-F238E27FC236}">
                <a16:creationId xmlns:a16="http://schemas.microsoft.com/office/drawing/2014/main" id="{D5521408-E12C-C599-B5F4-587FAF662C65}"/>
              </a:ext>
            </a:extLst>
          </p:cNvPr>
          <p:cNvCxnSpPr>
            <a:stCxn id="13" idx="4"/>
            <a:endCxn id="12" idx="0"/>
          </p:cNvCxnSpPr>
          <p:nvPr/>
        </p:nvCxnSpPr>
        <p:spPr>
          <a:xfrm rot="5400000">
            <a:off x="4180978" y="6018076"/>
            <a:ext cx="552768" cy="1621623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3B58E66-9E26-EC42-F27C-72562189D9C5}"/>
              </a:ext>
            </a:extLst>
          </p:cNvPr>
          <p:cNvCxnSpPr>
            <a:stCxn id="11" idx="2"/>
            <a:endCxn id="13" idx="1"/>
          </p:cNvCxnSpPr>
          <p:nvPr/>
        </p:nvCxnSpPr>
        <p:spPr>
          <a:xfrm flipH="1">
            <a:off x="5268173" y="6092204"/>
            <a:ext cx="1" cy="21135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559427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4B0F98-C20B-83FB-1E6E-1932A67C43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F2F4CBA-8E6E-ADD1-187A-86AEBC309E8C}"/>
              </a:ext>
            </a:extLst>
          </p:cNvPr>
          <p:cNvSpPr txBox="1"/>
          <p:nvPr/>
        </p:nvSpPr>
        <p:spPr>
          <a:xfrm>
            <a:off x="420571" y="471043"/>
            <a:ext cx="2077620" cy="34624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l-PL" sz="165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Zadanie 3.1. Kolejka.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25B7572-A7E0-7AFA-543B-E90BB71B9A77}"/>
              </a:ext>
            </a:extLst>
          </p:cNvPr>
          <p:cNvSpPr txBox="1"/>
          <p:nvPr/>
        </p:nvSpPr>
        <p:spPr>
          <a:xfrm>
            <a:off x="420573" y="811313"/>
            <a:ext cx="7049237" cy="507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l-PL" sz="2700" dirty="0"/>
              <a:t>Sprawdzanie elementu z przodu kolejki (</a:t>
            </a:r>
            <a:r>
              <a:rPr lang="pl-PL" sz="2700" dirty="0" err="1"/>
              <a:t>peek</a:t>
            </a:r>
            <a:r>
              <a:rPr lang="pl-PL" sz="2700" dirty="0"/>
              <a:t>).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C8905EE-0754-0EB3-BFE7-5781EBA0D469}"/>
              </a:ext>
            </a:extLst>
          </p:cNvPr>
          <p:cNvSpPr/>
          <p:nvPr/>
        </p:nvSpPr>
        <p:spPr>
          <a:xfrm>
            <a:off x="420569" y="1568090"/>
            <a:ext cx="6503605" cy="258567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pl-PL" sz="1400" dirty="0">
                <a:solidFill>
                  <a:schemeClr val="accent2"/>
                </a:solidFill>
              </a:rPr>
              <a:t>Uwaga</a:t>
            </a:r>
          </a:p>
          <a:p>
            <a:r>
              <a:rPr lang="pl-PL" dirty="0"/>
              <a:t>Struktura danych została zaimplementowana z wykorzystaniem bufora cyklicznego (jak na wykładzie).</a:t>
            </a:r>
          </a:p>
          <a:p>
            <a:endParaRPr lang="pl-PL" dirty="0"/>
          </a:p>
          <a:p>
            <a:r>
              <a:rPr lang="pl-PL" dirty="0"/>
              <a:t>Klasa ją implementująca zawiera następujące pola:</a:t>
            </a:r>
            <a:br>
              <a:rPr lang="pl-PL" dirty="0"/>
            </a:br>
            <a:r>
              <a:rPr lang="pl-PL" i="1" dirty="0" err="1"/>
              <a:t>size</a:t>
            </a:r>
            <a:r>
              <a:rPr lang="pl-PL" dirty="0"/>
              <a:t> – ilość elementów,</a:t>
            </a:r>
          </a:p>
          <a:p>
            <a:r>
              <a:rPr lang="pl-PL" i="1" dirty="0" err="1"/>
              <a:t>capacity</a:t>
            </a:r>
            <a:r>
              <a:rPr lang="pl-PL" dirty="0"/>
              <a:t> – maksymalna pojemność,</a:t>
            </a:r>
          </a:p>
          <a:p>
            <a:r>
              <a:rPr lang="pl-PL" i="1" dirty="0" err="1"/>
              <a:t>buffer</a:t>
            </a:r>
            <a:r>
              <a:rPr lang="pl-PL" dirty="0"/>
              <a:t> – tablica rozmiaru </a:t>
            </a:r>
            <a:r>
              <a:rPr lang="pl-PL" i="1" dirty="0" err="1"/>
              <a:t>capacity</a:t>
            </a:r>
            <a:r>
              <a:rPr lang="pl-PL" dirty="0"/>
              <a:t>,</a:t>
            </a:r>
            <a:endParaRPr lang="pl-PL" i="1" dirty="0"/>
          </a:p>
          <a:p>
            <a:r>
              <a:rPr lang="pl-PL" i="1" dirty="0" err="1"/>
              <a:t>start_index</a:t>
            </a:r>
            <a:r>
              <a:rPr lang="pl-PL" dirty="0"/>
              <a:t> – pozycja na której zaczynają się wartości w buforze.</a:t>
            </a:r>
          </a:p>
        </p:txBody>
      </p:sp>
      <p:sp>
        <p:nvSpPr>
          <p:cNvPr id="8" name="Terminator 7">
            <a:extLst>
              <a:ext uri="{FF2B5EF4-FFF2-40B4-BE49-F238E27FC236}">
                <a16:creationId xmlns:a16="http://schemas.microsoft.com/office/drawing/2014/main" id="{665A22EB-F495-51AB-9A83-A2403B5818D9}"/>
              </a:ext>
            </a:extLst>
          </p:cNvPr>
          <p:cNvSpPr/>
          <p:nvPr/>
        </p:nvSpPr>
        <p:spPr>
          <a:xfrm>
            <a:off x="3153308" y="4678246"/>
            <a:ext cx="685800" cy="226314"/>
          </a:xfrm>
          <a:prstGeom prst="flowChartTerminator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/>
              <a:t>Start</a:t>
            </a:r>
          </a:p>
        </p:txBody>
      </p:sp>
      <p:sp>
        <p:nvSpPr>
          <p:cNvPr id="13" name="Decision 12">
            <a:extLst>
              <a:ext uri="{FF2B5EF4-FFF2-40B4-BE49-F238E27FC236}">
                <a16:creationId xmlns:a16="http://schemas.microsoft.com/office/drawing/2014/main" id="{3246C59D-71C3-A698-372E-CF0E2247A61C}"/>
              </a:ext>
            </a:extLst>
          </p:cNvPr>
          <p:cNvSpPr/>
          <p:nvPr/>
        </p:nvSpPr>
        <p:spPr>
          <a:xfrm>
            <a:off x="2679763" y="5103748"/>
            <a:ext cx="1632890" cy="325296"/>
          </a:xfrm>
          <a:prstGeom prst="flowChartDecision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pl-PL" sz="900" i="1" dirty="0" err="1"/>
              <a:t>size</a:t>
            </a:r>
            <a:r>
              <a:rPr lang="pl-PL" sz="900"/>
              <a:t> &gt;= </a:t>
            </a:r>
            <a:r>
              <a:rPr lang="pl-PL" sz="900" dirty="0"/>
              <a:t>1</a:t>
            </a:r>
            <a:endParaRPr lang="pl-PL" sz="900" i="1" dirty="0"/>
          </a:p>
        </p:txBody>
      </p:sp>
      <p:sp>
        <p:nvSpPr>
          <p:cNvPr id="15" name="Data 14">
            <a:extLst>
              <a:ext uri="{FF2B5EF4-FFF2-40B4-BE49-F238E27FC236}">
                <a16:creationId xmlns:a16="http://schemas.microsoft.com/office/drawing/2014/main" id="{16C54453-832D-483E-EE53-2D6F6B314250}"/>
              </a:ext>
            </a:extLst>
          </p:cNvPr>
          <p:cNvSpPr/>
          <p:nvPr/>
        </p:nvSpPr>
        <p:spPr>
          <a:xfrm>
            <a:off x="1135413" y="5614008"/>
            <a:ext cx="1599474" cy="307777"/>
          </a:xfrm>
          <a:prstGeom prst="flowChartInputOutpu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sz="900" dirty="0" err="1"/>
              <a:t>Wypisz</a:t>
            </a:r>
            <a:r>
              <a:rPr lang="en-US" sz="900" dirty="0"/>
              <a:t> </a:t>
            </a:r>
            <a:r>
              <a:rPr lang="en-US" sz="900" dirty="0" err="1"/>
              <a:t>błąd</a:t>
            </a:r>
            <a:endParaRPr lang="en-US" sz="900" dirty="0"/>
          </a:p>
          <a:p>
            <a:pPr algn="ctr"/>
            <a:r>
              <a:rPr lang="en-US" sz="900" dirty="0"/>
              <a:t>o </a:t>
            </a:r>
            <a:r>
              <a:rPr lang="en-US" sz="900" dirty="0" err="1"/>
              <a:t>pustej</a:t>
            </a:r>
            <a:r>
              <a:rPr lang="en-US" sz="900" dirty="0"/>
              <a:t> </a:t>
            </a:r>
            <a:r>
              <a:rPr lang="en-US" sz="900" dirty="0" err="1"/>
              <a:t>kolejce</a:t>
            </a:r>
            <a:r>
              <a:rPr lang="en-US" sz="900" dirty="0"/>
              <a:t>.</a:t>
            </a:r>
            <a:endParaRPr lang="en-US" sz="900" i="1" dirty="0"/>
          </a:p>
        </p:txBody>
      </p:sp>
      <p:sp>
        <p:nvSpPr>
          <p:cNvPr id="17" name="Terminator 16">
            <a:extLst>
              <a:ext uri="{FF2B5EF4-FFF2-40B4-BE49-F238E27FC236}">
                <a16:creationId xmlns:a16="http://schemas.microsoft.com/office/drawing/2014/main" id="{B9B01748-A0A2-DDFC-3B64-E94B8E06F8F5}"/>
              </a:ext>
            </a:extLst>
          </p:cNvPr>
          <p:cNvSpPr/>
          <p:nvPr/>
        </p:nvSpPr>
        <p:spPr>
          <a:xfrm>
            <a:off x="3153308" y="6265873"/>
            <a:ext cx="685800" cy="226314"/>
          </a:xfrm>
          <a:prstGeom prst="flowChartTerminator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/>
              <a:t>Stop</a:t>
            </a:r>
          </a:p>
        </p:txBody>
      </p:sp>
      <p:cxnSp>
        <p:nvCxnSpPr>
          <p:cNvPr id="19" name="Elbow Connector 18">
            <a:extLst>
              <a:ext uri="{FF2B5EF4-FFF2-40B4-BE49-F238E27FC236}">
                <a16:creationId xmlns:a16="http://schemas.microsoft.com/office/drawing/2014/main" id="{D719FB96-F308-4799-61E0-61499FC8C6ED}"/>
              </a:ext>
            </a:extLst>
          </p:cNvPr>
          <p:cNvCxnSpPr>
            <a:cxnSpLocks/>
            <a:stCxn id="13" idx="3"/>
            <a:endCxn id="30" idx="1"/>
          </p:cNvCxnSpPr>
          <p:nvPr/>
        </p:nvCxnSpPr>
        <p:spPr>
          <a:xfrm>
            <a:off x="4312653" y="5266396"/>
            <a:ext cx="955521" cy="39645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Elbow Connector 20">
            <a:extLst>
              <a:ext uri="{FF2B5EF4-FFF2-40B4-BE49-F238E27FC236}">
                <a16:creationId xmlns:a16="http://schemas.microsoft.com/office/drawing/2014/main" id="{4F657FC8-06F8-4E0D-E852-CF3887C77583}"/>
              </a:ext>
            </a:extLst>
          </p:cNvPr>
          <p:cNvCxnSpPr>
            <a:cxnSpLocks/>
            <a:stCxn id="13" idx="1"/>
            <a:endCxn id="15" idx="1"/>
          </p:cNvCxnSpPr>
          <p:nvPr/>
        </p:nvCxnSpPr>
        <p:spPr>
          <a:xfrm rot="10800000" flipV="1">
            <a:off x="1935151" y="5266396"/>
            <a:ext cx="744613" cy="34761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0C69B9D-F96F-47E7-4039-A501D66E02E0}"/>
              </a:ext>
            </a:extLst>
          </p:cNvPr>
          <p:cNvCxnSpPr>
            <a:cxnSpLocks/>
            <a:stCxn id="8" idx="2"/>
            <a:endCxn id="13" idx="0"/>
          </p:cNvCxnSpPr>
          <p:nvPr/>
        </p:nvCxnSpPr>
        <p:spPr>
          <a:xfrm>
            <a:off x="3496208" y="4904560"/>
            <a:ext cx="0" cy="19918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Elbow Connector 25">
            <a:extLst>
              <a:ext uri="{FF2B5EF4-FFF2-40B4-BE49-F238E27FC236}">
                <a16:creationId xmlns:a16="http://schemas.microsoft.com/office/drawing/2014/main" id="{803EDEAD-2FBE-F970-D4DA-500F63FBEDDC}"/>
              </a:ext>
            </a:extLst>
          </p:cNvPr>
          <p:cNvCxnSpPr>
            <a:cxnSpLocks/>
            <a:stCxn id="15" idx="4"/>
            <a:endCxn id="17" idx="0"/>
          </p:cNvCxnSpPr>
          <p:nvPr/>
        </p:nvCxnSpPr>
        <p:spPr>
          <a:xfrm rot="16200000" flipH="1">
            <a:off x="2543635" y="5313300"/>
            <a:ext cx="344088" cy="156105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EECCCFDA-2793-DA6A-0A6C-F6642FC78F15}"/>
              </a:ext>
            </a:extLst>
          </p:cNvPr>
          <p:cNvSpPr txBox="1"/>
          <p:nvPr/>
        </p:nvSpPr>
        <p:spPr>
          <a:xfrm>
            <a:off x="2304370" y="4998071"/>
            <a:ext cx="4797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1400" dirty="0"/>
              <a:t>nie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C468006-EF38-E7B1-A1F5-360450AD87ED}"/>
              </a:ext>
            </a:extLst>
          </p:cNvPr>
          <p:cNvSpPr txBox="1"/>
          <p:nvPr/>
        </p:nvSpPr>
        <p:spPr>
          <a:xfrm>
            <a:off x="4310700" y="4991732"/>
            <a:ext cx="4797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1400" dirty="0"/>
              <a:t>tak</a:t>
            </a:r>
          </a:p>
        </p:txBody>
      </p:sp>
      <p:sp>
        <p:nvSpPr>
          <p:cNvPr id="30" name="Data 29">
            <a:extLst>
              <a:ext uri="{FF2B5EF4-FFF2-40B4-BE49-F238E27FC236}">
                <a16:creationId xmlns:a16="http://schemas.microsoft.com/office/drawing/2014/main" id="{6FC2E69B-DC88-2EFB-E6FF-07D06F205145}"/>
              </a:ext>
            </a:extLst>
          </p:cNvPr>
          <p:cNvSpPr/>
          <p:nvPr/>
        </p:nvSpPr>
        <p:spPr>
          <a:xfrm>
            <a:off x="4073203" y="5662853"/>
            <a:ext cx="2389942" cy="210090"/>
          </a:xfrm>
          <a:prstGeom prst="flowChartInputOutpu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sz="900" dirty="0" err="1"/>
              <a:t>Wypisz</a:t>
            </a:r>
            <a:r>
              <a:rPr lang="en-US" sz="900" dirty="0"/>
              <a:t> buffer[</a:t>
            </a:r>
            <a:r>
              <a:rPr lang="en-US" sz="900" dirty="0" err="1"/>
              <a:t>start</a:t>
            </a:r>
            <a:r>
              <a:rPr lang="en-US" sz="900" i="1" dirty="0" err="1"/>
              <a:t>_index</a:t>
            </a:r>
            <a:r>
              <a:rPr lang="en-US" sz="900" dirty="0"/>
              <a:t>].</a:t>
            </a:r>
            <a:endParaRPr lang="en-US" sz="900" i="1" dirty="0"/>
          </a:p>
        </p:txBody>
      </p:sp>
      <p:cxnSp>
        <p:nvCxnSpPr>
          <p:cNvPr id="31" name="Elbow Connector 30">
            <a:extLst>
              <a:ext uri="{FF2B5EF4-FFF2-40B4-BE49-F238E27FC236}">
                <a16:creationId xmlns:a16="http://schemas.microsoft.com/office/drawing/2014/main" id="{2A2B901F-B393-FCAB-2986-20AB7B13E529}"/>
              </a:ext>
            </a:extLst>
          </p:cNvPr>
          <p:cNvCxnSpPr>
            <a:cxnSpLocks/>
            <a:stCxn id="30" idx="4"/>
            <a:endCxn id="17" idx="0"/>
          </p:cNvCxnSpPr>
          <p:nvPr/>
        </p:nvCxnSpPr>
        <p:spPr>
          <a:xfrm rot="5400000">
            <a:off x="4185726" y="5183425"/>
            <a:ext cx="392930" cy="1771966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922982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1265</TotalTime>
  <Words>294</Words>
  <Application>Microsoft Macintosh PowerPoint</Application>
  <PresentationFormat>Custom</PresentationFormat>
  <Paragraphs>56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Bartosz Bieniek (bb315945)</dc:creator>
  <cp:lastModifiedBy>Bartosz Bieniek (bb315945)</cp:lastModifiedBy>
  <cp:revision>11</cp:revision>
  <dcterms:created xsi:type="dcterms:W3CDTF">2025-11-30T19:03:59Z</dcterms:created>
  <dcterms:modified xsi:type="dcterms:W3CDTF">2026-01-02T15:54:06Z</dcterms:modified>
</cp:coreProperties>
</file>