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7" r:id="rId2"/>
    <p:sldId id="258" r:id="rId3"/>
    <p:sldId id="259" r:id="rId4"/>
  </p:sldIdLst>
  <p:sldSz cx="91440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/>
    <p:restoredTop sz="94648"/>
  </p:normalViewPr>
  <p:slideViewPr>
    <p:cSldViewPr snapToGrid="0">
      <p:cViewPr>
        <p:scale>
          <a:sx n="216" d="100"/>
          <a:sy n="216" d="100"/>
        </p:scale>
        <p:origin x="752" y="-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95781"/>
            <a:ext cx="7772400" cy="38201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763261"/>
            <a:ext cx="6858000" cy="264921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4392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413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35583"/>
            <a:ext cx="7886700" cy="456437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7343143"/>
            <a:ext cx="7886700" cy="24002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332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921000"/>
            <a:ext cx="38862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921000"/>
            <a:ext cx="38862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2491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84202"/>
            <a:ext cx="788670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689861"/>
            <a:ext cx="3868340" cy="131825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4008120"/>
            <a:ext cx="3868340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689861"/>
            <a:ext cx="3887391" cy="131825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4008120"/>
            <a:ext cx="3887391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0384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92584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4829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31520"/>
            <a:ext cx="2949178" cy="2560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579882"/>
            <a:ext cx="4629150" cy="7797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291840"/>
            <a:ext cx="2949178" cy="609854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88299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31520"/>
            <a:ext cx="2949178" cy="2560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579882"/>
            <a:ext cx="4629150" cy="77978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291840"/>
            <a:ext cx="2949178" cy="609854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13050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4866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84200"/>
            <a:ext cx="1971675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584200"/>
            <a:ext cx="5800725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5324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584202"/>
            <a:ext cx="788670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921000"/>
            <a:ext cx="788670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0170162"/>
            <a:ext cx="20574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0170162"/>
            <a:ext cx="30861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0170162"/>
            <a:ext cx="20574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4151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420571" y="471043"/>
            <a:ext cx="207762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3.1. Kolejka.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420573" y="811313"/>
            <a:ext cx="531575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Dodawanie elementów (</a:t>
            </a:r>
            <a:r>
              <a:rPr lang="pl-PL" sz="2700" dirty="0" err="1"/>
              <a:t>enqueue</a:t>
            </a:r>
            <a:r>
              <a:rPr lang="pl-PL" sz="2700" dirty="0"/>
              <a:t>).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3153308" y="4678246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2351056" y="5115914"/>
            <a:ext cx="2290304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value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857AD6E5-352F-8CCC-60B3-468DFF87EDD0}"/>
              </a:ext>
            </a:extLst>
          </p:cNvPr>
          <p:cNvSpPr/>
          <p:nvPr/>
        </p:nvSpPr>
        <p:spPr>
          <a:xfrm>
            <a:off x="3989450" y="6112863"/>
            <a:ext cx="2557447" cy="47212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insert_index</a:t>
            </a:r>
            <a:r>
              <a:rPr lang="pl-PL" sz="900" i="1" dirty="0"/>
              <a:t> </a:t>
            </a:r>
            <a:r>
              <a:rPr lang="pl-PL" sz="900" dirty="0"/>
              <a:t>← (</a:t>
            </a:r>
            <a:r>
              <a:rPr lang="pl-PL" sz="900" i="1" dirty="0" err="1"/>
              <a:t>start_index</a:t>
            </a:r>
            <a:r>
              <a:rPr lang="pl-PL" sz="900" dirty="0"/>
              <a:t> + </a:t>
            </a:r>
            <a:r>
              <a:rPr lang="pl-PL" sz="900" i="1" dirty="0" err="1"/>
              <a:t>size</a:t>
            </a:r>
            <a:r>
              <a:rPr lang="pl-PL" sz="900" dirty="0"/>
              <a:t>) </a:t>
            </a:r>
            <a:r>
              <a:rPr lang="pl-PL" sz="900" dirty="0" err="1"/>
              <a:t>mod</a:t>
            </a:r>
            <a:r>
              <a:rPr lang="pl-PL" sz="900" dirty="0"/>
              <a:t> </a:t>
            </a:r>
            <a:r>
              <a:rPr lang="pl-PL" sz="900" i="1" dirty="0" err="1"/>
              <a:t>capacity</a:t>
            </a:r>
            <a:endParaRPr lang="pl-PL" sz="900" i="1" dirty="0"/>
          </a:p>
          <a:p>
            <a:pPr algn="ctr"/>
            <a:r>
              <a:rPr lang="pl-PL" sz="900" i="1" dirty="0" err="1"/>
              <a:t>buffer</a:t>
            </a:r>
            <a:r>
              <a:rPr lang="pl-PL" sz="900" dirty="0"/>
              <a:t>[</a:t>
            </a:r>
            <a:r>
              <a:rPr lang="pl-PL" sz="900" i="1" dirty="0" err="1"/>
              <a:t>insert_index</a:t>
            </a:r>
            <a:r>
              <a:rPr lang="pl-PL" sz="900" dirty="0"/>
              <a:t>] ← </a:t>
            </a:r>
            <a:r>
              <a:rPr lang="pl-PL" sz="900" i="1" dirty="0" err="1"/>
              <a:t>value</a:t>
            </a:r>
            <a:endParaRPr lang="pl-PL" sz="900" i="1" dirty="0"/>
          </a:p>
          <a:p>
            <a:pPr algn="ctr"/>
            <a:r>
              <a:rPr lang="pl-PL" sz="900" i="1" dirty="0" err="1"/>
              <a:t>size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size</a:t>
            </a:r>
            <a:r>
              <a:rPr lang="pl-PL" sz="900" dirty="0"/>
              <a:t> + 1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70E347-3C11-0BA0-97F6-147FD32411B0}"/>
              </a:ext>
            </a:extLst>
          </p:cNvPr>
          <p:cNvSpPr/>
          <p:nvPr/>
        </p:nvSpPr>
        <p:spPr>
          <a:xfrm>
            <a:off x="420569" y="1568090"/>
            <a:ext cx="6503605" cy="25856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l-PL" sz="1400" dirty="0">
                <a:solidFill>
                  <a:schemeClr val="accent2"/>
                </a:solidFill>
              </a:rPr>
              <a:t>Uwaga</a:t>
            </a:r>
          </a:p>
          <a:p>
            <a:r>
              <a:rPr lang="pl-PL" dirty="0"/>
              <a:t>Struktura danych została zaimplementowana z wykorzystaniem bufora cyklicznego (jak na wykładzie).</a:t>
            </a:r>
          </a:p>
          <a:p>
            <a:endParaRPr lang="pl-PL" dirty="0"/>
          </a:p>
          <a:p>
            <a:r>
              <a:rPr lang="pl-PL" dirty="0"/>
              <a:t>Klasa ją implementująca zawiera następujące pola:</a:t>
            </a:r>
            <a:br>
              <a:rPr lang="pl-PL" dirty="0"/>
            </a:br>
            <a:r>
              <a:rPr lang="pl-PL" i="1" dirty="0" err="1"/>
              <a:t>size</a:t>
            </a:r>
            <a:r>
              <a:rPr lang="pl-PL" dirty="0"/>
              <a:t> – ilość elementów,</a:t>
            </a:r>
          </a:p>
          <a:p>
            <a:r>
              <a:rPr lang="pl-PL" i="1" dirty="0" err="1"/>
              <a:t>capacity</a:t>
            </a:r>
            <a:r>
              <a:rPr lang="pl-PL" dirty="0"/>
              <a:t> – maksymalna pojemność,</a:t>
            </a:r>
          </a:p>
          <a:p>
            <a:r>
              <a:rPr lang="pl-PL" i="1" dirty="0" err="1"/>
              <a:t>buffer</a:t>
            </a:r>
            <a:r>
              <a:rPr lang="pl-PL" dirty="0"/>
              <a:t> – tablica rozmiaru </a:t>
            </a:r>
            <a:r>
              <a:rPr lang="pl-PL" i="1" dirty="0" err="1"/>
              <a:t>capacity</a:t>
            </a:r>
            <a:r>
              <a:rPr lang="pl-PL" dirty="0"/>
              <a:t>,</a:t>
            </a:r>
            <a:endParaRPr lang="pl-PL" i="1" dirty="0"/>
          </a:p>
          <a:p>
            <a:r>
              <a:rPr lang="pl-PL" i="1" dirty="0" err="1"/>
              <a:t>start_index</a:t>
            </a:r>
            <a:r>
              <a:rPr lang="pl-PL" dirty="0"/>
              <a:t> – pozycja na której zaczynają się wartości w buforze.</a:t>
            </a:r>
          </a:p>
        </p:txBody>
      </p:sp>
      <p:sp>
        <p:nvSpPr>
          <p:cNvPr id="3" name="Decision 2">
            <a:extLst>
              <a:ext uri="{FF2B5EF4-FFF2-40B4-BE49-F238E27FC236}">
                <a16:creationId xmlns:a16="http://schemas.microsoft.com/office/drawing/2014/main" id="{76C92572-49D9-695C-8EB7-A233D22C1643}"/>
              </a:ext>
            </a:extLst>
          </p:cNvPr>
          <p:cNvSpPr/>
          <p:nvPr/>
        </p:nvSpPr>
        <p:spPr>
          <a:xfrm>
            <a:off x="2679763" y="5576213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dirty="0"/>
              <a:t> &lt; </a:t>
            </a:r>
            <a:r>
              <a:rPr lang="pl-PL" sz="900" i="1" dirty="0" err="1"/>
              <a:t>capacity</a:t>
            </a:r>
            <a:endParaRPr lang="pl-PL" sz="900" i="1" dirty="0"/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941B053F-ADF1-4D14-4E38-723B0E557676}"/>
              </a:ext>
            </a:extLst>
          </p:cNvPr>
          <p:cNvSpPr/>
          <p:nvPr/>
        </p:nvSpPr>
        <p:spPr>
          <a:xfrm>
            <a:off x="808401" y="6190667"/>
            <a:ext cx="2241152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r>
              <a:rPr lang="en-US" sz="900" dirty="0"/>
              <a:t> o </a:t>
            </a:r>
            <a:r>
              <a:rPr lang="en-US" sz="900" dirty="0" err="1"/>
              <a:t>przepełnieniu</a:t>
            </a:r>
            <a:r>
              <a:rPr lang="en-US" sz="900" dirty="0"/>
              <a:t> </a:t>
            </a:r>
            <a:r>
              <a:rPr lang="en-US" sz="900" dirty="0" err="1"/>
              <a:t>bufora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2" name="Terminator 11">
            <a:extLst>
              <a:ext uri="{FF2B5EF4-FFF2-40B4-BE49-F238E27FC236}">
                <a16:creationId xmlns:a16="http://schemas.microsoft.com/office/drawing/2014/main" id="{AC072F6A-A953-8511-E74F-55327FA2B930}"/>
              </a:ext>
            </a:extLst>
          </p:cNvPr>
          <p:cNvSpPr/>
          <p:nvPr/>
        </p:nvSpPr>
        <p:spPr>
          <a:xfrm>
            <a:off x="3153308" y="6796340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BF4274D8-4035-0C6D-69E3-F57164517EAC}"/>
              </a:ext>
            </a:extLst>
          </p:cNvPr>
          <p:cNvCxnSpPr>
            <a:stCxn id="3" idx="3"/>
            <a:endCxn id="11" idx="0"/>
          </p:cNvCxnSpPr>
          <p:nvPr/>
        </p:nvCxnSpPr>
        <p:spPr>
          <a:xfrm>
            <a:off x="4312653" y="5738861"/>
            <a:ext cx="955521" cy="3740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B5E9A302-2AC5-BE79-8F5D-A68C97D197A6}"/>
              </a:ext>
            </a:extLst>
          </p:cNvPr>
          <p:cNvCxnSpPr>
            <a:stCxn id="3" idx="1"/>
            <a:endCxn id="10" idx="1"/>
          </p:cNvCxnSpPr>
          <p:nvPr/>
        </p:nvCxnSpPr>
        <p:spPr>
          <a:xfrm rot="10800000" flipV="1">
            <a:off x="1928977" y="5738861"/>
            <a:ext cx="750786" cy="4518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812014-45F8-CB1B-AED8-FD42C0DC64F8}"/>
              </a:ext>
            </a:extLst>
          </p:cNvPr>
          <p:cNvCxnSpPr>
            <a:stCxn id="7" idx="4"/>
            <a:endCxn id="3" idx="0"/>
          </p:cNvCxnSpPr>
          <p:nvPr/>
        </p:nvCxnSpPr>
        <p:spPr>
          <a:xfrm>
            <a:off x="3496208" y="5364859"/>
            <a:ext cx="0" cy="211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256BDB-D9E9-8D39-B0B7-049772DCF42A}"/>
              </a:ext>
            </a:extLst>
          </p:cNvPr>
          <p:cNvCxnSpPr>
            <a:stCxn id="6" idx="2"/>
            <a:endCxn id="7" idx="1"/>
          </p:cNvCxnSpPr>
          <p:nvPr/>
        </p:nvCxnSpPr>
        <p:spPr>
          <a:xfrm>
            <a:off x="3496208" y="4904560"/>
            <a:ext cx="0" cy="211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F99DCDD4-7423-55B5-6EDD-CD393EC9319E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 rot="16200000" flipH="1">
            <a:off x="2563644" y="5863776"/>
            <a:ext cx="297896" cy="156723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157ADF5C-ECB8-ED43-0576-35677C2CD17D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rot="5400000">
            <a:off x="4276514" y="5804679"/>
            <a:ext cx="211355" cy="17719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7CF9373-2BCB-5FE7-B0D0-E9C6B82DD15E}"/>
              </a:ext>
            </a:extLst>
          </p:cNvPr>
          <p:cNvSpPr txBox="1"/>
          <p:nvPr/>
        </p:nvSpPr>
        <p:spPr>
          <a:xfrm>
            <a:off x="2304370" y="547053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EF6E33-0998-92A8-01EB-A52ECAC39F52}"/>
              </a:ext>
            </a:extLst>
          </p:cNvPr>
          <p:cNvSpPr txBox="1"/>
          <p:nvPr/>
        </p:nvSpPr>
        <p:spPr>
          <a:xfrm>
            <a:off x="4310700" y="5464197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CD02-4464-3CEE-22F4-A9894B75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520552-6347-0DFA-3A80-E779687C0CF7}"/>
              </a:ext>
            </a:extLst>
          </p:cNvPr>
          <p:cNvSpPr txBox="1"/>
          <p:nvPr/>
        </p:nvSpPr>
        <p:spPr>
          <a:xfrm>
            <a:off x="420571" y="471043"/>
            <a:ext cx="207762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3.1. Kolejka.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24DF5-855F-2BB2-F2F0-8A86F0EA7AD8}"/>
              </a:ext>
            </a:extLst>
          </p:cNvPr>
          <p:cNvSpPr txBox="1"/>
          <p:nvPr/>
        </p:nvSpPr>
        <p:spPr>
          <a:xfrm>
            <a:off x="420573" y="811313"/>
            <a:ext cx="511056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Usuwanie elementów (</a:t>
            </a:r>
            <a:r>
              <a:rPr lang="pl-PL" sz="2700" dirty="0" err="1"/>
              <a:t>dequeue</a:t>
            </a:r>
            <a:r>
              <a:rPr lang="pl-PL" sz="2700" dirty="0"/>
              <a:t>).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6D212BDD-EF80-7BCC-D633-95A686A0432F}"/>
              </a:ext>
            </a:extLst>
          </p:cNvPr>
          <p:cNvSpPr/>
          <p:nvPr/>
        </p:nvSpPr>
        <p:spPr>
          <a:xfrm>
            <a:off x="3153308" y="4678246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3D2F5A87-F813-93AC-D7B8-D8B078A535C2}"/>
              </a:ext>
            </a:extLst>
          </p:cNvPr>
          <p:cNvSpPr/>
          <p:nvPr/>
        </p:nvSpPr>
        <p:spPr>
          <a:xfrm>
            <a:off x="3989450" y="5640398"/>
            <a:ext cx="2557447" cy="45180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dequeued_value</a:t>
            </a:r>
            <a:r>
              <a:rPr lang="pl-PL" sz="900" dirty="0"/>
              <a:t> ← </a:t>
            </a:r>
            <a:r>
              <a:rPr lang="pl-PL" sz="900" i="1" dirty="0" err="1"/>
              <a:t>buffer</a:t>
            </a:r>
            <a:r>
              <a:rPr lang="pl-PL" sz="900" dirty="0"/>
              <a:t>[</a:t>
            </a:r>
            <a:r>
              <a:rPr lang="pl-PL" sz="900" i="1" dirty="0" err="1"/>
              <a:t>start_index</a:t>
            </a:r>
            <a:r>
              <a:rPr lang="pl-PL" sz="900" dirty="0"/>
              <a:t>]</a:t>
            </a:r>
          </a:p>
          <a:p>
            <a:pPr algn="ctr"/>
            <a:r>
              <a:rPr lang="pl-PL" sz="900" i="1" dirty="0" err="1"/>
              <a:t>start_index</a:t>
            </a:r>
            <a:r>
              <a:rPr lang="pl-PL" sz="900" dirty="0"/>
              <a:t> ← (</a:t>
            </a:r>
            <a:r>
              <a:rPr lang="pl-PL" sz="900" i="1" dirty="0" err="1"/>
              <a:t>start_index</a:t>
            </a:r>
            <a:r>
              <a:rPr lang="pl-PL" sz="900" dirty="0"/>
              <a:t> + 1) </a:t>
            </a:r>
            <a:r>
              <a:rPr lang="pl-PL" sz="900" dirty="0" err="1"/>
              <a:t>mod</a:t>
            </a:r>
            <a:r>
              <a:rPr lang="pl-PL" sz="900" dirty="0"/>
              <a:t> </a:t>
            </a:r>
            <a:r>
              <a:rPr lang="pl-PL" sz="900" i="1" dirty="0" err="1"/>
              <a:t>capacity</a:t>
            </a:r>
            <a:endParaRPr lang="pl-PL" sz="900" i="1" dirty="0"/>
          </a:p>
          <a:p>
            <a:pPr algn="ctr"/>
            <a:r>
              <a:rPr lang="pl-PL" sz="900" i="1" dirty="0" err="1"/>
              <a:t>size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size</a:t>
            </a:r>
            <a:r>
              <a:rPr lang="pl-PL" sz="900" dirty="0"/>
              <a:t> - 1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044EAA-E0D5-13A6-3A70-68598931D099}"/>
              </a:ext>
            </a:extLst>
          </p:cNvPr>
          <p:cNvSpPr/>
          <p:nvPr/>
        </p:nvSpPr>
        <p:spPr>
          <a:xfrm>
            <a:off x="420569" y="1568090"/>
            <a:ext cx="6503605" cy="25856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l-PL" sz="1400" dirty="0">
                <a:solidFill>
                  <a:schemeClr val="accent2"/>
                </a:solidFill>
              </a:rPr>
              <a:t>Uwaga</a:t>
            </a:r>
          </a:p>
          <a:p>
            <a:r>
              <a:rPr lang="pl-PL" dirty="0"/>
              <a:t>Struktura danych została zaimplementowana z wykorzystaniem bufora cyklicznego (jak na wykładzie).</a:t>
            </a:r>
          </a:p>
          <a:p>
            <a:endParaRPr lang="pl-PL" dirty="0"/>
          </a:p>
          <a:p>
            <a:r>
              <a:rPr lang="pl-PL" dirty="0"/>
              <a:t>Klasa ją implementująca zawiera następujące pola:</a:t>
            </a:r>
            <a:br>
              <a:rPr lang="pl-PL" dirty="0"/>
            </a:br>
            <a:r>
              <a:rPr lang="pl-PL" i="1" dirty="0" err="1"/>
              <a:t>size</a:t>
            </a:r>
            <a:r>
              <a:rPr lang="pl-PL" dirty="0"/>
              <a:t> – ilość elementów,</a:t>
            </a:r>
          </a:p>
          <a:p>
            <a:r>
              <a:rPr lang="pl-PL" i="1" dirty="0" err="1"/>
              <a:t>capacity</a:t>
            </a:r>
            <a:r>
              <a:rPr lang="pl-PL" dirty="0"/>
              <a:t> – maksymalna pojemność,</a:t>
            </a:r>
          </a:p>
          <a:p>
            <a:r>
              <a:rPr lang="pl-PL" i="1" dirty="0" err="1"/>
              <a:t>buffer</a:t>
            </a:r>
            <a:r>
              <a:rPr lang="pl-PL" dirty="0"/>
              <a:t> – tablica rozmiaru </a:t>
            </a:r>
            <a:r>
              <a:rPr lang="pl-PL" i="1" dirty="0" err="1"/>
              <a:t>capacity</a:t>
            </a:r>
            <a:r>
              <a:rPr lang="pl-PL" dirty="0"/>
              <a:t>,</a:t>
            </a:r>
            <a:endParaRPr lang="pl-PL" i="1" dirty="0"/>
          </a:p>
          <a:p>
            <a:r>
              <a:rPr lang="pl-PL" i="1" dirty="0" err="1"/>
              <a:t>start_index</a:t>
            </a:r>
            <a:r>
              <a:rPr lang="pl-PL" dirty="0"/>
              <a:t> – pozycja na której zaczynają się wartości w buforze.</a:t>
            </a:r>
          </a:p>
        </p:txBody>
      </p:sp>
      <p:sp>
        <p:nvSpPr>
          <p:cNvPr id="3" name="Decision 2">
            <a:extLst>
              <a:ext uri="{FF2B5EF4-FFF2-40B4-BE49-F238E27FC236}">
                <a16:creationId xmlns:a16="http://schemas.microsoft.com/office/drawing/2014/main" id="{24D6430B-B4E1-867B-412C-C0FBC1794C8D}"/>
              </a:ext>
            </a:extLst>
          </p:cNvPr>
          <p:cNvSpPr/>
          <p:nvPr/>
        </p:nvSpPr>
        <p:spPr>
          <a:xfrm>
            <a:off x="2679763" y="5103748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dirty="0"/>
              <a:t> &gt; 1</a:t>
            </a:r>
            <a:endParaRPr lang="pl-PL" sz="900" i="1" dirty="0"/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88C3AC21-F925-1C81-C1DE-E27D8F96A42F}"/>
              </a:ext>
            </a:extLst>
          </p:cNvPr>
          <p:cNvSpPr/>
          <p:nvPr/>
        </p:nvSpPr>
        <p:spPr>
          <a:xfrm>
            <a:off x="808401" y="5938315"/>
            <a:ext cx="2241152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endParaRPr lang="en-US" sz="900" dirty="0"/>
          </a:p>
          <a:p>
            <a:pPr algn="ctr"/>
            <a:r>
              <a:rPr lang="en-US" sz="900" dirty="0"/>
              <a:t>o </a:t>
            </a:r>
            <a:r>
              <a:rPr lang="en-US" sz="900" dirty="0" err="1"/>
              <a:t>pustej</a:t>
            </a:r>
            <a:r>
              <a:rPr lang="en-US" sz="900" dirty="0"/>
              <a:t> </a:t>
            </a:r>
            <a:r>
              <a:rPr lang="en-US" sz="900" dirty="0" err="1"/>
              <a:t>kolejce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2" name="Terminator 11">
            <a:extLst>
              <a:ext uri="{FF2B5EF4-FFF2-40B4-BE49-F238E27FC236}">
                <a16:creationId xmlns:a16="http://schemas.microsoft.com/office/drawing/2014/main" id="{6C3604A1-531C-CAC9-D06D-1B12D941898B}"/>
              </a:ext>
            </a:extLst>
          </p:cNvPr>
          <p:cNvSpPr/>
          <p:nvPr/>
        </p:nvSpPr>
        <p:spPr>
          <a:xfrm>
            <a:off x="3303650" y="7105271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C6413533-70D3-75B5-2C93-CDE8D1BFA2C2}"/>
              </a:ext>
            </a:extLst>
          </p:cNvPr>
          <p:cNvCxnSpPr>
            <a:cxnSpLocks/>
            <a:stCxn id="3" idx="3"/>
            <a:endCxn id="11" idx="0"/>
          </p:cNvCxnSpPr>
          <p:nvPr/>
        </p:nvCxnSpPr>
        <p:spPr>
          <a:xfrm>
            <a:off x="4312653" y="5266396"/>
            <a:ext cx="955521" cy="3740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54817429-5965-64BA-1069-7F5BB6A0FA1E}"/>
              </a:ext>
            </a:extLst>
          </p:cNvPr>
          <p:cNvCxnSpPr>
            <a:stCxn id="3" idx="1"/>
            <a:endCxn id="10" idx="1"/>
          </p:cNvCxnSpPr>
          <p:nvPr/>
        </p:nvCxnSpPr>
        <p:spPr>
          <a:xfrm rot="10800000" flipV="1">
            <a:off x="1928977" y="5266395"/>
            <a:ext cx="750786" cy="6719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E4536E-4EDC-CFC8-1FE5-1F449A2E84F5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>
            <a:off x="3496208" y="4904560"/>
            <a:ext cx="0" cy="199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C7EDE81B-052B-65B5-52C1-9D01F27EF91D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 rot="16200000" flipH="1">
            <a:off x="2358174" y="5816894"/>
            <a:ext cx="859179" cy="17175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A3B061A-C006-4DB9-C3BF-0B87C623C432}"/>
              </a:ext>
            </a:extLst>
          </p:cNvPr>
          <p:cNvSpPr txBox="1"/>
          <p:nvPr/>
        </p:nvSpPr>
        <p:spPr>
          <a:xfrm>
            <a:off x="2304370" y="499807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DB0ADB-9B53-1EEE-A7BE-560B4382CE8E}"/>
              </a:ext>
            </a:extLst>
          </p:cNvPr>
          <p:cNvSpPr txBox="1"/>
          <p:nvPr/>
        </p:nvSpPr>
        <p:spPr>
          <a:xfrm>
            <a:off x="4310700" y="499173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3" name="Data 12">
            <a:extLst>
              <a:ext uri="{FF2B5EF4-FFF2-40B4-BE49-F238E27FC236}">
                <a16:creationId xmlns:a16="http://schemas.microsoft.com/office/drawing/2014/main" id="{C8C2C8F7-629B-3B86-C52B-999DA0430F86}"/>
              </a:ext>
            </a:extLst>
          </p:cNvPr>
          <p:cNvSpPr/>
          <p:nvPr/>
        </p:nvSpPr>
        <p:spPr>
          <a:xfrm>
            <a:off x="4039950" y="6303558"/>
            <a:ext cx="2456446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 err="1"/>
              <a:t>dequeued_value</a:t>
            </a:r>
            <a:r>
              <a:rPr lang="en-US" sz="900" dirty="0"/>
              <a:t>.</a:t>
            </a:r>
            <a:endParaRPr lang="en-US" sz="900" i="1" dirty="0"/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D5521408-E12C-C599-B5F4-587FAF662C65}"/>
              </a:ext>
            </a:extLst>
          </p:cNvPr>
          <p:cNvCxnSpPr>
            <a:stCxn id="13" idx="4"/>
            <a:endCxn id="12" idx="0"/>
          </p:cNvCxnSpPr>
          <p:nvPr/>
        </p:nvCxnSpPr>
        <p:spPr>
          <a:xfrm rot="5400000">
            <a:off x="4180978" y="6018076"/>
            <a:ext cx="552768" cy="16216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3B58E66-9E26-EC42-F27C-72562189D9C5}"/>
              </a:ext>
            </a:extLst>
          </p:cNvPr>
          <p:cNvCxnSpPr>
            <a:stCxn id="11" idx="2"/>
            <a:endCxn id="13" idx="1"/>
          </p:cNvCxnSpPr>
          <p:nvPr/>
        </p:nvCxnSpPr>
        <p:spPr>
          <a:xfrm flipH="1">
            <a:off x="5268173" y="6092204"/>
            <a:ext cx="1" cy="211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942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0F98-C20B-83FB-1E6E-1932A67C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2F4CBA-8E6E-ADD1-187A-86AEBC309E8C}"/>
              </a:ext>
            </a:extLst>
          </p:cNvPr>
          <p:cNvSpPr txBox="1"/>
          <p:nvPr/>
        </p:nvSpPr>
        <p:spPr>
          <a:xfrm>
            <a:off x="420571" y="471043"/>
            <a:ext cx="207762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3.1. Kolejka.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5B7572-A7E0-7AFA-543B-E90BB71B9A77}"/>
              </a:ext>
            </a:extLst>
          </p:cNvPr>
          <p:cNvSpPr txBox="1"/>
          <p:nvPr/>
        </p:nvSpPr>
        <p:spPr>
          <a:xfrm>
            <a:off x="420573" y="811313"/>
            <a:ext cx="704923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Sprawdzanie elementu z przodu kolejki (</a:t>
            </a:r>
            <a:r>
              <a:rPr lang="pl-PL" sz="2700" dirty="0" err="1"/>
              <a:t>peek</a:t>
            </a:r>
            <a:r>
              <a:rPr lang="pl-PL" sz="2700" dirty="0"/>
              <a:t>).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8905EE-0754-0EB3-BFE7-5781EBA0D469}"/>
              </a:ext>
            </a:extLst>
          </p:cNvPr>
          <p:cNvSpPr/>
          <p:nvPr/>
        </p:nvSpPr>
        <p:spPr>
          <a:xfrm>
            <a:off x="420569" y="1568090"/>
            <a:ext cx="6503605" cy="25856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l-PL" sz="1400" dirty="0">
                <a:solidFill>
                  <a:schemeClr val="accent2"/>
                </a:solidFill>
              </a:rPr>
              <a:t>Uwaga</a:t>
            </a:r>
          </a:p>
          <a:p>
            <a:r>
              <a:rPr lang="pl-PL" dirty="0"/>
              <a:t>Struktura danych została zaimplementowana z wykorzystaniem bufora cyklicznego (jak na wykładzie).</a:t>
            </a:r>
          </a:p>
          <a:p>
            <a:endParaRPr lang="pl-PL" dirty="0"/>
          </a:p>
          <a:p>
            <a:r>
              <a:rPr lang="pl-PL" dirty="0"/>
              <a:t>Klasa ją implementująca zawiera następujące pola:</a:t>
            </a:r>
            <a:br>
              <a:rPr lang="pl-PL" dirty="0"/>
            </a:br>
            <a:r>
              <a:rPr lang="pl-PL" i="1" dirty="0" err="1"/>
              <a:t>size</a:t>
            </a:r>
            <a:r>
              <a:rPr lang="pl-PL" dirty="0"/>
              <a:t> – ilość elementów,</a:t>
            </a:r>
          </a:p>
          <a:p>
            <a:r>
              <a:rPr lang="pl-PL" i="1" dirty="0" err="1"/>
              <a:t>capacity</a:t>
            </a:r>
            <a:r>
              <a:rPr lang="pl-PL" dirty="0"/>
              <a:t> – maksymalna pojemność,</a:t>
            </a:r>
          </a:p>
          <a:p>
            <a:r>
              <a:rPr lang="pl-PL" i="1" dirty="0" err="1"/>
              <a:t>buffer</a:t>
            </a:r>
            <a:r>
              <a:rPr lang="pl-PL" dirty="0"/>
              <a:t> – tablica rozmiaru </a:t>
            </a:r>
            <a:r>
              <a:rPr lang="pl-PL" i="1" dirty="0" err="1"/>
              <a:t>capacity</a:t>
            </a:r>
            <a:r>
              <a:rPr lang="pl-PL" dirty="0"/>
              <a:t>,</a:t>
            </a:r>
            <a:endParaRPr lang="pl-PL" i="1" dirty="0"/>
          </a:p>
          <a:p>
            <a:r>
              <a:rPr lang="pl-PL" i="1" dirty="0" err="1"/>
              <a:t>start_index</a:t>
            </a:r>
            <a:r>
              <a:rPr lang="pl-PL" dirty="0"/>
              <a:t> – pozycja na której zaczynają się wartości w buforze.</a:t>
            </a:r>
          </a:p>
        </p:txBody>
      </p:sp>
      <p:sp>
        <p:nvSpPr>
          <p:cNvPr id="8" name="Terminator 7">
            <a:extLst>
              <a:ext uri="{FF2B5EF4-FFF2-40B4-BE49-F238E27FC236}">
                <a16:creationId xmlns:a16="http://schemas.microsoft.com/office/drawing/2014/main" id="{665A22EB-F495-51AB-9A83-A2403B5818D9}"/>
              </a:ext>
            </a:extLst>
          </p:cNvPr>
          <p:cNvSpPr/>
          <p:nvPr/>
        </p:nvSpPr>
        <p:spPr>
          <a:xfrm>
            <a:off x="3153308" y="4678246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13" name="Decision 12">
            <a:extLst>
              <a:ext uri="{FF2B5EF4-FFF2-40B4-BE49-F238E27FC236}">
                <a16:creationId xmlns:a16="http://schemas.microsoft.com/office/drawing/2014/main" id="{3246C59D-71C3-A698-372E-CF0E2247A61C}"/>
              </a:ext>
            </a:extLst>
          </p:cNvPr>
          <p:cNvSpPr/>
          <p:nvPr/>
        </p:nvSpPr>
        <p:spPr>
          <a:xfrm>
            <a:off x="2679763" y="5103748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dirty="0"/>
              <a:t> &gt; 1</a:t>
            </a:r>
            <a:endParaRPr lang="pl-PL" sz="900" i="1" dirty="0"/>
          </a:p>
        </p:txBody>
      </p:sp>
      <p:sp>
        <p:nvSpPr>
          <p:cNvPr id="15" name="Data 14">
            <a:extLst>
              <a:ext uri="{FF2B5EF4-FFF2-40B4-BE49-F238E27FC236}">
                <a16:creationId xmlns:a16="http://schemas.microsoft.com/office/drawing/2014/main" id="{16C54453-832D-483E-EE53-2D6F6B314250}"/>
              </a:ext>
            </a:extLst>
          </p:cNvPr>
          <p:cNvSpPr/>
          <p:nvPr/>
        </p:nvSpPr>
        <p:spPr>
          <a:xfrm>
            <a:off x="1135413" y="5614008"/>
            <a:ext cx="1599474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endParaRPr lang="en-US" sz="900" dirty="0"/>
          </a:p>
          <a:p>
            <a:pPr algn="ctr"/>
            <a:r>
              <a:rPr lang="en-US" sz="900" dirty="0"/>
              <a:t>o </a:t>
            </a:r>
            <a:r>
              <a:rPr lang="en-US" sz="900" dirty="0" err="1"/>
              <a:t>pustej</a:t>
            </a:r>
            <a:r>
              <a:rPr lang="en-US" sz="900" dirty="0"/>
              <a:t> </a:t>
            </a:r>
            <a:r>
              <a:rPr lang="en-US" sz="900" dirty="0" err="1"/>
              <a:t>kolejce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7" name="Terminator 16">
            <a:extLst>
              <a:ext uri="{FF2B5EF4-FFF2-40B4-BE49-F238E27FC236}">
                <a16:creationId xmlns:a16="http://schemas.microsoft.com/office/drawing/2014/main" id="{B9B01748-A0A2-DDFC-3B64-E94B8E06F8F5}"/>
              </a:ext>
            </a:extLst>
          </p:cNvPr>
          <p:cNvSpPr/>
          <p:nvPr/>
        </p:nvSpPr>
        <p:spPr>
          <a:xfrm>
            <a:off x="3153308" y="6265873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D719FB96-F308-4799-61E0-61499FC8C6ED}"/>
              </a:ext>
            </a:extLst>
          </p:cNvPr>
          <p:cNvCxnSpPr>
            <a:cxnSpLocks/>
            <a:stCxn id="13" idx="3"/>
            <a:endCxn id="30" idx="1"/>
          </p:cNvCxnSpPr>
          <p:nvPr/>
        </p:nvCxnSpPr>
        <p:spPr>
          <a:xfrm>
            <a:off x="4312653" y="5266396"/>
            <a:ext cx="955521" cy="39645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F657FC8-06F8-4E0D-E852-CF3887C77583}"/>
              </a:ext>
            </a:extLst>
          </p:cNvPr>
          <p:cNvCxnSpPr>
            <a:cxnSpLocks/>
            <a:stCxn id="13" idx="1"/>
            <a:endCxn id="15" idx="1"/>
          </p:cNvCxnSpPr>
          <p:nvPr/>
        </p:nvCxnSpPr>
        <p:spPr>
          <a:xfrm rot="10800000" flipV="1">
            <a:off x="1935151" y="5266396"/>
            <a:ext cx="744613" cy="3476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0C69B9D-F96F-47E7-4039-A501D66E02E0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3496208" y="4904560"/>
            <a:ext cx="0" cy="199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803EDEAD-2FBE-F970-D4DA-500F63FBEDDC}"/>
              </a:ext>
            </a:extLst>
          </p:cNvPr>
          <p:cNvCxnSpPr>
            <a:cxnSpLocks/>
            <a:stCxn id="15" idx="4"/>
            <a:endCxn id="17" idx="0"/>
          </p:cNvCxnSpPr>
          <p:nvPr/>
        </p:nvCxnSpPr>
        <p:spPr>
          <a:xfrm rot="16200000" flipH="1">
            <a:off x="2543635" y="5313300"/>
            <a:ext cx="344088" cy="15610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ECCCFDA-2793-DA6A-0A6C-F6642FC78F15}"/>
              </a:ext>
            </a:extLst>
          </p:cNvPr>
          <p:cNvSpPr txBox="1"/>
          <p:nvPr/>
        </p:nvSpPr>
        <p:spPr>
          <a:xfrm>
            <a:off x="2304370" y="499807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468006-EF38-E7B1-A1F5-360450AD87ED}"/>
              </a:ext>
            </a:extLst>
          </p:cNvPr>
          <p:cNvSpPr txBox="1"/>
          <p:nvPr/>
        </p:nvSpPr>
        <p:spPr>
          <a:xfrm>
            <a:off x="4310700" y="499173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30" name="Data 29">
            <a:extLst>
              <a:ext uri="{FF2B5EF4-FFF2-40B4-BE49-F238E27FC236}">
                <a16:creationId xmlns:a16="http://schemas.microsoft.com/office/drawing/2014/main" id="{6FC2E69B-DC88-2EFB-E6FF-07D06F205145}"/>
              </a:ext>
            </a:extLst>
          </p:cNvPr>
          <p:cNvSpPr/>
          <p:nvPr/>
        </p:nvSpPr>
        <p:spPr>
          <a:xfrm>
            <a:off x="4073203" y="5662853"/>
            <a:ext cx="2389942" cy="21009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buffer[</a:t>
            </a:r>
            <a:r>
              <a:rPr lang="en-US" sz="900" dirty="0" err="1"/>
              <a:t>start</a:t>
            </a:r>
            <a:r>
              <a:rPr lang="en-US" sz="900" i="1" dirty="0" err="1"/>
              <a:t>_index</a:t>
            </a:r>
            <a:r>
              <a:rPr lang="en-US" sz="900" dirty="0"/>
              <a:t>].</a:t>
            </a:r>
            <a:endParaRPr lang="en-US" sz="900" i="1" dirty="0"/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2A2B901F-B393-FCAB-2986-20AB7B13E529}"/>
              </a:ext>
            </a:extLst>
          </p:cNvPr>
          <p:cNvCxnSpPr>
            <a:cxnSpLocks/>
            <a:stCxn id="30" idx="4"/>
            <a:endCxn id="17" idx="0"/>
          </p:cNvCxnSpPr>
          <p:nvPr/>
        </p:nvCxnSpPr>
        <p:spPr>
          <a:xfrm rot="5400000">
            <a:off x="4185726" y="5183425"/>
            <a:ext cx="392930" cy="17719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29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1265</TotalTime>
  <Words>294</Words>
  <Application>Microsoft Macintosh PowerPoint</Application>
  <PresentationFormat>Custom</PresentationFormat>
  <Paragraphs>56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10</cp:revision>
  <dcterms:created xsi:type="dcterms:W3CDTF">2025-11-30T19:03:59Z</dcterms:created>
  <dcterms:modified xsi:type="dcterms:W3CDTF">2026-01-02T12:55:07Z</dcterms:modified>
</cp:coreProperties>
</file>