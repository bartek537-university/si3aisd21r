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8" r:id="rId1"/>
  </p:sldMasterIdLst>
  <p:sldIdLst>
    <p:sldId id="257" r:id="rId2"/>
  </p:sldIdLst>
  <p:sldSz cx="22860000" cy="1828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89"/>
    <p:restoredTop sz="94687"/>
  </p:normalViewPr>
  <p:slideViewPr>
    <p:cSldViewPr snapToGrid="0">
      <p:cViewPr>
        <p:scale>
          <a:sx n="83" d="100"/>
          <a:sy n="83" d="100"/>
        </p:scale>
        <p:origin x="1872" y="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2992968"/>
            <a:ext cx="19431000" cy="6366933"/>
          </a:xfrm>
        </p:spPr>
        <p:txBody>
          <a:bodyPr anchor="b"/>
          <a:lstStyle>
            <a:lvl1pPr algn="ctr"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57500" y="9605435"/>
            <a:ext cx="17145000" cy="4415365"/>
          </a:xfrm>
        </p:spPr>
        <p:txBody>
          <a:bodyPr/>
          <a:lstStyle>
            <a:lvl1pPr marL="0" indent="0" algn="ctr">
              <a:buNone/>
              <a:defRPr sz="6000"/>
            </a:lvl1pPr>
            <a:lvl2pPr marL="1143000" indent="0" algn="ctr">
              <a:buNone/>
              <a:defRPr sz="5000"/>
            </a:lvl2pPr>
            <a:lvl3pPr marL="2286000" indent="0" algn="ctr">
              <a:buNone/>
              <a:defRPr sz="4500"/>
            </a:lvl3pPr>
            <a:lvl4pPr marL="3429000" indent="0" algn="ctr">
              <a:buNone/>
              <a:defRPr sz="4000"/>
            </a:lvl4pPr>
            <a:lvl5pPr marL="4572000" indent="0" algn="ctr">
              <a:buNone/>
              <a:defRPr sz="4000"/>
            </a:lvl5pPr>
            <a:lvl6pPr marL="5715000" indent="0" algn="ctr">
              <a:buNone/>
              <a:defRPr sz="4000"/>
            </a:lvl6pPr>
            <a:lvl7pPr marL="6858000" indent="0" algn="ctr">
              <a:buNone/>
              <a:defRPr sz="4000"/>
            </a:lvl7pPr>
            <a:lvl8pPr marL="8001000" indent="0" algn="ctr">
              <a:buNone/>
              <a:defRPr sz="4000"/>
            </a:lvl8pPr>
            <a:lvl9pPr marL="9144000" indent="0" algn="ctr">
              <a:buNone/>
              <a:defRPr sz="4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84765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26561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720" y="4559305"/>
            <a:ext cx="19716750" cy="7607299"/>
          </a:xfrm>
        </p:spPr>
        <p:txBody>
          <a:bodyPr anchor="b"/>
          <a:lstStyle>
            <a:lvl1pPr>
              <a:defRPr sz="1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9720" y="12238572"/>
            <a:ext cx="19716750" cy="4000499"/>
          </a:xfrm>
        </p:spPr>
        <p:txBody>
          <a:bodyPr/>
          <a:lstStyle>
            <a:lvl1pPr marL="0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1pPr>
            <a:lvl2pPr marL="1143000" indent="0">
              <a:buNone/>
              <a:defRPr sz="5000">
                <a:solidFill>
                  <a:schemeClr val="tx1">
                    <a:tint val="82000"/>
                  </a:schemeClr>
                </a:solidFill>
              </a:defRPr>
            </a:lvl2pPr>
            <a:lvl3pPr marL="2286000" indent="0">
              <a:buNone/>
              <a:defRPr sz="4500">
                <a:solidFill>
                  <a:schemeClr val="tx1">
                    <a:tint val="82000"/>
                  </a:schemeClr>
                </a:solidFill>
              </a:defRPr>
            </a:lvl3pPr>
            <a:lvl4pPr marL="3429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4pPr>
            <a:lvl5pPr marL="4572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5pPr>
            <a:lvl6pPr marL="5715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6pPr>
            <a:lvl7pPr marL="6858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7pPr>
            <a:lvl8pPr marL="8001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8pPr>
            <a:lvl9pPr marL="91440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228400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1625" y="4868333"/>
            <a:ext cx="97155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72875" y="4868333"/>
            <a:ext cx="9715500" cy="11603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818513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2" y="973670"/>
            <a:ext cx="19716750" cy="353483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4605" y="4483101"/>
            <a:ext cx="9670850" cy="2197099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74605" y="6680200"/>
            <a:ext cx="9670850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572876" y="4483101"/>
            <a:ext cx="9718478" cy="2197099"/>
          </a:xfrm>
        </p:spPr>
        <p:txBody>
          <a:bodyPr anchor="b"/>
          <a:lstStyle>
            <a:lvl1pPr marL="0" indent="0">
              <a:buNone/>
              <a:defRPr sz="6000" b="1"/>
            </a:lvl1pPr>
            <a:lvl2pPr marL="1143000" indent="0">
              <a:buNone/>
              <a:defRPr sz="5000" b="1"/>
            </a:lvl2pPr>
            <a:lvl3pPr marL="2286000" indent="0">
              <a:buNone/>
              <a:defRPr sz="4500" b="1"/>
            </a:lvl3pPr>
            <a:lvl4pPr marL="3429000" indent="0">
              <a:buNone/>
              <a:defRPr sz="4000" b="1"/>
            </a:lvl4pPr>
            <a:lvl5pPr marL="4572000" indent="0">
              <a:buNone/>
              <a:defRPr sz="4000" b="1"/>
            </a:lvl5pPr>
            <a:lvl6pPr marL="5715000" indent="0">
              <a:buNone/>
              <a:defRPr sz="4000" b="1"/>
            </a:lvl6pPr>
            <a:lvl7pPr marL="6858000" indent="0">
              <a:buNone/>
              <a:defRPr sz="4000" b="1"/>
            </a:lvl7pPr>
            <a:lvl8pPr marL="8001000" indent="0">
              <a:buNone/>
              <a:defRPr sz="4000" b="1"/>
            </a:lvl8pPr>
            <a:lvl9pPr marL="9144000" indent="0">
              <a:buNone/>
              <a:defRPr sz="4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572876" y="6680200"/>
            <a:ext cx="9718478" cy="98255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1136121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4966690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7481836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219200"/>
            <a:ext cx="7372945" cy="42672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18477" y="2633137"/>
            <a:ext cx="11572875" cy="12996333"/>
          </a:xfrm>
        </p:spPr>
        <p:txBody>
          <a:bodyPr/>
          <a:lstStyle>
            <a:lvl1pPr>
              <a:defRPr sz="8000"/>
            </a:lvl1pPr>
            <a:lvl2pPr>
              <a:defRPr sz="7000"/>
            </a:lvl2pPr>
            <a:lvl3pPr>
              <a:defRPr sz="6000"/>
            </a:lvl3pPr>
            <a:lvl4pPr>
              <a:defRPr sz="5000"/>
            </a:lvl4pPr>
            <a:lvl5pPr>
              <a:defRPr sz="5000"/>
            </a:lvl5pPr>
            <a:lvl6pPr>
              <a:defRPr sz="5000"/>
            </a:lvl6pPr>
            <a:lvl7pPr>
              <a:defRPr sz="5000"/>
            </a:lvl7pPr>
            <a:lvl8pPr>
              <a:defRPr sz="5000"/>
            </a:lvl8pPr>
            <a:lvl9pPr>
              <a:defRPr sz="5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5486400"/>
            <a:ext cx="7372945" cy="10164235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4120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603" y="1219200"/>
            <a:ext cx="7372945" cy="4267200"/>
          </a:xfrm>
        </p:spPr>
        <p:txBody>
          <a:bodyPr anchor="b"/>
          <a:lstStyle>
            <a:lvl1pPr>
              <a:defRPr sz="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18477" y="2633137"/>
            <a:ext cx="11572875" cy="12996333"/>
          </a:xfrm>
        </p:spPr>
        <p:txBody>
          <a:bodyPr anchor="t"/>
          <a:lstStyle>
            <a:lvl1pPr marL="0" indent="0">
              <a:buNone/>
              <a:defRPr sz="8000"/>
            </a:lvl1pPr>
            <a:lvl2pPr marL="1143000" indent="0">
              <a:buNone/>
              <a:defRPr sz="7000"/>
            </a:lvl2pPr>
            <a:lvl3pPr marL="2286000" indent="0">
              <a:buNone/>
              <a:defRPr sz="6000"/>
            </a:lvl3pPr>
            <a:lvl4pPr marL="3429000" indent="0">
              <a:buNone/>
              <a:defRPr sz="5000"/>
            </a:lvl4pPr>
            <a:lvl5pPr marL="4572000" indent="0">
              <a:buNone/>
              <a:defRPr sz="5000"/>
            </a:lvl5pPr>
            <a:lvl6pPr marL="5715000" indent="0">
              <a:buNone/>
              <a:defRPr sz="5000"/>
            </a:lvl6pPr>
            <a:lvl7pPr marL="6858000" indent="0">
              <a:buNone/>
              <a:defRPr sz="5000"/>
            </a:lvl7pPr>
            <a:lvl8pPr marL="8001000" indent="0">
              <a:buNone/>
              <a:defRPr sz="5000"/>
            </a:lvl8pPr>
            <a:lvl9pPr marL="9144000" indent="0">
              <a:buNone/>
              <a:defRPr sz="5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74603" y="5486400"/>
            <a:ext cx="7372945" cy="10164235"/>
          </a:xfrm>
        </p:spPr>
        <p:txBody>
          <a:bodyPr/>
          <a:lstStyle>
            <a:lvl1pPr marL="0" indent="0">
              <a:buNone/>
              <a:defRPr sz="4000"/>
            </a:lvl1pPr>
            <a:lvl2pPr marL="1143000" indent="0">
              <a:buNone/>
              <a:defRPr sz="3500"/>
            </a:lvl2pPr>
            <a:lvl3pPr marL="2286000" indent="0">
              <a:buNone/>
              <a:defRPr sz="3000"/>
            </a:lvl3pPr>
            <a:lvl4pPr marL="3429000" indent="0">
              <a:buNone/>
              <a:defRPr sz="2500"/>
            </a:lvl4pPr>
            <a:lvl5pPr marL="4572000" indent="0">
              <a:buNone/>
              <a:defRPr sz="2500"/>
            </a:lvl5pPr>
            <a:lvl6pPr marL="5715000" indent="0">
              <a:buNone/>
              <a:defRPr sz="2500"/>
            </a:lvl6pPr>
            <a:lvl7pPr marL="6858000" indent="0">
              <a:buNone/>
              <a:defRPr sz="2500"/>
            </a:lvl7pPr>
            <a:lvl8pPr marL="8001000" indent="0">
              <a:buNone/>
              <a:defRPr sz="2500"/>
            </a:lvl8pPr>
            <a:lvl9pPr marL="9144000" indent="0">
              <a:buNone/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85958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6150331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359189" y="973666"/>
            <a:ext cx="4929188" cy="154982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71626" y="973666"/>
            <a:ext cx="14501813" cy="154982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05665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71625" y="973670"/>
            <a:ext cx="19716750" cy="3534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625" y="4868333"/>
            <a:ext cx="19716750" cy="116035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71625" y="16950271"/>
            <a:ext cx="51435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20D1FC-2253-9541-B174-ECE369BAD33E}" type="datetimeFigureOut">
              <a:rPr lang="pl-PL" smtClean="0"/>
              <a:t>5.01.2026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572375" y="16950271"/>
            <a:ext cx="771525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144875" y="16950271"/>
            <a:ext cx="5143500" cy="973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B83955-F6F9-134B-AEA3-F38AFE876402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55228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2286000" rtl="0" eaLnBrk="1" latinLnBrk="0" hangingPunct="1">
        <a:lnSpc>
          <a:spcPct val="90000"/>
        </a:lnSpc>
        <a:spcBef>
          <a:spcPct val="0"/>
        </a:spcBef>
        <a:buNone/>
        <a:defRPr sz="11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1500" indent="-571500" algn="l" defTabSz="2286000" rtl="0" eaLnBrk="1" latinLnBrk="0" hangingPunct="1">
        <a:lnSpc>
          <a:spcPct val="90000"/>
        </a:lnSpc>
        <a:spcBef>
          <a:spcPts val="2500"/>
        </a:spcBef>
        <a:buFont typeface="Arial" panose="020B0604020202020204" pitchFamily="34" charset="0"/>
        <a:buChar char="•"/>
        <a:defRPr sz="7000" kern="1200">
          <a:solidFill>
            <a:schemeClr val="tx1"/>
          </a:solidFill>
          <a:latin typeface="+mn-lt"/>
          <a:ea typeface="+mn-ea"/>
          <a:cs typeface="+mn-cs"/>
        </a:defRPr>
      </a:lvl1pPr>
      <a:lvl2pPr marL="1714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2pPr>
      <a:lvl3pPr marL="2857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5000" kern="1200">
          <a:solidFill>
            <a:schemeClr val="tx1"/>
          </a:solidFill>
          <a:latin typeface="+mn-lt"/>
          <a:ea typeface="+mn-ea"/>
          <a:cs typeface="+mn-cs"/>
        </a:defRPr>
      </a:lvl3pPr>
      <a:lvl4pPr marL="4000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5143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6286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7429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572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715500" indent="-571500" algn="l" defTabSz="2286000" rtl="0" eaLnBrk="1" latinLnBrk="0" hangingPunct="1">
        <a:lnSpc>
          <a:spcPct val="90000"/>
        </a:lnSpc>
        <a:spcBef>
          <a:spcPts val="1250"/>
        </a:spcBef>
        <a:buFont typeface="Arial" panose="020B0604020202020204" pitchFamily="34" charset="0"/>
        <a:buChar char="•"/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1pPr>
      <a:lvl2pPr marL="1143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3pPr>
      <a:lvl4pPr marL="3429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4pPr>
      <a:lvl5pPr marL="4572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5pPr>
      <a:lvl6pPr marL="5715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6pPr>
      <a:lvl7pPr marL="6858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7pPr>
      <a:lvl8pPr marL="8001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8pPr>
      <a:lvl9pPr marL="9144000" algn="l" defTabSz="2286000" rtl="0" eaLnBrk="1" latinLnBrk="0" hangingPunct="1">
        <a:defRPr sz="4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41727B-FEF8-44B3-37B7-3FF4765D230B}"/>
              </a:ext>
            </a:extLst>
          </p:cNvPr>
          <p:cNvSpPr txBox="1"/>
          <p:nvPr/>
        </p:nvSpPr>
        <p:spPr>
          <a:xfrm>
            <a:off x="560124" y="758568"/>
            <a:ext cx="1248740" cy="34624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16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Zadanie 4.1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008E97-840D-F703-3F7B-50A11CE6F3E5}"/>
              </a:ext>
            </a:extLst>
          </p:cNvPr>
          <p:cNvSpPr txBox="1"/>
          <p:nvPr/>
        </p:nvSpPr>
        <p:spPr>
          <a:xfrm>
            <a:off x="560126" y="1098838"/>
            <a:ext cx="2465034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sz="2700" dirty="0"/>
              <a:t>Algorytm Prima</a:t>
            </a:r>
          </a:p>
        </p:txBody>
      </p:sp>
      <p:sp>
        <p:nvSpPr>
          <p:cNvPr id="6" name="Terminator 5">
            <a:extLst>
              <a:ext uri="{FF2B5EF4-FFF2-40B4-BE49-F238E27FC236}">
                <a16:creationId xmlns:a16="http://schemas.microsoft.com/office/drawing/2014/main" id="{E402C046-98F0-65EE-8D76-B5C679C100EC}"/>
              </a:ext>
            </a:extLst>
          </p:cNvPr>
          <p:cNvSpPr/>
          <p:nvPr/>
        </p:nvSpPr>
        <p:spPr>
          <a:xfrm>
            <a:off x="10555988" y="2055668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Start</a:t>
            </a:r>
          </a:p>
        </p:txBody>
      </p:sp>
      <p:sp>
        <p:nvSpPr>
          <p:cNvPr id="3" name="Data 2">
            <a:extLst>
              <a:ext uri="{FF2B5EF4-FFF2-40B4-BE49-F238E27FC236}">
                <a16:creationId xmlns:a16="http://schemas.microsoft.com/office/drawing/2014/main" id="{4A72179A-B4D9-54D5-52AA-6A4EB83957D4}"/>
              </a:ext>
            </a:extLst>
          </p:cNvPr>
          <p:cNvSpPr/>
          <p:nvPr/>
        </p:nvSpPr>
        <p:spPr>
          <a:xfrm>
            <a:off x="8757581" y="2462945"/>
            <a:ext cx="4282618" cy="216574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sz="900" dirty="0" err="1"/>
              <a:t>Wczytaj</a:t>
            </a:r>
            <a:r>
              <a:rPr lang="en-US" sz="900" dirty="0"/>
              <a:t> </a:t>
            </a:r>
            <a:r>
              <a:rPr lang="en-US" sz="900" dirty="0" err="1"/>
              <a:t>graf</a:t>
            </a:r>
            <a:r>
              <a:rPr lang="en-US" sz="900" dirty="0"/>
              <a:t> </a:t>
            </a:r>
            <a:r>
              <a:rPr lang="en-US" sz="900" dirty="0" err="1"/>
              <a:t>nieskierowany</a:t>
            </a:r>
            <a:r>
              <a:rPr lang="en-US" sz="900" dirty="0"/>
              <a:t> </a:t>
            </a:r>
            <a:r>
              <a:rPr lang="en-US" sz="900" i="1" dirty="0"/>
              <a:t>graph</a:t>
            </a:r>
            <a:r>
              <a:rPr lang="en-US" sz="900" dirty="0"/>
              <a:t> w </a:t>
            </a:r>
            <a:r>
              <a:rPr lang="en-US" sz="900" dirty="0" err="1"/>
              <a:t>postaci</a:t>
            </a:r>
            <a:r>
              <a:rPr lang="en-US" sz="900" dirty="0"/>
              <a:t> </a:t>
            </a:r>
            <a:r>
              <a:rPr lang="en-US" sz="900" dirty="0" err="1"/>
              <a:t>macierzowej</a:t>
            </a:r>
            <a:endParaRPr lang="en-US" sz="900" i="1" dirty="0"/>
          </a:p>
        </p:txBody>
      </p:sp>
      <p:sp>
        <p:nvSpPr>
          <p:cNvPr id="10" name="Process 9">
            <a:extLst>
              <a:ext uri="{FF2B5EF4-FFF2-40B4-BE49-F238E27FC236}">
                <a16:creationId xmlns:a16="http://schemas.microsoft.com/office/drawing/2014/main" id="{92607B48-BBA5-DB96-98D3-5BC2BC88C912}"/>
              </a:ext>
            </a:extLst>
          </p:cNvPr>
          <p:cNvSpPr/>
          <p:nvPr/>
        </p:nvSpPr>
        <p:spPr>
          <a:xfrm>
            <a:off x="9786515" y="2879841"/>
            <a:ext cx="2224746" cy="59836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vertex_count</a:t>
            </a:r>
            <a:r>
              <a:rPr lang="pl-PL" sz="900" dirty="0"/>
              <a:t> ← ilość wierzchołków </a:t>
            </a:r>
            <a:r>
              <a:rPr lang="pl-PL" sz="900" i="1" dirty="0" err="1"/>
              <a:t>graph</a:t>
            </a:r>
            <a:endParaRPr lang="pl-PL" sz="900" i="1" dirty="0"/>
          </a:p>
          <a:p>
            <a:pPr algn="ctr"/>
            <a:r>
              <a:rPr lang="pl-PL" sz="900" i="1" dirty="0" err="1"/>
              <a:t>weights</a:t>
            </a:r>
            <a:r>
              <a:rPr lang="pl-PL" sz="900" dirty="0"/>
              <a:t> ← tablica długości </a:t>
            </a:r>
            <a:r>
              <a:rPr lang="pl-PL" sz="900" i="1" dirty="0" err="1"/>
              <a:t>vertex_count</a:t>
            </a:r>
            <a:endParaRPr lang="pl-PL" sz="900" i="1" dirty="0"/>
          </a:p>
          <a:p>
            <a:pPr algn="ctr"/>
            <a:r>
              <a:rPr lang="pl-PL" sz="900" i="1" dirty="0" err="1"/>
              <a:t>history</a:t>
            </a:r>
            <a:r>
              <a:rPr lang="pl-PL" sz="900" dirty="0"/>
              <a:t> ← tablica długości </a:t>
            </a:r>
            <a:r>
              <a:rPr lang="pl-PL" sz="900" i="1" dirty="0" err="1"/>
              <a:t>vertex_count</a:t>
            </a:r>
            <a:endParaRPr lang="pl-PL" sz="900" i="1" dirty="0"/>
          </a:p>
          <a:p>
            <a:pPr algn="ctr"/>
            <a:r>
              <a:rPr lang="pl-PL" sz="900" i="1" dirty="0"/>
              <a:t>i</a:t>
            </a:r>
            <a:r>
              <a:rPr lang="pl-PL" sz="900" dirty="0"/>
              <a:t> ← 0</a:t>
            </a:r>
          </a:p>
        </p:txBody>
      </p:sp>
      <p:sp>
        <p:nvSpPr>
          <p:cNvPr id="12" name="Decision 11">
            <a:extLst>
              <a:ext uri="{FF2B5EF4-FFF2-40B4-BE49-F238E27FC236}">
                <a16:creationId xmlns:a16="http://schemas.microsoft.com/office/drawing/2014/main" id="{50C9729F-3E34-0AC2-64FF-B7442BC10849}"/>
              </a:ext>
            </a:extLst>
          </p:cNvPr>
          <p:cNvSpPr/>
          <p:nvPr/>
        </p:nvSpPr>
        <p:spPr>
          <a:xfrm>
            <a:off x="10155411" y="3678523"/>
            <a:ext cx="1486954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/>
              <a:t>i</a:t>
            </a:r>
            <a:r>
              <a:rPr lang="pl-PL" sz="900" dirty="0"/>
              <a:t> &lt; </a:t>
            </a:r>
            <a:r>
              <a:rPr lang="pl-PL" sz="900" i="1" dirty="0" err="1"/>
              <a:t>vertex_count</a:t>
            </a:r>
            <a:endParaRPr lang="pl-PL" sz="900" i="1" dirty="0"/>
          </a:p>
        </p:txBody>
      </p:sp>
      <p:sp>
        <p:nvSpPr>
          <p:cNvPr id="13" name="Process 12">
            <a:extLst>
              <a:ext uri="{FF2B5EF4-FFF2-40B4-BE49-F238E27FC236}">
                <a16:creationId xmlns:a16="http://schemas.microsoft.com/office/drawing/2014/main" id="{B71773AC-B58C-21CA-5570-659AF8D04F8E}"/>
              </a:ext>
            </a:extLst>
          </p:cNvPr>
          <p:cNvSpPr/>
          <p:nvPr/>
        </p:nvSpPr>
        <p:spPr>
          <a:xfrm>
            <a:off x="11642366" y="4204142"/>
            <a:ext cx="993743" cy="44956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weights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] ← ∞</a:t>
            </a:r>
          </a:p>
          <a:p>
            <a:pPr algn="ctr"/>
            <a:r>
              <a:rPr lang="pl-PL" sz="900" i="1" dirty="0" err="1"/>
              <a:t>history</a:t>
            </a:r>
            <a:r>
              <a:rPr lang="pl-PL" sz="900" dirty="0"/>
              <a:t>[</a:t>
            </a:r>
            <a:r>
              <a:rPr lang="pl-PL" sz="900" i="1" dirty="0"/>
              <a:t>i</a:t>
            </a:r>
            <a:r>
              <a:rPr lang="pl-PL" sz="900" dirty="0"/>
              <a:t>] ← brak</a:t>
            </a:r>
          </a:p>
          <a:p>
            <a:pPr algn="ctr"/>
            <a:r>
              <a:rPr lang="pl-PL" sz="900" i="1" dirty="0"/>
              <a:t>i</a:t>
            </a:r>
            <a:r>
              <a:rPr lang="pl-PL" sz="900" dirty="0"/>
              <a:t> ← </a:t>
            </a:r>
            <a:r>
              <a:rPr lang="pl-PL" sz="900" i="1" dirty="0"/>
              <a:t>i</a:t>
            </a:r>
            <a:r>
              <a:rPr lang="pl-PL" sz="900" dirty="0"/>
              <a:t> + 1</a:t>
            </a:r>
          </a:p>
        </p:txBody>
      </p:sp>
      <p:sp>
        <p:nvSpPr>
          <p:cNvPr id="14" name="Process 13">
            <a:extLst>
              <a:ext uri="{FF2B5EF4-FFF2-40B4-BE49-F238E27FC236}">
                <a16:creationId xmlns:a16="http://schemas.microsoft.com/office/drawing/2014/main" id="{59A4D207-8804-FF7E-9846-DB3C9FF444AD}"/>
              </a:ext>
            </a:extLst>
          </p:cNvPr>
          <p:cNvSpPr/>
          <p:nvPr/>
        </p:nvSpPr>
        <p:spPr>
          <a:xfrm>
            <a:off x="8561983" y="4854028"/>
            <a:ext cx="2631812" cy="32529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pending_vertices</a:t>
            </a:r>
            <a:r>
              <a:rPr lang="pl-PL" sz="900" i="1" dirty="0"/>
              <a:t> </a:t>
            </a:r>
            <a:r>
              <a:rPr lang="pl-PL" sz="900" dirty="0"/>
              <a:t>← set pojemności </a:t>
            </a:r>
            <a:r>
              <a:rPr lang="pl-PL" sz="900" i="1" dirty="0" err="1"/>
              <a:t>vertex_count</a:t>
            </a:r>
            <a:endParaRPr lang="pl-PL" sz="900" i="1" dirty="0"/>
          </a:p>
          <a:p>
            <a:pPr algn="ctr"/>
            <a:r>
              <a:rPr lang="pl-PL" sz="900" i="1" dirty="0"/>
              <a:t>i </a:t>
            </a:r>
            <a:r>
              <a:rPr lang="pl-PL" sz="900" dirty="0"/>
              <a:t>← 0</a:t>
            </a:r>
            <a:endParaRPr lang="pl-PL" sz="900" i="1" dirty="0"/>
          </a:p>
        </p:txBody>
      </p:sp>
      <p:sp>
        <p:nvSpPr>
          <p:cNvPr id="15" name="Decision 14">
            <a:extLst>
              <a:ext uri="{FF2B5EF4-FFF2-40B4-BE49-F238E27FC236}">
                <a16:creationId xmlns:a16="http://schemas.microsoft.com/office/drawing/2014/main" id="{3485FC91-F87B-0B29-C01A-996A8D3C4067}"/>
              </a:ext>
            </a:extLst>
          </p:cNvPr>
          <p:cNvSpPr/>
          <p:nvPr/>
        </p:nvSpPr>
        <p:spPr>
          <a:xfrm>
            <a:off x="9134412" y="5379646"/>
            <a:ext cx="1486954" cy="32529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/>
              <a:t>i</a:t>
            </a:r>
            <a:r>
              <a:rPr lang="pl-PL" sz="900" dirty="0"/>
              <a:t> &lt; </a:t>
            </a:r>
            <a:r>
              <a:rPr lang="pl-PL" sz="900" i="1" dirty="0" err="1"/>
              <a:t>vertex_count</a:t>
            </a:r>
            <a:endParaRPr lang="pl-PL" sz="900" i="1" dirty="0"/>
          </a:p>
        </p:txBody>
      </p:sp>
      <p:sp>
        <p:nvSpPr>
          <p:cNvPr id="17" name="Process 16">
            <a:extLst>
              <a:ext uri="{FF2B5EF4-FFF2-40B4-BE49-F238E27FC236}">
                <a16:creationId xmlns:a16="http://schemas.microsoft.com/office/drawing/2014/main" id="{BE3ECB8E-2D4C-7663-E5A4-25C4CFD52A04}"/>
              </a:ext>
            </a:extLst>
          </p:cNvPr>
          <p:cNvSpPr/>
          <p:nvPr/>
        </p:nvSpPr>
        <p:spPr>
          <a:xfrm>
            <a:off x="10621366" y="5905264"/>
            <a:ext cx="1588388" cy="32529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dirty="0"/>
              <a:t>Dodaj </a:t>
            </a:r>
            <a:r>
              <a:rPr lang="pl-PL" sz="900" i="1" dirty="0"/>
              <a:t>i</a:t>
            </a:r>
            <a:r>
              <a:rPr lang="pl-PL" sz="900" dirty="0"/>
              <a:t> do </a:t>
            </a:r>
            <a:r>
              <a:rPr lang="pl-PL" sz="900" i="1" dirty="0" err="1"/>
              <a:t>pending_vertices</a:t>
            </a:r>
            <a:endParaRPr lang="pl-PL" sz="900" i="1" dirty="0"/>
          </a:p>
          <a:p>
            <a:pPr algn="ctr"/>
            <a:r>
              <a:rPr lang="pl-PL" sz="900" i="1" dirty="0"/>
              <a:t>i </a:t>
            </a:r>
            <a:r>
              <a:rPr lang="pl-PL" sz="900" dirty="0"/>
              <a:t>← </a:t>
            </a:r>
            <a:r>
              <a:rPr lang="pl-PL" sz="900" i="1" dirty="0"/>
              <a:t>i</a:t>
            </a:r>
            <a:r>
              <a:rPr lang="pl-PL" sz="900" dirty="0"/>
              <a:t> + 1</a:t>
            </a:r>
            <a:endParaRPr lang="pl-PL" sz="900" i="1" dirty="0"/>
          </a:p>
        </p:txBody>
      </p:sp>
      <p:sp>
        <p:nvSpPr>
          <p:cNvPr id="19" name="Process 18">
            <a:extLst>
              <a:ext uri="{FF2B5EF4-FFF2-40B4-BE49-F238E27FC236}">
                <a16:creationId xmlns:a16="http://schemas.microsoft.com/office/drawing/2014/main" id="{9BC7B5FE-50B2-D237-8C35-1F034C185FC3}"/>
              </a:ext>
            </a:extLst>
          </p:cNvPr>
          <p:cNvSpPr/>
          <p:nvPr/>
        </p:nvSpPr>
        <p:spPr>
          <a:xfrm>
            <a:off x="8284844" y="6430883"/>
            <a:ext cx="1043088" cy="195117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weights</a:t>
            </a:r>
            <a:r>
              <a:rPr lang="pl-PL" sz="900" dirty="0"/>
              <a:t>[</a:t>
            </a:r>
            <a:r>
              <a:rPr lang="pl-PL" sz="900" i="1" dirty="0"/>
              <a:t>0</a:t>
            </a:r>
            <a:r>
              <a:rPr lang="pl-PL" sz="900" dirty="0"/>
              <a:t>] ← 0</a:t>
            </a:r>
            <a:endParaRPr lang="pl-PL" sz="900" i="1" dirty="0"/>
          </a:p>
        </p:txBody>
      </p:sp>
      <p:sp>
        <p:nvSpPr>
          <p:cNvPr id="21" name="Decision 20">
            <a:extLst>
              <a:ext uri="{FF2B5EF4-FFF2-40B4-BE49-F238E27FC236}">
                <a16:creationId xmlns:a16="http://schemas.microsoft.com/office/drawing/2014/main" id="{3ADA6096-6CAF-8FB6-5D65-29C9EE2D9715}"/>
              </a:ext>
            </a:extLst>
          </p:cNvPr>
          <p:cNvSpPr/>
          <p:nvPr/>
        </p:nvSpPr>
        <p:spPr>
          <a:xfrm>
            <a:off x="7734885" y="6826321"/>
            <a:ext cx="2143005" cy="488170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dirty="0"/>
              <a:t>długość </a:t>
            </a:r>
            <a:r>
              <a:rPr lang="pl-PL" sz="900" i="1" dirty="0" err="1"/>
              <a:t>pending_vertices</a:t>
            </a:r>
            <a:r>
              <a:rPr lang="pl-PL" sz="900" dirty="0"/>
              <a:t> &gt; 0</a:t>
            </a:r>
          </a:p>
        </p:txBody>
      </p:sp>
      <p:sp>
        <p:nvSpPr>
          <p:cNvPr id="22" name="Process 21">
            <a:extLst>
              <a:ext uri="{FF2B5EF4-FFF2-40B4-BE49-F238E27FC236}">
                <a16:creationId xmlns:a16="http://schemas.microsoft.com/office/drawing/2014/main" id="{D0C8CA3B-7E2B-4C24-8EC5-3064CF9D510C}"/>
              </a:ext>
            </a:extLst>
          </p:cNvPr>
          <p:cNvSpPr/>
          <p:nvPr/>
        </p:nvSpPr>
        <p:spPr>
          <a:xfrm>
            <a:off x="9827385" y="7514814"/>
            <a:ext cx="3894016" cy="43473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vertex</a:t>
            </a:r>
            <a:r>
              <a:rPr lang="pl-PL" sz="900" i="1" dirty="0"/>
              <a:t> </a:t>
            </a:r>
            <a:r>
              <a:rPr lang="pl-PL" sz="900" dirty="0"/>
              <a:t>← element z </a:t>
            </a:r>
            <a:r>
              <a:rPr lang="pl-PL" sz="900" i="1" dirty="0" err="1"/>
              <a:t>pending_vertices</a:t>
            </a:r>
            <a:r>
              <a:rPr lang="pl-PL" sz="900" dirty="0"/>
              <a:t> o najmniejszej wartości </a:t>
            </a:r>
            <a:r>
              <a:rPr lang="pl-PL" sz="900" i="1" dirty="0" err="1"/>
              <a:t>weights</a:t>
            </a:r>
            <a:r>
              <a:rPr lang="pl-PL" sz="900" dirty="0"/>
              <a:t>[</a:t>
            </a:r>
            <a:r>
              <a:rPr lang="pl-PL" sz="900" i="1" dirty="0" err="1"/>
              <a:t>vertex</a:t>
            </a:r>
            <a:r>
              <a:rPr lang="pl-PL" sz="900" dirty="0"/>
              <a:t>]</a:t>
            </a:r>
            <a:endParaRPr lang="pl-PL" sz="900" i="1" dirty="0"/>
          </a:p>
          <a:p>
            <a:pPr algn="ctr"/>
            <a:r>
              <a:rPr lang="pl-PL" sz="900" dirty="0"/>
              <a:t>Usuń wartość </a:t>
            </a:r>
            <a:r>
              <a:rPr lang="pl-PL" sz="900" i="1" dirty="0" err="1"/>
              <a:t>vertex</a:t>
            </a:r>
            <a:r>
              <a:rPr lang="pl-PL" sz="900" dirty="0"/>
              <a:t> z </a:t>
            </a:r>
            <a:r>
              <a:rPr lang="pl-PL" sz="900" i="1" dirty="0" err="1"/>
              <a:t>pending_vertices</a:t>
            </a:r>
            <a:endParaRPr lang="pl-PL" sz="900" i="1" dirty="0"/>
          </a:p>
          <a:p>
            <a:pPr algn="ctr"/>
            <a:r>
              <a:rPr lang="pl-PL" sz="900" i="1" dirty="0" err="1"/>
              <a:t>neighbor</a:t>
            </a:r>
            <a:r>
              <a:rPr lang="pl-PL" sz="900" i="1" dirty="0"/>
              <a:t> </a:t>
            </a:r>
            <a:r>
              <a:rPr lang="pl-PL" sz="900" dirty="0"/>
              <a:t>← 0</a:t>
            </a:r>
            <a:endParaRPr lang="pl-PL" sz="900" i="1" dirty="0"/>
          </a:p>
        </p:txBody>
      </p:sp>
      <p:sp>
        <p:nvSpPr>
          <p:cNvPr id="24" name="Decision 23">
            <a:extLst>
              <a:ext uri="{FF2B5EF4-FFF2-40B4-BE49-F238E27FC236}">
                <a16:creationId xmlns:a16="http://schemas.microsoft.com/office/drawing/2014/main" id="{3F5C38E5-0B5A-D8CF-A8FE-12B24D1B4AE6}"/>
              </a:ext>
            </a:extLst>
          </p:cNvPr>
          <p:cNvSpPr/>
          <p:nvPr/>
        </p:nvSpPr>
        <p:spPr>
          <a:xfrm>
            <a:off x="10806340" y="8149870"/>
            <a:ext cx="1936106" cy="366372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neighbor</a:t>
            </a:r>
            <a:r>
              <a:rPr lang="pl-PL" sz="900" dirty="0"/>
              <a:t> &lt; </a:t>
            </a:r>
            <a:r>
              <a:rPr lang="pl-PL" sz="900" i="1" dirty="0" err="1"/>
              <a:t>vertex_count</a:t>
            </a:r>
            <a:endParaRPr lang="pl-PL" sz="900" i="1" dirty="0"/>
          </a:p>
        </p:txBody>
      </p:sp>
      <p:sp>
        <p:nvSpPr>
          <p:cNvPr id="26" name="Process 25">
            <a:extLst>
              <a:ext uri="{FF2B5EF4-FFF2-40B4-BE49-F238E27FC236}">
                <a16:creationId xmlns:a16="http://schemas.microsoft.com/office/drawing/2014/main" id="{A021311F-016A-9A11-60DF-7CB6EE6D2872}"/>
              </a:ext>
            </a:extLst>
          </p:cNvPr>
          <p:cNvSpPr/>
          <p:nvPr/>
        </p:nvSpPr>
        <p:spPr>
          <a:xfrm>
            <a:off x="12742446" y="8622857"/>
            <a:ext cx="2039962" cy="226709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distance</a:t>
            </a:r>
            <a:r>
              <a:rPr lang="pl-PL" sz="900" dirty="0"/>
              <a:t> ← </a:t>
            </a:r>
            <a:r>
              <a:rPr lang="pl-PL" sz="900" i="1" dirty="0" err="1"/>
              <a:t>graph</a:t>
            </a:r>
            <a:r>
              <a:rPr lang="pl-PL" sz="900" dirty="0"/>
              <a:t>[</a:t>
            </a:r>
            <a:r>
              <a:rPr lang="pl-PL" sz="900" i="1" dirty="0" err="1"/>
              <a:t>vertex</a:t>
            </a:r>
            <a:r>
              <a:rPr lang="pl-PL" sz="900" dirty="0"/>
              <a:t>][</a:t>
            </a:r>
            <a:r>
              <a:rPr lang="pl-PL" sz="900" i="1" dirty="0" err="1"/>
              <a:t>neighbor</a:t>
            </a:r>
            <a:r>
              <a:rPr lang="pl-PL" sz="900" dirty="0"/>
              <a:t>]</a:t>
            </a:r>
            <a:endParaRPr lang="pl-PL" sz="900" i="1" dirty="0"/>
          </a:p>
        </p:txBody>
      </p:sp>
      <p:sp>
        <p:nvSpPr>
          <p:cNvPr id="27" name="Decision 26">
            <a:extLst>
              <a:ext uri="{FF2B5EF4-FFF2-40B4-BE49-F238E27FC236}">
                <a16:creationId xmlns:a16="http://schemas.microsoft.com/office/drawing/2014/main" id="{04EFB253-79B9-B6D1-592F-FE425117AB84}"/>
              </a:ext>
            </a:extLst>
          </p:cNvPr>
          <p:cNvSpPr/>
          <p:nvPr/>
        </p:nvSpPr>
        <p:spPr>
          <a:xfrm>
            <a:off x="12552868" y="9049887"/>
            <a:ext cx="2419118" cy="921058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distance</a:t>
            </a:r>
            <a:r>
              <a:rPr lang="pl-PL" sz="900" dirty="0"/>
              <a:t> &gt; 0</a:t>
            </a:r>
          </a:p>
          <a:p>
            <a:pPr algn="ctr"/>
            <a:r>
              <a:rPr lang="pl-PL" sz="900" dirty="0"/>
              <a:t>oraz</a:t>
            </a:r>
          </a:p>
          <a:p>
            <a:pPr algn="ctr"/>
            <a:r>
              <a:rPr lang="pl-PL" sz="900" i="1" dirty="0" err="1"/>
              <a:t>neighbor</a:t>
            </a:r>
            <a:r>
              <a:rPr lang="pl-PL" sz="900" dirty="0"/>
              <a:t> występuje</a:t>
            </a:r>
            <a:br>
              <a:rPr lang="pl-PL" sz="900" dirty="0"/>
            </a:br>
            <a:r>
              <a:rPr lang="pl-PL" sz="900" dirty="0"/>
              <a:t>w </a:t>
            </a:r>
            <a:r>
              <a:rPr lang="pl-PL" sz="900" i="1" dirty="0" err="1"/>
              <a:t>pending_vertices</a:t>
            </a:r>
            <a:endParaRPr lang="pl-PL" sz="900" i="1" dirty="0"/>
          </a:p>
        </p:txBody>
      </p:sp>
      <p:sp>
        <p:nvSpPr>
          <p:cNvPr id="30" name="Decision 29">
            <a:extLst>
              <a:ext uri="{FF2B5EF4-FFF2-40B4-BE49-F238E27FC236}">
                <a16:creationId xmlns:a16="http://schemas.microsoft.com/office/drawing/2014/main" id="{81E55F73-1308-E477-43C4-36486C242CF5}"/>
              </a:ext>
            </a:extLst>
          </p:cNvPr>
          <p:cNvSpPr/>
          <p:nvPr/>
        </p:nvSpPr>
        <p:spPr>
          <a:xfrm>
            <a:off x="14776061" y="10065848"/>
            <a:ext cx="1851025" cy="557326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distance</a:t>
            </a:r>
            <a:endParaRPr lang="pl-PL" sz="900" i="1" dirty="0"/>
          </a:p>
          <a:p>
            <a:pPr algn="ctr"/>
            <a:r>
              <a:rPr lang="pl-PL" sz="900" dirty="0"/>
              <a:t>&lt; </a:t>
            </a:r>
            <a:r>
              <a:rPr lang="pl-PL" sz="900" i="1" dirty="0" err="1"/>
              <a:t>weights</a:t>
            </a:r>
            <a:r>
              <a:rPr lang="pl-PL" sz="900" dirty="0"/>
              <a:t>[</a:t>
            </a:r>
            <a:r>
              <a:rPr lang="pl-PL" sz="900" i="1" dirty="0" err="1"/>
              <a:t>neighbor</a:t>
            </a:r>
            <a:r>
              <a:rPr lang="pl-PL" sz="900" dirty="0"/>
              <a:t>]</a:t>
            </a:r>
            <a:endParaRPr lang="pl-PL" sz="900" i="1" dirty="0"/>
          </a:p>
        </p:txBody>
      </p:sp>
      <p:sp>
        <p:nvSpPr>
          <p:cNvPr id="31" name="Process 30">
            <a:extLst>
              <a:ext uri="{FF2B5EF4-FFF2-40B4-BE49-F238E27FC236}">
                <a16:creationId xmlns:a16="http://schemas.microsoft.com/office/drawing/2014/main" id="{88FDE5AC-91BD-6709-24D9-3A4C68E4AF9C}"/>
              </a:ext>
            </a:extLst>
          </p:cNvPr>
          <p:cNvSpPr/>
          <p:nvPr/>
        </p:nvSpPr>
        <p:spPr>
          <a:xfrm>
            <a:off x="16627086" y="10823497"/>
            <a:ext cx="1643441" cy="388805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weights</a:t>
            </a:r>
            <a:r>
              <a:rPr lang="pl-PL" sz="900" dirty="0"/>
              <a:t>[</a:t>
            </a:r>
            <a:r>
              <a:rPr lang="pl-PL" sz="900" i="1" dirty="0" err="1"/>
              <a:t>neighbor</a:t>
            </a:r>
            <a:r>
              <a:rPr lang="pl-PL" sz="900" dirty="0"/>
              <a:t>] ← </a:t>
            </a:r>
            <a:r>
              <a:rPr lang="pl-PL" sz="900" i="1" dirty="0" err="1"/>
              <a:t>distance</a:t>
            </a:r>
            <a:endParaRPr lang="pl-PL" sz="900" i="1" dirty="0"/>
          </a:p>
          <a:p>
            <a:pPr algn="ctr"/>
            <a:r>
              <a:rPr lang="pl-PL" sz="900" i="1" dirty="0" err="1"/>
              <a:t>history</a:t>
            </a:r>
            <a:r>
              <a:rPr lang="pl-PL" sz="900" dirty="0"/>
              <a:t>[</a:t>
            </a:r>
            <a:r>
              <a:rPr lang="pl-PL" sz="900" i="1" dirty="0" err="1"/>
              <a:t>neighbor</a:t>
            </a:r>
            <a:r>
              <a:rPr lang="pl-PL" sz="900" dirty="0"/>
              <a:t>] ← </a:t>
            </a:r>
            <a:r>
              <a:rPr lang="pl-PL" sz="900" i="1" dirty="0" err="1"/>
              <a:t>vertex</a:t>
            </a:r>
            <a:endParaRPr lang="pl-PL" sz="900" i="1" dirty="0"/>
          </a:p>
        </p:txBody>
      </p:sp>
      <p:sp>
        <p:nvSpPr>
          <p:cNvPr id="34" name="Process 33">
            <a:extLst>
              <a:ext uri="{FF2B5EF4-FFF2-40B4-BE49-F238E27FC236}">
                <a16:creationId xmlns:a16="http://schemas.microsoft.com/office/drawing/2014/main" id="{52670826-43ED-7810-38C6-AA892DF02FF2}"/>
              </a:ext>
            </a:extLst>
          </p:cNvPr>
          <p:cNvSpPr/>
          <p:nvPr/>
        </p:nvSpPr>
        <p:spPr>
          <a:xfrm>
            <a:off x="3348924" y="7514590"/>
            <a:ext cx="3774073" cy="357446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edges</a:t>
            </a:r>
            <a:r>
              <a:rPr lang="pl-PL" sz="900" dirty="0"/>
              <a:t> ← tablica </a:t>
            </a:r>
            <a:r>
              <a:rPr lang="pl-PL" sz="900" dirty="0" err="1"/>
              <a:t>rozumiaru</a:t>
            </a:r>
            <a:r>
              <a:rPr lang="pl-PL" sz="900" dirty="0"/>
              <a:t> </a:t>
            </a:r>
            <a:r>
              <a:rPr lang="pl-PL" sz="900" i="1" dirty="0" err="1"/>
              <a:t>vertex_count</a:t>
            </a:r>
            <a:r>
              <a:rPr lang="pl-PL" sz="900" dirty="0"/>
              <a:t> na </a:t>
            </a:r>
            <a:r>
              <a:rPr lang="pl-PL" sz="900" i="1" dirty="0" err="1"/>
              <a:t>vertex_count</a:t>
            </a:r>
            <a:r>
              <a:rPr lang="pl-PL" sz="900" dirty="0"/>
              <a:t> wypełniona 0</a:t>
            </a:r>
          </a:p>
          <a:p>
            <a:pPr algn="ctr"/>
            <a:r>
              <a:rPr lang="pl-PL" sz="900" i="1" dirty="0" err="1"/>
              <a:t>vertex</a:t>
            </a:r>
            <a:r>
              <a:rPr lang="pl-PL" sz="900" dirty="0"/>
              <a:t> ← 0</a:t>
            </a:r>
            <a:endParaRPr lang="pl-PL" sz="900" i="1" dirty="0"/>
          </a:p>
        </p:txBody>
      </p:sp>
      <p:sp>
        <p:nvSpPr>
          <p:cNvPr id="37" name="Terminator 36">
            <a:extLst>
              <a:ext uri="{FF2B5EF4-FFF2-40B4-BE49-F238E27FC236}">
                <a16:creationId xmlns:a16="http://schemas.microsoft.com/office/drawing/2014/main" id="{1E007AA1-6347-0912-982B-AA0380FE56F6}"/>
              </a:ext>
            </a:extLst>
          </p:cNvPr>
          <p:cNvSpPr/>
          <p:nvPr/>
        </p:nvSpPr>
        <p:spPr>
          <a:xfrm>
            <a:off x="2888330" y="9215441"/>
            <a:ext cx="685800" cy="226314"/>
          </a:xfrm>
          <a:prstGeom prst="flowChartTermina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Stop</a:t>
            </a:r>
          </a:p>
        </p:txBody>
      </p:sp>
      <p:sp>
        <p:nvSpPr>
          <p:cNvPr id="38" name="Data 37">
            <a:extLst>
              <a:ext uri="{FF2B5EF4-FFF2-40B4-BE49-F238E27FC236}">
                <a16:creationId xmlns:a16="http://schemas.microsoft.com/office/drawing/2014/main" id="{4761B37D-0896-3323-B981-C28739D0C381}"/>
              </a:ext>
            </a:extLst>
          </p:cNvPr>
          <p:cNvSpPr/>
          <p:nvPr/>
        </p:nvSpPr>
        <p:spPr>
          <a:xfrm>
            <a:off x="1427902" y="8795983"/>
            <a:ext cx="3606656" cy="226314"/>
          </a:xfrm>
          <a:prstGeom prst="flowChartInputOutpu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en-US" sz="900" dirty="0" err="1"/>
              <a:t>Wypisz</a:t>
            </a:r>
            <a:r>
              <a:rPr lang="en-US" sz="900" dirty="0"/>
              <a:t> </a:t>
            </a:r>
            <a:r>
              <a:rPr lang="en-US" sz="900" dirty="0" err="1"/>
              <a:t>krawędzie</a:t>
            </a:r>
            <a:r>
              <a:rPr lang="en-US" sz="900" dirty="0"/>
              <a:t> </a:t>
            </a:r>
            <a:r>
              <a:rPr lang="en-US" sz="900" i="1" dirty="0"/>
              <a:t>edges</a:t>
            </a:r>
            <a:r>
              <a:rPr lang="en-US" sz="900" dirty="0"/>
              <a:t> w </a:t>
            </a:r>
            <a:r>
              <a:rPr lang="en-US" sz="900" dirty="0" err="1"/>
              <a:t>postaci</a:t>
            </a:r>
            <a:r>
              <a:rPr lang="en-US" sz="900" dirty="0"/>
              <a:t> </a:t>
            </a:r>
            <a:r>
              <a:rPr lang="en-US" sz="900" dirty="0" err="1"/>
              <a:t>macierzowej</a:t>
            </a:r>
            <a:endParaRPr lang="en-US" sz="900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86DEB47-0B33-AEDE-86E7-4E6F03D45EA7}"/>
              </a:ext>
            </a:extLst>
          </p:cNvPr>
          <p:cNvCxnSpPr>
            <a:cxnSpLocks/>
            <a:stCxn id="6" idx="2"/>
            <a:endCxn id="3" idx="1"/>
          </p:cNvCxnSpPr>
          <p:nvPr/>
        </p:nvCxnSpPr>
        <p:spPr>
          <a:xfrm>
            <a:off x="10898888" y="2281982"/>
            <a:ext cx="2" cy="180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2659337-3BDA-6779-3FA7-BE3B0C230313}"/>
              </a:ext>
            </a:extLst>
          </p:cNvPr>
          <p:cNvCxnSpPr>
            <a:cxnSpLocks/>
            <a:stCxn id="3" idx="4"/>
            <a:endCxn id="10" idx="0"/>
          </p:cNvCxnSpPr>
          <p:nvPr/>
        </p:nvCxnSpPr>
        <p:spPr>
          <a:xfrm flipH="1">
            <a:off x="10898888" y="2679519"/>
            <a:ext cx="2" cy="20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EEACE76-9B57-1AF2-5F43-8094E5E8EFCF}"/>
              </a:ext>
            </a:extLst>
          </p:cNvPr>
          <p:cNvCxnSpPr>
            <a:cxnSpLocks/>
            <a:stCxn id="10" idx="2"/>
            <a:endCxn id="12" idx="0"/>
          </p:cNvCxnSpPr>
          <p:nvPr/>
        </p:nvCxnSpPr>
        <p:spPr>
          <a:xfrm>
            <a:off x="10898888" y="3478201"/>
            <a:ext cx="0" cy="20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34B3F25E-2CE7-ABB8-99FD-9F23236CA8BB}"/>
              </a:ext>
            </a:extLst>
          </p:cNvPr>
          <p:cNvCxnSpPr>
            <a:stCxn id="12" idx="3"/>
            <a:endCxn id="13" idx="0"/>
          </p:cNvCxnSpPr>
          <p:nvPr/>
        </p:nvCxnSpPr>
        <p:spPr>
          <a:xfrm>
            <a:off x="11642365" y="3841171"/>
            <a:ext cx="496872" cy="3629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>
            <a:extLst>
              <a:ext uri="{FF2B5EF4-FFF2-40B4-BE49-F238E27FC236}">
                <a16:creationId xmlns:a16="http://schemas.microsoft.com/office/drawing/2014/main" id="{C7F13F0D-7D89-0EFB-50B6-EB7BEC3CCE1F}"/>
              </a:ext>
            </a:extLst>
          </p:cNvPr>
          <p:cNvCxnSpPr>
            <a:stCxn id="13" idx="2"/>
            <a:endCxn id="12" idx="0"/>
          </p:cNvCxnSpPr>
          <p:nvPr/>
        </p:nvCxnSpPr>
        <p:spPr>
          <a:xfrm rot="5400000" flipH="1">
            <a:off x="11031472" y="3545942"/>
            <a:ext cx="975183" cy="1240349"/>
          </a:xfrm>
          <a:prstGeom prst="bentConnector5">
            <a:avLst>
              <a:gd name="adj1" fmla="val -10047"/>
              <a:gd name="adj2" fmla="val -59906"/>
              <a:gd name="adj3" fmla="val 11381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Elbow Connector 59">
            <a:extLst>
              <a:ext uri="{FF2B5EF4-FFF2-40B4-BE49-F238E27FC236}">
                <a16:creationId xmlns:a16="http://schemas.microsoft.com/office/drawing/2014/main" id="{3747D0F1-F2C7-4A92-82C8-713EAA229A06}"/>
              </a:ext>
            </a:extLst>
          </p:cNvPr>
          <p:cNvCxnSpPr>
            <a:cxnSpLocks/>
            <a:stCxn id="12" idx="1"/>
            <a:endCxn id="14" idx="0"/>
          </p:cNvCxnSpPr>
          <p:nvPr/>
        </p:nvCxnSpPr>
        <p:spPr>
          <a:xfrm rot="10800000" flipV="1">
            <a:off x="9877889" y="3841171"/>
            <a:ext cx="277522" cy="10128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62478D8-9B00-02EF-B5DD-5C491176FF34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>
            <a:off x="9877889" y="5179324"/>
            <a:ext cx="0" cy="20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17AF28F3-8FD0-40AF-6253-59DD26A2773C}"/>
              </a:ext>
            </a:extLst>
          </p:cNvPr>
          <p:cNvCxnSpPr>
            <a:stCxn id="15" idx="3"/>
            <a:endCxn id="17" idx="0"/>
          </p:cNvCxnSpPr>
          <p:nvPr/>
        </p:nvCxnSpPr>
        <p:spPr>
          <a:xfrm>
            <a:off x="10621366" y="5542294"/>
            <a:ext cx="794194" cy="3629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ECA946D8-E5CF-F527-BE80-ED642A62EFF1}"/>
              </a:ext>
            </a:extLst>
          </p:cNvPr>
          <p:cNvCxnSpPr>
            <a:stCxn id="17" idx="2"/>
            <a:endCxn id="15" idx="0"/>
          </p:cNvCxnSpPr>
          <p:nvPr/>
        </p:nvCxnSpPr>
        <p:spPr>
          <a:xfrm rot="5400000" flipH="1">
            <a:off x="10221268" y="5036269"/>
            <a:ext cx="850914" cy="1537671"/>
          </a:xfrm>
          <a:prstGeom prst="bentConnector5">
            <a:avLst>
              <a:gd name="adj1" fmla="val -13432"/>
              <a:gd name="adj2" fmla="val -64030"/>
              <a:gd name="adj3" fmla="val 11535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75">
            <a:extLst>
              <a:ext uri="{FF2B5EF4-FFF2-40B4-BE49-F238E27FC236}">
                <a16:creationId xmlns:a16="http://schemas.microsoft.com/office/drawing/2014/main" id="{1CD0BCA9-FCAF-34D3-2F95-4A927B09237D}"/>
              </a:ext>
            </a:extLst>
          </p:cNvPr>
          <p:cNvCxnSpPr>
            <a:cxnSpLocks/>
            <a:stCxn id="15" idx="1"/>
            <a:endCxn id="19" idx="0"/>
          </p:cNvCxnSpPr>
          <p:nvPr/>
        </p:nvCxnSpPr>
        <p:spPr>
          <a:xfrm rot="10800000" flipV="1">
            <a:off x="8806388" y="5542293"/>
            <a:ext cx="328024" cy="88858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3EE11DDA-7A7B-AA80-4528-F1BF1BC520AB}"/>
              </a:ext>
            </a:extLst>
          </p:cNvPr>
          <p:cNvCxnSpPr>
            <a:cxnSpLocks/>
            <a:stCxn id="19" idx="2"/>
            <a:endCxn id="21" idx="0"/>
          </p:cNvCxnSpPr>
          <p:nvPr/>
        </p:nvCxnSpPr>
        <p:spPr>
          <a:xfrm>
            <a:off x="8806388" y="6626000"/>
            <a:ext cx="0" cy="2003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Elbow Connector 79">
            <a:extLst>
              <a:ext uri="{FF2B5EF4-FFF2-40B4-BE49-F238E27FC236}">
                <a16:creationId xmlns:a16="http://schemas.microsoft.com/office/drawing/2014/main" id="{DDCCB9DC-D8F7-C0A3-120E-A88068CA793E}"/>
              </a:ext>
            </a:extLst>
          </p:cNvPr>
          <p:cNvCxnSpPr>
            <a:stCxn id="21" idx="3"/>
            <a:endCxn id="22" idx="0"/>
          </p:cNvCxnSpPr>
          <p:nvPr/>
        </p:nvCxnSpPr>
        <p:spPr>
          <a:xfrm>
            <a:off x="9877889" y="7070407"/>
            <a:ext cx="1896504" cy="44440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Process 80">
            <a:extLst>
              <a:ext uri="{FF2B5EF4-FFF2-40B4-BE49-F238E27FC236}">
                <a16:creationId xmlns:a16="http://schemas.microsoft.com/office/drawing/2014/main" id="{E25BF82B-8DCF-319A-CD09-756D47E741A4}"/>
              </a:ext>
            </a:extLst>
          </p:cNvPr>
          <p:cNvSpPr/>
          <p:nvPr/>
        </p:nvSpPr>
        <p:spPr>
          <a:xfrm>
            <a:off x="13040198" y="11548147"/>
            <a:ext cx="1444459" cy="271993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neighbor</a:t>
            </a:r>
            <a:r>
              <a:rPr lang="pl-PL" sz="900" dirty="0"/>
              <a:t> ← </a:t>
            </a:r>
            <a:r>
              <a:rPr lang="pl-PL" sz="900" i="1" dirty="0" err="1"/>
              <a:t>neighbor</a:t>
            </a:r>
            <a:r>
              <a:rPr lang="pl-PL" sz="900" i="1" dirty="0"/>
              <a:t> + 1</a:t>
            </a: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0755000A-ADC3-4474-68C6-3C421423FB3C}"/>
              </a:ext>
            </a:extLst>
          </p:cNvPr>
          <p:cNvCxnSpPr>
            <a:stCxn id="22" idx="2"/>
            <a:endCxn id="24" idx="0"/>
          </p:cNvCxnSpPr>
          <p:nvPr/>
        </p:nvCxnSpPr>
        <p:spPr>
          <a:xfrm>
            <a:off x="11774393" y="7949548"/>
            <a:ext cx="0" cy="2003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568701F9-39C5-8BAD-CCED-9C6189BEE732}"/>
              </a:ext>
            </a:extLst>
          </p:cNvPr>
          <p:cNvCxnSpPr>
            <a:stCxn id="24" idx="3"/>
            <a:endCxn id="26" idx="0"/>
          </p:cNvCxnSpPr>
          <p:nvPr/>
        </p:nvCxnSpPr>
        <p:spPr>
          <a:xfrm>
            <a:off x="12742446" y="8333056"/>
            <a:ext cx="1019981" cy="28980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8C5D62D5-CA2C-E072-46B5-E96C8154C921}"/>
              </a:ext>
            </a:extLst>
          </p:cNvPr>
          <p:cNvCxnSpPr>
            <a:cxnSpLocks/>
            <a:stCxn id="26" idx="2"/>
            <a:endCxn id="27" idx="0"/>
          </p:cNvCxnSpPr>
          <p:nvPr/>
        </p:nvCxnSpPr>
        <p:spPr>
          <a:xfrm>
            <a:off x="13762427" y="8849566"/>
            <a:ext cx="0" cy="2003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23A87EB8-2369-3791-DBAA-529977EFD4C1}"/>
              </a:ext>
            </a:extLst>
          </p:cNvPr>
          <p:cNvCxnSpPr>
            <a:cxnSpLocks/>
            <a:stCxn id="27" idx="3"/>
            <a:endCxn id="30" idx="0"/>
          </p:cNvCxnSpPr>
          <p:nvPr/>
        </p:nvCxnSpPr>
        <p:spPr>
          <a:xfrm>
            <a:off x="14971986" y="9510416"/>
            <a:ext cx="729588" cy="55543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88FC6D0A-3AF2-B4A0-264E-1464535BC237}"/>
              </a:ext>
            </a:extLst>
          </p:cNvPr>
          <p:cNvCxnSpPr>
            <a:cxnSpLocks/>
            <a:stCxn id="30" idx="3"/>
            <a:endCxn id="31" idx="0"/>
          </p:cNvCxnSpPr>
          <p:nvPr/>
        </p:nvCxnSpPr>
        <p:spPr>
          <a:xfrm>
            <a:off x="16627086" y="10344511"/>
            <a:ext cx="821721" cy="4789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Elbow Connector 102">
            <a:extLst>
              <a:ext uri="{FF2B5EF4-FFF2-40B4-BE49-F238E27FC236}">
                <a16:creationId xmlns:a16="http://schemas.microsoft.com/office/drawing/2014/main" id="{1ADC51E3-5484-B403-5CEC-71DCC0C32088}"/>
              </a:ext>
            </a:extLst>
          </p:cNvPr>
          <p:cNvCxnSpPr>
            <a:cxnSpLocks/>
            <a:stCxn id="31" idx="2"/>
            <a:endCxn id="81" idx="0"/>
          </p:cNvCxnSpPr>
          <p:nvPr/>
        </p:nvCxnSpPr>
        <p:spPr>
          <a:xfrm rot="5400000">
            <a:off x="15437696" y="9537035"/>
            <a:ext cx="335845" cy="368637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Elbow Connector 104">
            <a:extLst>
              <a:ext uri="{FF2B5EF4-FFF2-40B4-BE49-F238E27FC236}">
                <a16:creationId xmlns:a16="http://schemas.microsoft.com/office/drawing/2014/main" id="{50008BAC-A4C9-3FFB-B102-953333566C85}"/>
              </a:ext>
            </a:extLst>
          </p:cNvPr>
          <p:cNvCxnSpPr>
            <a:stCxn id="30" idx="1"/>
            <a:endCxn id="81" idx="0"/>
          </p:cNvCxnSpPr>
          <p:nvPr/>
        </p:nvCxnSpPr>
        <p:spPr>
          <a:xfrm rot="10800000" flipV="1">
            <a:off x="13762429" y="10344511"/>
            <a:ext cx="1013633" cy="120363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CC1FEC42-DA27-91F4-2E1F-9304F5FC500E}"/>
              </a:ext>
            </a:extLst>
          </p:cNvPr>
          <p:cNvCxnSpPr>
            <a:cxnSpLocks/>
            <a:stCxn id="27" idx="1"/>
            <a:endCxn id="81" idx="0"/>
          </p:cNvCxnSpPr>
          <p:nvPr/>
        </p:nvCxnSpPr>
        <p:spPr>
          <a:xfrm rot="10800000" flipH="1" flipV="1">
            <a:off x="12552868" y="9510415"/>
            <a:ext cx="1209560" cy="2037731"/>
          </a:xfrm>
          <a:prstGeom prst="bentConnector4">
            <a:avLst>
              <a:gd name="adj1" fmla="val -34974"/>
              <a:gd name="adj2" fmla="val 917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52D8FEE3-D3A9-0CC6-A212-7B2CFCFFED3E}"/>
              </a:ext>
            </a:extLst>
          </p:cNvPr>
          <p:cNvCxnSpPr>
            <a:stCxn id="81" idx="2"/>
            <a:endCxn id="24" idx="0"/>
          </p:cNvCxnSpPr>
          <p:nvPr/>
        </p:nvCxnSpPr>
        <p:spPr>
          <a:xfrm rot="5400000" flipH="1">
            <a:off x="10933276" y="8990988"/>
            <a:ext cx="3670270" cy="1988035"/>
          </a:xfrm>
          <a:prstGeom prst="bentConnector5">
            <a:avLst>
              <a:gd name="adj1" fmla="val -4958"/>
              <a:gd name="adj2" fmla="val -263501"/>
              <a:gd name="adj3" fmla="val 10353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A9AA68E4-13F6-39F4-15B2-143D9C419C90}"/>
              </a:ext>
            </a:extLst>
          </p:cNvPr>
          <p:cNvCxnSpPr>
            <a:cxnSpLocks/>
          </p:cNvCxnSpPr>
          <p:nvPr/>
        </p:nvCxnSpPr>
        <p:spPr>
          <a:xfrm>
            <a:off x="10806340" y="8333057"/>
            <a:ext cx="8619750" cy="3818035"/>
          </a:xfrm>
          <a:prstGeom prst="bentConnector3">
            <a:avLst>
              <a:gd name="adj1" fmla="val -5675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Elbow Connector 143">
            <a:extLst>
              <a:ext uri="{FF2B5EF4-FFF2-40B4-BE49-F238E27FC236}">
                <a16:creationId xmlns:a16="http://schemas.microsoft.com/office/drawing/2014/main" id="{D84EF46C-CD06-EA21-3F2F-179EFAF8CD97}"/>
              </a:ext>
            </a:extLst>
          </p:cNvPr>
          <p:cNvCxnSpPr>
            <a:cxnSpLocks/>
            <a:endCxn id="21" idx="0"/>
          </p:cNvCxnSpPr>
          <p:nvPr/>
        </p:nvCxnSpPr>
        <p:spPr>
          <a:xfrm rot="10800000">
            <a:off x="8806389" y="6826321"/>
            <a:ext cx="10619703" cy="5324770"/>
          </a:xfrm>
          <a:prstGeom prst="bentConnector4">
            <a:avLst>
              <a:gd name="adj1" fmla="val 58"/>
              <a:gd name="adj2" fmla="val 10245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Elbow Connector 179">
            <a:extLst>
              <a:ext uri="{FF2B5EF4-FFF2-40B4-BE49-F238E27FC236}">
                <a16:creationId xmlns:a16="http://schemas.microsoft.com/office/drawing/2014/main" id="{415FDB28-36D4-C0F1-D7D6-2A8732496CBF}"/>
              </a:ext>
            </a:extLst>
          </p:cNvPr>
          <p:cNvCxnSpPr>
            <a:cxnSpLocks/>
            <a:stCxn id="21" idx="1"/>
            <a:endCxn id="34" idx="0"/>
          </p:cNvCxnSpPr>
          <p:nvPr/>
        </p:nvCxnSpPr>
        <p:spPr>
          <a:xfrm rot="10800000" flipV="1">
            <a:off x="5235961" y="7070406"/>
            <a:ext cx="2498924" cy="44418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34167081-8F97-E43B-2E57-C81945E80FDA}"/>
              </a:ext>
            </a:extLst>
          </p:cNvPr>
          <p:cNvSpPr txBox="1"/>
          <p:nvPr/>
        </p:nvSpPr>
        <p:spPr>
          <a:xfrm>
            <a:off x="11642364" y="3578362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97210E7-BBAD-EA6E-49EE-C2549EA9C172}"/>
              </a:ext>
            </a:extLst>
          </p:cNvPr>
          <p:cNvSpPr txBox="1"/>
          <p:nvPr/>
        </p:nvSpPr>
        <p:spPr>
          <a:xfrm>
            <a:off x="10566483" y="5274664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CA1E4446-B6C9-4A27-8C7F-BA9B62010840}"/>
              </a:ext>
            </a:extLst>
          </p:cNvPr>
          <p:cNvSpPr txBox="1"/>
          <p:nvPr/>
        </p:nvSpPr>
        <p:spPr>
          <a:xfrm>
            <a:off x="9827385" y="6790141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8C486470-0A37-5641-8692-14B234E37C28}"/>
              </a:ext>
            </a:extLst>
          </p:cNvPr>
          <p:cNvSpPr txBox="1"/>
          <p:nvPr/>
        </p:nvSpPr>
        <p:spPr>
          <a:xfrm>
            <a:off x="12685477" y="8025278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2F947038-0850-B805-2CB0-AEBC872D87E4}"/>
              </a:ext>
            </a:extLst>
          </p:cNvPr>
          <p:cNvSpPr txBox="1"/>
          <p:nvPr/>
        </p:nvSpPr>
        <p:spPr>
          <a:xfrm>
            <a:off x="14913367" y="9198120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8FB92AD5-28D0-47AF-088D-A92DB59CAA0B}"/>
              </a:ext>
            </a:extLst>
          </p:cNvPr>
          <p:cNvSpPr txBox="1"/>
          <p:nvPr/>
        </p:nvSpPr>
        <p:spPr>
          <a:xfrm>
            <a:off x="16610128" y="10048714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8BFFEE9A-01D0-E90A-F45A-33A1A4DCEEBF}"/>
              </a:ext>
            </a:extLst>
          </p:cNvPr>
          <p:cNvSpPr txBox="1"/>
          <p:nvPr/>
        </p:nvSpPr>
        <p:spPr>
          <a:xfrm>
            <a:off x="14354985" y="10020537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6E67DFBD-C805-F546-C753-2C7AFA3B4CB4}"/>
              </a:ext>
            </a:extLst>
          </p:cNvPr>
          <p:cNvSpPr txBox="1"/>
          <p:nvPr/>
        </p:nvSpPr>
        <p:spPr>
          <a:xfrm>
            <a:off x="12177197" y="9198119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C68B407B-A447-8E1C-8323-F59F84E6319A}"/>
              </a:ext>
            </a:extLst>
          </p:cNvPr>
          <p:cNvSpPr txBox="1"/>
          <p:nvPr/>
        </p:nvSpPr>
        <p:spPr>
          <a:xfrm>
            <a:off x="10387330" y="8027941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C71D3A0B-0B7D-ED37-D720-781AACE4BE19}"/>
              </a:ext>
            </a:extLst>
          </p:cNvPr>
          <p:cNvSpPr txBox="1"/>
          <p:nvPr/>
        </p:nvSpPr>
        <p:spPr>
          <a:xfrm>
            <a:off x="7297288" y="6771954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110FB2D-657F-927E-F1E0-EFF4F4337AD4}"/>
              </a:ext>
            </a:extLst>
          </p:cNvPr>
          <p:cNvSpPr txBox="1"/>
          <p:nvPr/>
        </p:nvSpPr>
        <p:spPr>
          <a:xfrm>
            <a:off x="8684653" y="5232188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2D2866FC-5600-9FEA-2BA8-63487176344C}"/>
              </a:ext>
            </a:extLst>
          </p:cNvPr>
          <p:cNvSpPr txBox="1"/>
          <p:nvPr/>
        </p:nvSpPr>
        <p:spPr>
          <a:xfrm>
            <a:off x="9693646" y="3540023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73" name="Decision 72">
            <a:extLst>
              <a:ext uri="{FF2B5EF4-FFF2-40B4-BE49-F238E27FC236}">
                <a16:creationId xmlns:a16="http://schemas.microsoft.com/office/drawing/2014/main" id="{AEDA4760-E17D-E001-378E-CCF24F19FA50}"/>
              </a:ext>
            </a:extLst>
          </p:cNvPr>
          <p:cNvSpPr/>
          <p:nvPr/>
        </p:nvSpPr>
        <p:spPr>
          <a:xfrm>
            <a:off x="4361198" y="8065178"/>
            <a:ext cx="1749524" cy="366372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vertex</a:t>
            </a:r>
            <a:r>
              <a:rPr lang="pl-PL" sz="900" dirty="0"/>
              <a:t> &lt; </a:t>
            </a:r>
            <a:r>
              <a:rPr lang="pl-PL" sz="900" i="1" dirty="0" err="1"/>
              <a:t>vertex_count</a:t>
            </a:r>
            <a:endParaRPr lang="pl-PL" sz="900" i="1" dirty="0"/>
          </a:p>
        </p:txBody>
      </p:sp>
      <p:sp>
        <p:nvSpPr>
          <p:cNvPr id="74" name="Process 73">
            <a:extLst>
              <a:ext uri="{FF2B5EF4-FFF2-40B4-BE49-F238E27FC236}">
                <a16:creationId xmlns:a16="http://schemas.microsoft.com/office/drawing/2014/main" id="{A474ED57-7A5C-6A5E-6145-AD96B1039F28}"/>
              </a:ext>
            </a:extLst>
          </p:cNvPr>
          <p:cNvSpPr/>
          <p:nvPr/>
        </p:nvSpPr>
        <p:spPr>
          <a:xfrm>
            <a:off x="6065688" y="8624692"/>
            <a:ext cx="1467827" cy="204807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weight</a:t>
            </a:r>
            <a:r>
              <a:rPr lang="pl-PL" sz="900" dirty="0"/>
              <a:t> ← </a:t>
            </a:r>
            <a:r>
              <a:rPr lang="pl-PL" sz="900" i="1" dirty="0" err="1"/>
              <a:t>weights</a:t>
            </a:r>
            <a:r>
              <a:rPr lang="pl-PL" sz="900" dirty="0"/>
              <a:t>[</a:t>
            </a:r>
            <a:r>
              <a:rPr lang="pl-PL" sz="900" i="1" dirty="0" err="1"/>
              <a:t>vertex</a:t>
            </a:r>
            <a:r>
              <a:rPr lang="pl-PL" sz="900" dirty="0"/>
              <a:t>]</a:t>
            </a:r>
          </a:p>
        </p:txBody>
      </p:sp>
      <p:sp>
        <p:nvSpPr>
          <p:cNvPr id="75" name="Decision 74">
            <a:extLst>
              <a:ext uri="{FF2B5EF4-FFF2-40B4-BE49-F238E27FC236}">
                <a16:creationId xmlns:a16="http://schemas.microsoft.com/office/drawing/2014/main" id="{50910B65-38AB-99E9-348E-69CCCDE38B54}"/>
              </a:ext>
            </a:extLst>
          </p:cNvPr>
          <p:cNvSpPr/>
          <p:nvPr/>
        </p:nvSpPr>
        <p:spPr>
          <a:xfrm>
            <a:off x="6127220" y="9022641"/>
            <a:ext cx="1344762" cy="366372"/>
          </a:xfrm>
          <a:prstGeom prst="flowChartDecision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rtlCol="0" anchor="ctr"/>
          <a:lstStyle/>
          <a:p>
            <a:pPr algn="ctr"/>
            <a:r>
              <a:rPr lang="pl-PL" sz="900" i="1" dirty="0" err="1"/>
              <a:t>weight</a:t>
            </a:r>
            <a:r>
              <a:rPr lang="pl-PL" sz="900" dirty="0"/>
              <a:t> &lt;&gt; ∞</a:t>
            </a:r>
            <a:endParaRPr lang="pl-PL" sz="900" i="1" dirty="0"/>
          </a:p>
        </p:txBody>
      </p:sp>
      <p:sp>
        <p:nvSpPr>
          <p:cNvPr id="77" name="Process 76">
            <a:extLst>
              <a:ext uri="{FF2B5EF4-FFF2-40B4-BE49-F238E27FC236}">
                <a16:creationId xmlns:a16="http://schemas.microsoft.com/office/drawing/2014/main" id="{5BB9B317-C125-948E-13A0-6B9B997E7E41}"/>
              </a:ext>
            </a:extLst>
          </p:cNvPr>
          <p:cNvSpPr/>
          <p:nvPr/>
        </p:nvSpPr>
        <p:spPr>
          <a:xfrm>
            <a:off x="7473482" y="9514046"/>
            <a:ext cx="1915136" cy="466559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dirty="0" err="1"/>
              <a:t>neighbor</a:t>
            </a:r>
            <a:r>
              <a:rPr lang="pl-PL" sz="900" dirty="0"/>
              <a:t> ← </a:t>
            </a:r>
            <a:r>
              <a:rPr lang="pl-PL" sz="900" i="1" dirty="0" err="1"/>
              <a:t>history</a:t>
            </a:r>
            <a:r>
              <a:rPr lang="pl-PL" sz="900" dirty="0"/>
              <a:t>[</a:t>
            </a:r>
            <a:r>
              <a:rPr lang="pl-PL" sz="900" i="1" dirty="0" err="1"/>
              <a:t>vertex</a:t>
            </a:r>
            <a:r>
              <a:rPr lang="pl-PL" sz="900" dirty="0"/>
              <a:t>]</a:t>
            </a:r>
          </a:p>
          <a:p>
            <a:pPr algn="ctr"/>
            <a:r>
              <a:rPr lang="pl-PL" sz="900" i="1" dirty="0" err="1"/>
              <a:t>edges</a:t>
            </a:r>
            <a:r>
              <a:rPr lang="pl-PL" sz="900" dirty="0"/>
              <a:t>[</a:t>
            </a:r>
            <a:r>
              <a:rPr lang="pl-PL" sz="900" i="1" dirty="0" err="1"/>
              <a:t>vertex</a:t>
            </a:r>
            <a:r>
              <a:rPr lang="pl-PL" sz="900" dirty="0"/>
              <a:t>][</a:t>
            </a:r>
            <a:r>
              <a:rPr lang="pl-PL" sz="900" i="1" dirty="0" err="1"/>
              <a:t>neighbor</a:t>
            </a:r>
            <a:r>
              <a:rPr lang="pl-PL" sz="900" dirty="0"/>
              <a:t>] ← </a:t>
            </a:r>
            <a:r>
              <a:rPr lang="pl-PL" sz="900" i="1" dirty="0" err="1"/>
              <a:t>weight</a:t>
            </a:r>
            <a:endParaRPr lang="pl-PL" sz="900" i="1" dirty="0"/>
          </a:p>
          <a:p>
            <a:pPr algn="ctr"/>
            <a:r>
              <a:rPr lang="pl-PL" sz="900" i="1" dirty="0" err="1"/>
              <a:t>edges</a:t>
            </a:r>
            <a:r>
              <a:rPr lang="pl-PL" sz="900" dirty="0"/>
              <a:t>[</a:t>
            </a:r>
            <a:r>
              <a:rPr lang="pl-PL" sz="900" i="1" dirty="0" err="1"/>
              <a:t>neighbor</a:t>
            </a:r>
            <a:r>
              <a:rPr lang="pl-PL" sz="900" dirty="0"/>
              <a:t>][</a:t>
            </a:r>
            <a:r>
              <a:rPr lang="pl-PL" sz="900" i="1" dirty="0" err="1"/>
              <a:t>vertex</a:t>
            </a:r>
            <a:r>
              <a:rPr lang="pl-PL" sz="900" dirty="0"/>
              <a:t>] ← </a:t>
            </a:r>
            <a:r>
              <a:rPr lang="pl-PL" sz="900" i="1" dirty="0" err="1"/>
              <a:t>weight</a:t>
            </a:r>
            <a:endParaRPr lang="pl-PL" sz="900" i="1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BAC59B36-0D42-7C0F-5A2A-429C66DBBAF4}"/>
              </a:ext>
            </a:extLst>
          </p:cNvPr>
          <p:cNvCxnSpPr>
            <a:stCxn id="34" idx="2"/>
            <a:endCxn id="73" idx="0"/>
          </p:cNvCxnSpPr>
          <p:nvPr/>
        </p:nvCxnSpPr>
        <p:spPr>
          <a:xfrm flipH="1">
            <a:off x="5235960" y="7872036"/>
            <a:ext cx="1" cy="193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rocess 96">
            <a:extLst>
              <a:ext uri="{FF2B5EF4-FFF2-40B4-BE49-F238E27FC236}">
                <a16:creationId xmlns:a16="http://schemas.microsoft.com/office/drawing/2014/main" id="{28465AFD-1DCB-9080-682E-B6168300777C}"/>
              </a:ext>
            </a:extLst>
          </p:cNvPr>
          <p:cNvSpPr/>
          <p:nvPr/>
        </p:nvSpPr>
        <p:spPr>
          <a:xfrm>
            <a:off x="6004155" y="10322638"/>
            <a:ext cx="1467827" cy="204807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l-PL" sz="900" i="1" dirty="0" err="1"/>
              <a:t>vertex</a:t>
            </a:r>
            <a:r>
              <a:rPr lang="pl-PL" sz="900" dirty="0"/>
              <a:t> ← </a:t>
            </a:r>
            <a:r>
              <a:rPr lang="pl-PL" sz="900" i="1" dirty="0" err="1"/>
              <a:t>vertex</a:t>
            </a:r>
            <a:r>
              <a:rPr lang="pl-PL" sz="900" dirty="0"/>
              <a:t> + 1</a:t>
            </a:r>
          </a:p>
        </p:txBody>
      </p: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DD5B8FEF-E8F9-7193-D14E-C4469AF94DE7}"/>
              </a:ext>
            </a:extLst>
          </p:cNvPr>
          <p:cNvCxnSpPr>
            <a:stCxn id="73" idx="3"/>
            <a:endCxn id="74" idx="0"/>
          </p:cNvCxnSpPr>
          <p:nvPr/>
        </p:nvCxnSpPr>
        <p:spPr>
          <a:xfrm>
            <a:off x="6110722" y="8248364"/>
            <a:ext cx="688880" cy="37632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2F3C6D46-1752-1F5B-A09C-39CF7B6B2705}"/>
              </a:ext>
            </a:extLst>
          </p:cNvPr>
          <p:cNvCxnSpPr>
            <a:stCxn id="74" idx="2"/>
            <a:endCxn id="75" idx="0"/>
          </p:cNvCxnSpPr>
          <p:nvPr/>
        </p:nvCxnSpPr>
        <p:spPr>
          <a:xfrm flipH="1">
            <a:off x="6799601" y="8829499"/>
            <a:ext cx="1" cy="193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93642913-A6B7-CC23-B4E4-24A361307D40}"/>
              </a:ext>
            </a:extLst>
          </p:cNvPr>
          <p:cNvCxnSpPr>
            <a:stCxn id="75" idx="3"/>
            <a:endCxn id="77" idx="0"/>
          </p:cNvCxnSpPr>
          <p:nvPr/>
        </p:nvCxnSpPr>
        <p:spPr>
          <a:xfrm>
            <a:off x="7471982" y="9205827"/>
            <a:ext cx="959068" cy="3082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Elbow Connector 110">
            <a:extLst>
              <a:ext uri="{FF2B5EF4-FFF2-40B4-BE49-F238E27FC236}">
                <a16:creationId xmlns:a16="http://schemas.microsoft.com/office/drawing/2014/main" id="{A35D35E1-E72E-6F0E-5521-F8AE30F384E5}"/>
              </a:ext>
            </a:extLst>
          </p:cNvPr>
          <p:cNvCxnSpPr>
            <a:stCxn id="77" idx="2"/>
            <a:endCxn id="97" idx="0"/>
          </p:cNvCxnSpPr>
          <p:nvPr/>
        </p:nvCxnSpPr>
        <p:spPr>
          <a:xfrm rot="5400000">
            <a:off x="7413544" y="9305131"/>
            <a:ext cx="342033" cy="1692981"/>
          </a:xfrm>
          <a:prstGeom prst="bentConnector3">
            <a:avLst>
              <a:gd name="adj1" fmla="val 5851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2B6409A9-902B-ADF7-AB0D-EEAA861B181B}"/>
              </a:ext>
            </a:extLst>
          </p:cNvPr>
          <p:cNvCxnSpPr>
            <a:stCxn id="75" idx="1"/>
            <a:endCxn id="97" idx="0"/>
          </p:cNvCxnSpPr>
          <p:nvPr/>
        </p:nvCxnSpPr>
        <p:spPr>
          <a:xfrm rot="10800000" flipH="1" flipV="1">
            <a:off x="6127219" y="9205826"/>
            <a:ext cx="610849" cy="1116811"/>
          </a:xfrm>
          <a:prstGeom prst="bentConnector4">
            <a:avLst>
              <a:gd name="adj1" fmla="val -51725"/>
              <a:gd name="adj2" fmla="val 874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127">
            <a:extLst>
              <a:ext uri="{FF2B5EF4-FFF2-40B4-BE49-F238E27FC236}">
                <a16:creationId xmlns:a16="http://schemas.microsoft.com/office/drawing/2014/main" id="{E40F5DE6-A9C2-5368-12DD-4CCE289264E0}"/>
              </a:ext>
            </a:extLst>
          </p:cNvPr>
          <p:cNvCxnSpPr>
            <a:stCxn id="97" idx="2"/>
            <a:endCxn id="73" idx="0"/>
          </p:cNvCxnSpPr>
          <p:nvPr/>
        </p:nvCxnSpPr>
        <p:spPr>
          <a:xfrm rot="5400000" flipH="1">
            <a:off x="4755881" y="8545258"/>
            <a:ext cx="2462267" cy="1502109"/>
          </a:xfrm>
          <a:prstGeom prst="bentConnector5">
            <a:avLst>
              <a:gd name="adj1" fmla="val -9284"/>
              <a:gd name="adj2" fmla="val -189854"/>
              <a:gd name="adj3" fmla="val 10549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A5EEA2BA-CFCC-F0F0-BF3B-FCBA82927D32}"/>
              </a:ext>
            </a:extLst>
          </p:cNvPr>
          <p:cNvSpPr txBox="1"/>
          <p:nvPr/>
        </p:nvSpPr>
        <p:spPr>
          <a:xfrm>
            <a:off x="7467467" y="8909140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C0FFC21E-1DE4-FFE1-F366-AC2FCEBA5FEF}"/>
              </a:ext>
            </a:extLst>
          </p:cNvPr>
          <p:cNvSpPr txBox="1"/>
          <p:nvPr/>
        </p:nvSpPr>
        <p:spPr>
          <a:xfrm>
            <a:off x="3965776" y="7968607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7CE56A53-E068-76C8-53FA-133B5D992D36}"/>
              </a:ext>
            </a:extLst>
          </p:cNvPr>
          <p:cNvSpPr txBox="1"/>
          <p:nvPr/>
        </p:nvSpPr>
        <p:spPr>
          <a:xfrm>
            <a:off x="5744419" y="8895239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nie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0BB5624-00CA-EF1C-A2A5-5A6A9DF0D7A9}"/>
              </a:ext>
            </a:extLst>
          </p:cNvPr>
          <p:cNvSpPr txBox="1"/>
          <p:nvPr/>
        </p:nvSpPr>
        <p:spPr>
          <a:xfrm>
            <a:off x="6058950" y="7968607"/>
            <a:ext cx="4797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1400" dirty="0"/>
              <a:t>tak</a:t>
            </a:r>
          </a:p>
        </p:txBody>
      </p:sp>
      <p:cxnSp>
        <p:nvCxnSpPr>
          <p:cNvPr id="137" name="Elbow Connector 136">
            <a:extLst>
              <a:ext uri="{FF2B5EF4-FFF2-40B4-BE49-F238E27FC236}">
                <a16:creationId xmlns:a16="http://schemas.microsoft.com/office/drawing/2014/main" id="{6FD52D35-AECE-AE38-9E37-7EEC6A646D3C}"/>
              </a:ext>
            </a:extLst>
          </p:cNvPr>
          <p:cNvCxnSpPr>
            <a:stCxn id="73" idx="1"/>
            <a:endCxn id="38" idx="1"/>
          </p:cNvCxnSpPr>
          <p:nvPr/>
        </p:nvCxnSpPr>
        <p:spPr>
          <a:xfrm rot="10800000" flipV="1">
            <a:off x="3231230" y="8248363"/>
            <a:ext cx="1129968" cy="5476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A74DB743-4D0E-8DB6-1ED1-11BDA3F9D4BF}"/>
              </a:ext>
            </a:extLst>
          </p:cNvPr>
          <p:cNvCxnSpPr>
            <a:stCxn id="38" idx="4"/>
            <a:endCxn id="37" idx="0"/>
          </p:cNvCxnSpPr>
          <p:nvPr/>
        </p:nvCxnSpPr>
        <p:spPr>
          <a:xfrm>
            <a:off x="3231230" y="9022297"/>
            <a:ext cx="0" cy="193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75083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144</TotalTime>
  <Words>249</Words>
  <Application>Microsoft Macintosh PowerPoint</Application>
  <PresentationFormat>Custom</PresentationFormat>
  <Paragraphs>59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Bartosz Bieniek (bb315945)</dc:creator>
  <cp:lastModifiedBy>Bartosz Bieniek (bb315945)</cp:lastModifiedBy>
  <cp:revision>7</cp:revision>
  <dcterms:created xsi:type="dcterms:W3CDTF">2025-11-30T19:03:59Z</dcterms:created>
  <dcterms:modified xsi:type="dcterms:W3CDTF">2026-01-05T18:17:56Z</dcterms:modified>
</cp:coreProperties>
</file>