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42"/>
    <p:restoredTop sz="94640"/>
  </p:normalViewPr>
  <p:slideViewPr>
    <p:cSldViewPr snapToGrid="0">
      <p:cViewPr>
        <p:scale>
          <a:sx n="184" d="100"/>
          <a:sy n="184" d="100"/>
        </p:scale>
        <p:origin x="3032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05810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53028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57913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46863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7.12.2025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5089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7.12.2025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69108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7.12.2025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08835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70122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97109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87180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1050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20D1FC-2253-9541-B174-ECE369BAD33E}" type="datetimeFigureOut">
              <a:rPr lang="pl-PL" smtClean="0"/>
              <a:t>7.12.2025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91818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41727B-FEF8-44B3-37B7-3FF4765D230B}"/>
              </a:ext>
            </a:extLst>
          </p:cNvPr>
          <p:cNvSpPr txBox="1"/>
          <p:nvPr/>
        </p:nvSpPr>
        <p:spPr>
          <a:xfrm>
            <a:off x="457987" y="462656"/>
            <a:ext cx="1248740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4.1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008E97-840D-F703-3F7B-50A11CE6F3E5}"/>
              </a:ext>
            </a:extLst>
          </p:cNvPr>
          <p:cNvSpPr txBox="1"/>
          <p:nvPr/>
        </p:nvSpPr>
        <p:spPr>
          <a:xfrm>
            <a:off x="457989" y="802926"/>
            <a:ext cx="411401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700" dirty="0"/>
              <a:t>Szyfr cezara – szyfrowanie.</a:t>
            </a:r>
          </a:p>
        </p:txBody>
      </p:sp>
      <p:sp>
        <p:nvSpPr>
          <p:cNvPr id="2" name="Terminator 1">
            <a:extLst>
              <a:ext uri="{FF2B5EF4-FFF2-40B4-BE49-F238E27FC236}">
                <a16:creationId xmlns:a16="http://schemas.microsoft.com/office/drawing/2014/main" id="{5580592A-E094-53B7-79BA-2FB2EFE07DCE}"/>
              </a:ext>
            </a:extLst>
          </p:cNvPr>
          <p:cNvSpPr/>
          <p:nvPr/>
        </p:nvSpPr>
        <p:spPr>
          <a:xfrm>
            <a:off x="2666937" y="1651026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sp>
        <p:nvSpPr>
          <p:cNvPr id="3" name="Data 2">
            <a:extLst>
              <a:ext uri="{FF2B5EF4-FFF2-40B4-BE49-F238E27FC236}">
                <a16:creationId xmlns:a16="http://schemas.microsoft.com/office/drawing/2014/main" id="{6945B047-8F70-8FC8-72A7-FCCF7F00FE41}"/>
              </a:ext>
            </a:extLst>
          </p:cNvPr>
          <p:cNvSpPr/>
          <p:nvPr/>
        </p:nvSpPr>
        <p:spPr>
          <a:xfrm>
            <a:off x="1272579" y="2047113"/>
            <a:ext cx="3474518" cy="347303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Wczytaj</a:t>
            </a:r>
            <a:r>
              <a:rPr lang="en-US" sz="900" dirty="0"/>
              <a:t> </a:t>
            </a:r>
            <a:r>
              <a:rPr lang="en-US" sz="900" dirty="0" err="1"/>
              <a:t>wiadomość</a:t>
            </a:r>
            <a:r>
              <a:rPr lang="en-US" sz="900" dirty="0"/>
              <a:t> </a:t>
            </a:r>
            <a:r>
              <a:rPr lang="en-US" sz="900" i="1" dirty="0"/>
              <a:t>message</a:t>
            </a:r>
            <a:r>
              <a:rPr lang="en-US" sz="900" dirty="0"/>
              <a:t>, </a:t>
            </a:r>
            <a:r>
              <a:rPr lang="en-US" sz="900" dirty="0" err="1"/>
              <a:t>przesunięcie</a:t>
            </a:r>
            <a:r>
              <a:rPr lang="en-US" sz="900" dirty="0"/>
              <a:t> </a:t>
            </a:r>
            <a:r>
              <a:rPr lang="en-US" sz="900" i="1" dirty="0"/>
              <a:t>k</a:t>
            </a:r>
            <a:r>
              <a:rPr lang="en-US" sz="900" dirty="0"/>
              <a:t> </a:t>
            </a:r>
            <a:r>
              <a:rPr lang="en-US" sz="900" dirty="0" err="1"/>
              <a:t>oraz</a:t>
            </a:r>
            <a:r>
              <a:rPr lang="en-US" sz="900" dirty="0"/>
              <a:t> </a:t>
            </a:r>
            <a:r>
              <a:rPr lang="en-US" sz="900" dirty="0" err="1"/>
              <a:t>alfabet</a:t>
            </a:r>
            <a:r>
              <a:rPr lang="en-US" sz="900" dirty="0"/>
              <a:t> </a:t>
            </a:r>
            <a:r>
              <a:rPr lang="en-US" sz="900" i="1" dirty="0"/>
              <a:t>alphabet</a:t>
            </a:r>
            <a:r>
              <a:rPr lang="en-US" sz="900" dirty="0"/>
              <a:t>.</a:t>
            </a:r>
            <a:endParaRPr lang="en-US" sz="900" i="1" dirty="0"/>
          </a:p>
        </p:txBody>
      </p:sp>
      <p:sp>
        <p:nvSpPr>
          <p:cNvPr id="9" name="Process 8">
            <a:extLst>
              <a:ext uri="{FF2B5EF4-FFF2-40B4-BE49-F238E27FC236}">
                <a16:creationId xmlns:a16="http://schemas.microsoft.com/office/drawing/2014/main" id="{F990FD0E-2D93-EB8B-33FF-91EB52921CDD}"/>
              </a:ext>
            </a:extLst>
          </p:cNvPr>
          <p:cNvSpPr/>
          <p:nvPr/>
        </p:nvSpPr>
        <p:spPr>
          <a:xfrm>
            <a:off x="2293961" y="2564187"/>
            <a:ext cx="1431755" cy="62776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a ← długość(</a:t>
            </a:r>
            <a:r>
              <a:rPr lang="pl-PL" sz="900" i="1" dirty="0" err="1"/>
              <a:t>alphabet</a:t>
            </a:r>
            <a:r>
              <a:rPr lang="pl-PL" sz="900" dirty="0"/>
              <a:t>)</a:t>
            </a:r>
          </a:p>
          <a:p>
            <a:pPr algn="ctr"/>
            <a:r>
              <a:rPr lang="pl-PL" sz="900" dirty="0"/>
              <a:t>m ← długość(</a:t>
            </a:r>
            <a:r>
              <a:rPr lang="pl-PL" sz="900" i="1" dirty="0" err="1"/>
              <a:t>message</a:t>
            </a:r>
            <a:r>
              <a:rPr lang="pl-PL" sz="900" dirty="0"/>
              <a:t>)</a:t>
            </a:r>
          </a:p>
          <a:p>
            <a:pPr algn="ctr"/>
            <a:r>
              <a:rPr lang="pl-PL" sz="900" dirty="0"/>
              <a:t>i ← 0</a:t>
            </a:r>
          </a:p>
          <a:p>
            <a:pPr algn="ctr"/>
            <a:r>
              <a:rPr lang="pl-PL" sz="900" dirty="0" err="1"/>
              <a:t>result</a:t>
            </a:r>
            <a:r>
              <a:rPr lang="pl-PL" sz="900" dirty="0"/>
              <a:t> ← „”</a:t>
            </a:r>
          </a:p>
        </p:txBody>
      </p:sp>
      <p:sp>
        <p:nvSpPr>
          <p:cNvPr id="10" name="Decision 9">
            <a:extLst>
              <a:ext uri="{FF2B5EF4-FFF2-40B4-BE49-F238E27FC236}">
                <a16:creationId xmlns:a16="http://schemas.microsoft.com/office/drawing/2014/main" id="{378ECF50-DB94-DC3F-968A-EB7476F9A9D2}"/>
              </a:ext>
            </a:extLst>
          </p:cNvPr>
          <p:cNvSpPr/>
          <p:nvPr/>
        </p:nvSpPr>
        <p:spPr>
          <a:xfrm>
            <a:off x="2474430" y="3361728"/>
            <a:ext cx="1070819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i &lt; m</a:t>
            </a:r>
          </a:p>
        </p:txBody>
      </p:sp>
      <p:sp>
        <p:nvSpPr>
          <p:cNvPr id="12" name="Process 11">
            <a:extLst>
              <a:ext uri="{FF2B5EF4-FFF2-40B4-BE49-F238E27FC236}">
                <a16:creationId xmlns:a16="http://schemas.microsoft.com/office/drawing/2014/main" id="{2645CF10-F8F6-BF68-2C5D-BD2F1EDD7C14}"/>
              </a:ext>
            </a:extLst>
          </p:cNvPr>
          <p:cNvSpPr/>
          <p:nvPr/>
        </p:nvSpPr>
        <p:spPr>
          <a:xfrm>
            <a:off x="3226923" y="3856797"/>
            <a:ext cx="2884040" cy="507833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 err="1"/>
              <a:t>letter_index</a:t>
            </a:r>
            <a:r>
              <a:rPr lang="pl-PL" sz="900" dirty="0"/>
              <a:t> ← pozycja litery </a:t>
            </a:r>
            <a:r>
              <a:rPr lang="pl-PL" sz="900" i="1" dirty="0" err="1"/>
              <a:t>message</a:t>
            </a:r>
            <a:r>
              <a:rPr lang="pl-PL" sz="900" i="1" dirty="0"/>
              <a:t>[i]</a:t>
            </a:r>
            <a:r>
              <a:rPr lang="pl-PL" sz="900" dirty="0"/>
              <a:t> w </a:t>
            </a:r>
            <a:r>
              <a:rPr lang="pl-PL" sz="900" i="1" dirty="0" err="1"/>
              <a:t>alphabet</a:t>
            </a:r>
            <a:endParaRPr lang="pl-PL" sz="900" i="1" dirty="0"/>
          </a:p>
          <a:p>
            <a:pPr algn="ctr"/>
            <a:r>
              <a:rPr lang="pl-PL" sz="900" dirty="0" err="1"/>
              <a:t>result</a:t>
            </a:r>
            <a:r>
              <a:rPr lang="pl-PL" sz="900" dirty="0"/>
              <a:t> ← </a:t>
            </a:r>
            <a:r>
              <a:rPr lang="pl-PL" sz="900" dirty="0" err="1"/>
              <a:t>result</a:t>
            </a:r>
            <a:r>
              <a:rPr lang="pl-PL" sz="900" dirty="0"/>
              <a:t> + </a:t>
            </a:r>
            <a:r>
              <a:rPr lang="pl-PL" sz="900" dirty="0" err="1"/>
              <a:t>alphabet</a:t>
            </a:r>
            <a:r>
              <a:rPr lang="pl-PL" sz="900" dirty="0"/>
              <a:t>[(</a:t>
            </a:r>
            <a:r>
              <a:rPr lang="pl-PL" sz="900" dirty="0" err="1"/>
              <a:t>letter_index</a:t>
            </a:r>
            <a:r>
              <a:rPr lang="pl-PL" sz="900" dirty="0"/>
              <a:t> + k) </a:t>
            </a:r>
            <a:r>
              <a:rPr lang="pl-PL" sz="900" dirty="0" err="1"/>
              <a:t>mod</a:t>
            </a:r>
            <a:r>
              <a:rPr lang="pl-PL" sz="900" dirty="0"/>
              <a:t> a]</a:t>
            </a:r>
          </a:p>
          <a:p>
            <a:pPr algn="ctr"/>
            <a:r>
              <a:rPr lang="pl-PL" sz="900" dirty="0"/>
              <a:t>i ← i + 1</a:t>
            </a:r>
          </a:p>
        </p:txBody>
      </p:sp>
      <p:sp>
        <p:nvSpPr>
          <p:cNvPr id="14" name="Terminator 13">
            <a:extLst>
              <a:ext uri="{FF2B5EF4-FFF2-40B4-BE49-F238E27FC236}">
                <a16:creationId xmlns:a16="http://schemas.microsoft.com/office/drawing/2014/main" id="{4D95C85A-7108-AA83-28B3-D1F1C9435214}"/>
              </a:ext>
            </a:extLst>
          </p:cNvPr>
          <p:cNvSpPr/>
          <p:nvPr/>
        </p:nvSpPr>
        <p:spPr>
          <a:xfrm>
            <a:off x="1553031" y="4275511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Stop</a:t>
            </a:r>
          </a:p>
        </p:txBody>
      </p:sp>
      <p:sp>
        <p:nvSpPr>
          <p:cNvPr id="15" name="Data 14">
            <a:extLst>
              <a:ext uri="{FF2B5EF4-FFF2-40B4-BE49-F238E27FC236}">
                <a16:creationId xmlns:a16="http://schemas.microsoft.com/office/drawing/2014/main" id="{D1C136B3-AA3E-13FF-7D30-B6C776579406}"/>
              </a:ext>
            </a:extLst>
          </p:cNvPr>
          <p:cNvSpPr/>
          <p:nvPr/>
        </p:nvSpPr>
        <p:spPr>
          <a:xfrm>
            <a:off x="839138" y="3856798"/>
            <a:ext cx="2113589" cy="24894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i="1" dirty="0"/>
              <a:t>result</a:t>
            </a:r>
            <a:r>
              <a:rPr lang="en-US" sz="900" dirty="0"/>
              <a:t>.</a:t>
            </a:r>
            <a:endParaRPr lang="en-US" sz="900" i="1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498661A-A43D-E4FB-5D8D-437635E8AD5D}"/>
              </a:ext>
            </a:extLst>
          </p:cNvPr>
          <p:cNvCxnSpPr>
            <a:stCxn id="2" idx="2"/>
            <a:endCxn id="3" idx="1"/>
          </p:cNvCxnSpPr>
          <p:nvPr/>
        </p:nvCxnSpPr>
        <p:spPr>
          <a:xfrm>
            <a:off x="3009837" y="1877342"/>
            <a:ext cx="0" cy="1697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A3A658F-F548-CBDD-53D8-F067B646CE95}"/>
              </a:ext>
            </a:extLst>
          </p:cNvPr>
          <p:cNvCxnSpPr>
            <a:stCxn id="3" idx="4"/>
            <a:endCxn id="9" idx="0"/>
          </p:cNvCxnSpPr>
          <p:nvPr/>
        </p:nvCxnSpPr>
        <p:spPr>
          <a:xfrm>
            <a:off x="3009837" y="2394416"/>
            <a:ext cx="0" cy="1697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B036F61-A86B-F689-178D-608649F6E9A6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3009837" y="3191957"/>
            <a:ext cx="0" cy="1697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7173AECA-CA88-FEC9-ABD0-764CBCEF7D1B}"/>
              </a:ext>
            </a:extLst>
          </p:cNvPr>
          <p:cNvCxnSpPr>
            <a:stCxn id="10" idx="1"/>
            <a:endCxn id="15" idx="1"/>
          </p:cNvCxnSpPr>
          <p:nvPr/>
        </p:nvCxnSpPr>
        <p:spPr>
          <a:xfrm rot="10800000" flipV="1">
            <a:off x="1895933" y="3524376"/>
            <a:ext cx="578498" cy="33242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6390906B-62A1-ECB2-477F-9A008B2C6599}"/>
              </a:ext>
            </a:extLst>
          </p:cNvPr>
          <p:cNvCxnSpPr>
            <a:stCxn id="10" idx="3"/>
            <a:endCxn id="12" idx="0"/>
          </p:cNvCxnSpPr>
          <p:nvPr/>
        </p:nvCxnSpPr>
        <p:spPr>
          <a:xfrm>
            <a:off x="3545248" y="3524376"/>
            <a:ext cx="1123697" cy="33242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7931ABD-AFFA-9E0A-5AB2-9256619BF8E1}"/>
              </a:ext>
            </a:extLst>
          </p:cNvPr>
          <p:cNvCxnSpPr>
            <a:stCxn id="15" idx="4"/>
            <a:endCxn id="14" idx="0"/>
          </p:cNvCxnSpPr>
          <p:nvPr/>
        </p:nvCxnSpPr>
        <p:spPr>
          <a:xfrm flipH="1">
            <a:off x="1895931" y="4105742"/>
            <a:ext cx="2" cy="1697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2DA84D3-B87B-431B-6720-13D25B923E65}"/>
              </a:ext>
            </a:extLst>
          </p:cNvPr>
          <p:cNvSpPr txBox="1"/>
          <p:nvPr/>
        </p:nvSpPr>
        <p:spPr>
          <a:xfrm>
            <a:off x="2121317" y="3256948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F4E693C-F802-234A-4F88-5005A222C58B}"/>
              </a:ext>
            </a:extLst>
          </p:cNvPr>
          <p:cNvSpPr txBox="1"/>
          <p:nvPr/>
        </p:nvSpPr>
        <p:spPr>
          <a:xfrm>
            <a:off x="3521687" y="3256948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5B001FB2-71F2-DA86-8A73-3AA339C665FE}"/>
              </a:ext>
            </a:extLst>
          </p:cNvPr>
          <p:cNvCxnSpPr>
            <a:stCxn id="12" idx="2"/>
            <a:endCxn id="10" idx="0"/>
          </p:cNvCxnSpPr>
          <p:nvPr/>
        </p:nvCxnSpPr>
        <p:spPr>
          <a:xfrm rot="5400000" flipH="1">
            <a:off x="3337941" y="3033625"/>
            <a:ext cx="1002900" cy="1659105"/>
          </a:xfrm>
          <a:prstGeom prst="bentConnector5">
            <a:avLst>
              <a:gd name="adj1" fmla="val -22794"/>
              <a:gd name="adj2" fmla="val -101424"/>
              <a:gd name="adj3" fmla="val 11325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7508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2DF57-2224-63A1-582E-E5337E0EC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5342DC-8035-C223-7C2A-AD029B617A7E}"/>
              </a:ext>
            </a:extLst>
          </p:cNvPr>
          <p:cNvSpPr txBox="1"/>
          <p:nvPr/>
        </p:nvSpPr>
        <p:spPr>
          <a:xfrm>
            <a:off x="457987" y="462656"/>
            <a:ext cx="1248740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4.1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3FF488-FFA3-23C6-6611-5704C0BE9692}"/>
              </a:ext>
            </a:extLst>
          </p:cNvPr>
          <p:cNvSpPr txBox="1"/>
          <p:nvPr/>
        </p:nvSpPr>
        <p:spPr>
          <a:xfrm>
            <a:off x="457989" y="802926"/>
            <a:ext cx="449071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700" dirty="0"/>
              <a:t>Szyfr cezara – deszyfrowanie.</a:t>
            </a:r>
          </a:p>
        </p:txBody>
      </p:sp>
      <p:sp>
        <p:nvSpPr>
          <p:cNvPr id="2" name="Terminator 1">
            <a:extLst>
              <a:ext uri="{FF2B5EF4-FFF2-40B4-BE49-F238E27FC236}">
                <a16:creationId xmlns:a16="http://schemas.microsoft.com/office/drawing/2014/main" id="{2D5BB1B9-4099-C841-2459-55ACB6B1FCE3}"/>
              </a:ext>
            </a:extLst>
          </p:cNvPr>
          <p:cNvSpPr/>
          <p:nvPr/>
        </p:nvSpPr>
        <p:spPr>
          <a:xfrm>
            <a:off x="2666937" y="1651026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sp>
        <p:nvSpPr>
          <p:cNvPr id="3" name="Data 2">
            <a:extLst>
              <a:ext uri="{FF2B5EF4-FFF2-40B4-BE49-F238E27FC236}">
                <a16:creationId xmlns:a16="http://schemas.microsoft.com/office/drawing/2014/main" id="{E991232F-4206-CFDF-D7D5-3FA58A7200F0}"/>
              </a:ext>
            </a:extLst>
          </p:cNvPr>
          <p:cNvSpPr/>
          <p:nvPr/>
        </p:nvSpPr>
        <p:spPr>
          <a:xfrm>
            <a:off x="1177512" y="2047113"/>
            <a:ext cx="3664652" cy="347303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Wczytaj</a:t>
            </a:r>
            <a:r>
              <a:rPr lang="en-US" sz="900" dirty="0"/>
              <a:t> </a:t>
            </a:r>
            <a:r>
              <a:rPr lang="en-US" sz="900" dirty="0" err="1"/>
              <a:t>wiadomość</a:t>
            </a:r>
            <a:r>
              <a:rPr lang="en-US" sz="900" dirty="0"/>
              <a:t> </a:t>
            </a:r>
            <a:r>
              <a:rPr lang="en-US" sz="900" i="1" dirty="0" err="1"/>
              <a:t>encoded_message</a:t>
            </a:r>
            <a:r>
              <a:rPr lang="en-US" sz="900" dirty="0"/>
              <a:t>, </a:t>
            </a:r>
            <a:r>
              <a:rPr lang="en-US" sz="900" dirty="0" err="1"/>
              <a:t>przesunięcie</a:t>
            </a:r>
            <a:r>
              <a:rPr lang="en-US" sz="900" dirty="0"/>
              <a:t> </a:t>
            </a:r>
            <a:r>
              <a:rPr lang="en-US" sz="900" i="1" dirty="0"/>
              <a:t>k</a:t>
            </a:r>
            <a:r>
              <a:rPr lang="en-US" sz="900" dirty="0"/>
              <a:t> </a:t>
            </a:r>
            <a:r>
              <a:rPr lang="en-US" sz="900" dirty="0" err="1"/>
              <a:t>oraz</a:t>
            </a:r>
            <a:r>
              <a:rPr lang="en-US" sz="900" dirty="0"/>
              <a:t> </a:t>
            </a:r>
            <a:r>
              <a:rPr lang="en-US" sz="900" dirty="0" err="1"/>
              <a:t>alfabet</a:t>
            </a:r>
            <a:r>
              <a:rPr lang="en-US" sz="900" dirty="0"/>
              <a:t> </a:t>
            </a:r>
            <a:r>
              <a:rPr lang="en-US" sz="900" i="1" dirty="0"/>
              <a:t>alphabet</a:t>
            </a:r>
            <a:r>
              <a:rPr lang="en-US" sz="900" dirty="0"/>
              <a:t>.</a:t>
            </a:r>
            <a:endParaRPr lang="en-US" sz="900" i="1" dirty="0"/>
          </a:p>
        </p:txBody>
      </p:sp>
      <p:sp>
        <p:nvSpPr>
          <p:cNvPr id="9" name="Process 8">
            <a:extLst>
              <a:ext uri="{FF2B5EF4-FFF2-40B4-BE49-F238E27FC236}">
                <a16:creationId xmlns:a16="http://schemas.microsoft.com/office/drawing/2014/main" id="{C4CE4984-FCAB-E6C1-2E37-95903D2F2F5B}"/>
              </a:ext>
            </a:extLst>
          </p:cNvPr>
          <p:cNvSpPr/>
          <p:nvPr/>
        </p:nvSpPr>
        <p:spPr>
          <a:xfrm>
            <a:off x="2078059" y="2564187"/>
            <a:ext cx="1863560" cy="62776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a ← długość(</a:t>
            </a:r>
            <a:r>
              <a:rPr lang="pl-PL" sz="900" i="1" dirty="0" err="1"/>
              <a:t>alphabet</a:t>
            </a:r>
            <a:r>
              <a:rPr lang="pl-PL" sz="900" dirty="0"/>
              <a:t>)</a:t>
            </a:r>
          </a:p>
          <a:p>
            <a:pPr algn="ctr"/>
            <a:r>
              <a:rPr lang="pl-PL" sz="900" dirty="0"/>
              <a:t>m ← długość(</a:t>
            </a:r>
            <a:r>
              <a:rPr lang="pl-PL" sz="900" i="1" dirty="0" err="1"/>
              <a:t>encoded_message</a:t>
            </a:r>
            <a:r>
              <a:rPr lang="pl-PL" sz="900" dirty="0"/>
              <a:t>)</a:t>
            </a:r>
          </a:p>
          <a:p>
            <a:pPr algn="ctr"/>
            <a:r>
              <a:rPr lang="pl-PL" sz="900" dirty="0"/>
              <a:t>i ← 0</a:t>
            </a:r>
          </a:p>
          <a:p>
            <a:pPr algn="ctr"/>
            <a:r>
              <a:rPr lang="pl-PL" sz="900" dirty="0" err="1"/>
              <a:t>result</a:t>
            </a:r>
            <a:r>
              <a:rPr lang="pl-PL" sz="900" dirty="0"/>
              <a:t> ← „”</a:t>
            </a:r>
          </a:p>
        </p:txBody>
      </p:sp>
      <p:sp>
        <p:nvSpPr>
          <p:cNvPr id="10" name="Decision 9">
            <a:extLst>
              <a:ext uri="{FF2B5EF4-FFF2-40B4-BE49-F238E27FC236}">
                <a16:creationId xmlns:a16="http://schemas.microsoft.com/office/drawing/2014/main" id="{05FD73A3-5DAC-CEDD-FFB5-E3A6855A78C0}"/>
              </a:ext>
            </a:extLst>
          </p:cNvPr>
          <p:cNvSpPr/>
          <p:nvPr/>
        </p:nvSpPr>
        <p:spPr>
          <a:xfrm>
            <a:off x="2474430" y="3361728"/>
            <a:ext cx="1070819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i &lt; m</a:t>
            </a:r>
          </a:p>
        </p:txBody>
      </p:sp>
      <p:sp>
        <p:nvSpPr>
          <p:cNvPr id="12" name="Process 11">
            <a:extLst>
              <a:ext uri="{FF2B5EF4-FFF2-40B4-BE49-F238E27FC236}">
                <a16:creationId xmlns:a16="http://schemas.microsoft.com/office/drawing/2014/main" id="{F87FE023-E3AD-11C6-6817-34BFC5BA5796}"/>
              </a:ext>
            </a:extLst>
          </p:cNvPr>
          <p:cNvSpPr/>
          <p:nvPr/>
        </p:nvSpPr>
        <p:spPr>
          <a:xfrm>
            <a:off x="3226923" y="3856797"/>
            <a:ext cx="2884040" cy="507833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 err="1"/>
              <a:t>letter_index</a:t>
            </a:r>
            <a:r>
              <a:rPr lang="pl-PL" sz="900" dirty="0"/>
              <a:t> ← pozycja litery </a:t>
            </a:r>
            <a:r>
              <a:rPr lang="pl-PL" sz="900" i="1" dirty="0" err="1"/>
              <a:t>message</a:t>
            </a:r>
            <a:r>
              <a:rPr lang="pl-PL" sz="900" i="1" dirty="0"/>
              <a:t>[i]</a:t>
            </a:r>
            <a:r>
              <a:rPr lang="pl-PL" sz="900" dirty="0"/>
              <a:t> w </a:t>
            </a:r>
            <a:r>
              <a:rPr lang="pl-PL" sz="900" i="1" dirty="0" err="1"/>
              <a:t>alphabet</a:t>
            </a:r>
            <a:endParaRPr lang="pl-PL" sz="900" i="1" dirty="0"/>
          </a:p>
          <a:p>
            <a:pPr algn="ctr"/>
            <a:r>
              <a:rPr lang="pl-PL" sz="900" dirty="0" err="1"/>
              <a:t>result</a:t>
            </a:r>
            <a:r>
              <a:rPr lang="pl-PL" sz="900" dirty="0"/>
              <a:t> ← </a:t>
            </a:r>
            <a:r>
              <a:rPr lang="pl-PL" sz="900" dirty="0" err="1"/>
              <a:t>result</a:t>
            </a:r>
            <a:r>
              <a:rPr lang="pl-PL" sz="900" dirty="0"/>
              <a:t> + </a:t>
            </a:r>
            <a:r>
              <a:rPr lang="pl-PL" sz="900" dirty="0" err="1"/>
              <a:t>alphabet</a:t>
            </a:r>
            <a:r>
              <a:rPr lang="pl-PL" sz="900" dirty="0"/>
              <a:t>[(</a:t>
            </a:r>
            <a:r>
              <a:rPr lang="pl-PL" sz="900" dirty="0" err="1"/>
              <a:t>letter_index</a:t>
            </a:r>
            <a:r>
              <a:rPr lang="pl-PL" sz="900" dirty="0"/>
              <a:t> - k) </a:t>
            </a:r>
            <a:r>
              <a:rPr lang="pl-PL" sz="900" dirty="0" err="1"/>
              <a:t>mod</a:t>
            </a:r>
            <a:r>
              <a:rPr lang="pl-PL" sz="900" dirty="0"/>
              <a:t> a]</a:t>
            </a:r>
          </a:p>
          <a:p>
            <a:pPr algn="ctr"/>
            <a:r>
              <a:rPr lang="pl-PL" sz="900" dirty="0"/>
              <a:t>i ← i + 1</a:t>
            </a:r>
          </a:p>
        </p:txBody>
      </p:sp>
      <p:sp>
        <p:nvSpPr>
          <p:cNvPr id="14" name="Terminator 13">
            <a:extLst>
              <a:ext uri="{FF2B5EF4-FFF2-40B4-BE49-F238E27FC236}">
                <a16:creationId xmlns:a16="http://schemas.microsoft.com/office/drawing/2014/main" id="{CB986B3F-926B-4C93-1B3E-5FB6F724A39F}"/>
              </a:ext>
            </a:extLst>
          </p:cNvPr>
          <p:cNvSpPr/>
          <p:nvPr/>
        </p:nvSpPr>
        <p:spPr>
          <a:xfrm>
            <a:off x="1553031" y="4275511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Stop</a:t>
            </a:r>
          </a:p>
        </p:txBody>
      </p:sp>
      <p:sp>
        <p:nvSpPr>
          <p:cNvPr id="15" name="Data 14">
            <a:extLst>
              <a:ext uri="{FF2B5EF4-FFF2-40B4-BE49-F238E27FC236}">
                <a16:creationId xmlns:a16="http://schemas.microsoft.com/office/drawing/2014/main" id="{EF050883-5E9E-32CC-CF5F-8FE3081AE3B8}"/>
              </a:ext>
            </a:extLst>
          </p:cNvPr>
          <p:cNvSpPr/>
          <p:nvPr/>
        </p:nvSpPr>
        <p:spPr>
          <a:xfrm>
            <a:off x="839138" y="3856798"/>
            <a:ext cx="2113589" cy="24894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i="1" dirty="0"/>
              <a:t>result</a:t>
            </a:r>
            <a:r>
              <a:rPr lang="en-US" sz="900" dirty="0"/>
              <a:t>.</a:t>
            </a:r>
            <a:endParaRPr lang="en-US" sz="900" i="1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3586032-A739-5BB2-4ACE-231396ACEFC0}"/>
              </a:ext>
            </a:extLst>
          </p:cNvPr>
          <p:cNvCxnSpPr>
            <a:cxnSpLocks/>
            <a:stCxn id="2" idx="2"/>
            <a:endCxn id="3" idx="1"/>
          </p:cNvCxnSpPr>
          <p:nvPr/>
        </p:nvCxnSpPr>
        <p:spPr>
          <a:xfrm>
            <a:off x="3009837" y="1877340"/>
            <a:ext cx="1" cy="1697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9C249FE-2179-6CF8-D568-51DF122BCD5E}"/>
              </a:ext>
            </a:extLst>
          </p:cNvPr>
          <p:cNvCxnSpPr>
            <a:cxnSpLocks/>
            <a:stCxn id="3" idx="4"/>
            <a:endCxn id="9" idx="0"/>
          </p:cNvCxnSpPr>
          <p:nvPr/>
        </p:nvCxnSpPr>
        <p:spPr>
          <a:xfrm>
            <a:off x="3009838" y="2394416"/>
            <a:ext cx="1" cy="1697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E9091DF-1DA9-D299-1595-4FF970755CF2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3009839" y="3191955"/>
            <a:ext cx="1" cy="1697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583C85BE-A976-C658-7BF4-5E24725BC249}"/>
              </a:ext>
            </a:extLst>
          </p:cNvPr>
          <p:cNvCxnSpPr>
            <a:stCxn id="10" idx="1"/>
            <a:endCxn id="15" idx="1"/>
          </p:cNvCxnSpPr>
          <p:nvPr/>
        </p:nvCxnSpPr>
        <p:spPr>
          <a:xfrm rot="10800000" flipV="1">
            <a:off x="1895933" y="3524376"/>
            <a:ext cx="578498" cy="33242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25587441-AB99-D551-F250-7966AB6F1064}"/>
              </a:ext>
            </a:extLst>
          </p:cNvPr>
          <p:cNvCxnSpPr>
            <a:stCxn id="10" idx="3"/>
            <a:endCxn id="12" idx="0"/>
          </p:cNvCxnSpPr>
          <p:nvPr/>
        </p:nvCxnSpPr>
        <p:spPr>
          <a:xfrm>
            <a:off x="3545248" y="3524376"/>
            <a:ext cx="1123697" cy="33242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00D95C1-DC12-168E-57AE-00C7465FB602}"/>
              </a:ext>
            </a:extLst>
          </p:cNvPr>
          <p:cNvCxnSpPr>
            <a:stCxn id="15" idx="4"/>
            <a:endCxn id="14" idx="0"/>
          </p:cNvCxnSpPr>
          <p:nvPr/>
        </p:nvCxnSpPr>
        <p:spPr>
          <a:xfrm flipH="1">
            <a:off x="1895931" y="4105742"/>
            <a:ext cx="2" cy="1697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F11D6A9-FDA2-A5BE-1EFE-1B378705DC6F}"/>
              </a:ext>
            </a:extLst>
          </p:cNvPr>
          <p:cNvSpPr txBox="1"/>
          <p:nvPr/>
        </p:nvSpPr>
        <p:spPr>
          <a:xfrm>
            <a:off x="2121317" y="3256948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0A67A8E-FDC6-971A-196F-46C9B64E3981}"/>
              </a:ext>
            </a:extLst>
          </p:cNvPr>
          <p:cNvSpPr txBox="1"/>
          <p:nvPr/>
        </p:nvSpPr>
        <p:spPr>
          <a:xfrm>
            <a:off x="3521687" y="3256948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4B6147E6-3225-B572-3AF3-1C79C8934D3A}"/>
              </a:ext>
            </a:extLst>
          </p:cNvPr>
          <p:cNvCxnSpPr>
            <a:stCxn id="12" idx="2"/>
            <a:endCxn id="10" idx="0"/>
          </p:cNvCxnSpPr>
          <p:nvPr/>
        </p:nvCxnSpPr>
        <p:spPr>
          <a:xfrm rot="5400000" flipH="1">
            <a:off x="3337941" y="3033625"/>
            <a:ext cx="1002900" cy="1659105"/>
          </a:xfrm>
          <a:prstGeom prst="bentConnector5">
            <a:avLst>
              <a:gd name="adj1" fmla="val -22794"/>
              <a:gd name="adj2" fmla="val -101424"/>
              <a:gd name="adj3" fmla="val 11325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3741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</TotalTime>
  <Words>158</Words>
  <Application>Microsoft Macintosh PowerPoint</Application>
  <PresentationFormat>On-screen Show (4:3)</PresentationFormat>
  <Paragraphs>32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Bartosz Bieniek (bb315945)</dc:creator>
  <cp:lastModifiedBy>Bartosz Bieniek (bb315945)</cp:lastModifiedBy>
  <cp:revision>4</cp:revision>
  <dcterms:created xsi:type="dcterms:W3CDTF">2025-11-30T19:03:59Z</dcterms:created>
  <dcterms:modified xsi:type="dcterms:W3CDTF">2025-12-07T13:36:42Z</dcterms:modified>
</cp:coreProperties>
</file>