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7" r:id="rId2"/>
  </p:sldIdLst>
  <p:sldSz cx="228600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73"/>
    <p:restoredTop sz="94673"/>
  </p:normalViewPr>
  <p:slideViewPr>
    <p:cSldViewPr snapToGrid="0">
      <p:cViewPr>
        <p:scale>
          <a:sx n="46" d="100"/>
          <a:sy n="46" d="100"/>
        </p:scale>
        <p:origin x="3552" y="20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0" y="2992968"/>
            <a:ext cx="19431000" cy="6366933"/>
          </a:xfrm>
        </p:spPr>
        <p:txBody>
          <a:bodyPr anchor="b"/>
          <a:lstStyle>
            <a:lvl1pPr algn="ctr">
              <a:defRPr sz="1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500" y="9605435"/>
            <a:ext cx="17145000" cy="4415365"/>
          </a:xfrm>
        </p:spPr>
        <p:txBody>
          <a:bodyPr/>
          <a:lstStyle>
            <a:lvl1pPr marL="0" indent="0" algn="ctr">
              <a:buNone/>
              <a:defRPr sz="6000"/>
            </a:lvl1pPr>
            <a:lvl2pPr marL="1143000" indent="0" algn="ctr">
              <a:buNone/>
              <a:defRPr sz="5000"/>
            </a:lvl2pPr>
            <a:lvl3pPr marL="2286000" indent="0" algn="ctr">
              <a:buNone/>
              <a:defRPr sz="4500"/>
            </a:lvl3pPr>
            <a:lvl4pPr marL="3429000" indent="0" algn="ctr">
              <a:buNone/>
              <a:defRPr sz="4000"/>
            </a:lvl4pPr>
            <a:lvl5pPr marL="4572000" indent="0" algn="ctr">
              <a:buNone/>
              <a:defRPr sz="4000"/>
            </a:lvl5pPr>
            <a:lvl6pPr marL="5715000" indent="0" algn="ctr">
              <a:buNone/>
              <a:defRPr sz="4000"/>
            </a:lvl6pPr>
            <a:lvl7pPr marL="6858000" indent="0" algn="ctr">
              <a:buNone/>
              <a:defRPr sz="4000"/>
            </a:lvl7pPr>
            <a:lvl8pPr marL="8001000" indent="0" algn="ctr">
              <a:buNone/>
              <a:defRPr sz="4000"/>
            </a:lvl8pPr>
            <a:lvl9pPr marL="9144000" indent="0" algn="ctr"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5.01.2026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84765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5.01.2026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26561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9720" y="4559305"/>
            <a:ext cx="19716750" cy="7607299"/>
          </a:xfrm>
        </p:spPr>
        <p:txBody>
          <a:bodyPr anchor="b"/>
          <a:lstStyle>
            <a:lvl1pPr>
              <a:defRPr sz="1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9720" y="12238572"/>
            <a:ext cx="19716750" cy="4000499"/>
          </a:xfrm>
        </p:spPr>
        <p:txBody>
          <a:bodyPr/>
          <a:lstStyle>
            <a:lvl1pPr marL="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1pPr>
            <a:lvl2pPr marL="1143000" indent="0">
              <a:buNone/>
              <a:defRPr sz="5000">
                <a:solidFill>
                  <a:schemeClr val="tx1">
                    <a:tint val="82000"/>
                  </a:schemeClr>
                </a:solidFill>
              </a:defRPr>
            </a:lvl2pPr>
            <a:lvl3pPr marL="2286000" indent="0">
              <a:buNone/>
              <a:defRPr sz="4500">
                <a:solidFill>
                  <a:schemeClr val="tx1">
                    <a:tint val="82000"/>
                  </a:schemeClr>
                </a:solidFill>
              </a:defRPr>
            </a:lvl3pPr>
            <a:lvl4pPr marL="3429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4pPr>
            <a:lvl5pPr marL="4572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5pPr>
            <a:lvl6pPr marL="5715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6pPr>
            <a:lvl7pPr marL="6858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7pPr>
            <a:lvl8pPr marL="8001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8pPr>
            <a:lvl9pPr marL="9144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5.01.2026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22840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1625" y="4868333"/>
            <a:ext cx="97155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72875" y="4868333"/>
            <a:ext cx="97155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5.01.2026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8185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2" y="973670"/>
            <a:ext cx="19716750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4605" y="4483101"/>
            <a:ext cx="9670850" cy="2197099"/>
          </a:xfrm>
        </p:spPr>
        <p:txBody>
          <a:bodyPr anchor="b"/>
          <a:lstStyle>
            <a:lvl1pPr marL="0" indent="0">
              <a:buNone/>
              <a:defRPr sz="6000" b="1"/>
            </a:lvl1pPr>
            <a:lvl2pPr marL="1143000" indent="0">
              <a:buNone/>
              <a:defRPr sz="5000" b="1"/>
            </a:lvl2pPr>
            <a:lvl3pPr marL="2286000" indent="0">
              <a:buNone/>
              <a:defRPr sz="4500" b="1"/>
            </a:lvl3pPr>
            <a:lvl4pPr marL="3429000" indent="0">
              <a:buNone/>
              <a:defRPr sz="4000" b="1"/>
            </a:lvl4pPr>
            <a:lvl5pPr marL="4572000" indent="0">
              <a:buNone/>
              <a:defRPr sz="4000" b="1"/>
            </a:lvl5pPr>
            <a:lvl6pPr marL="5715000" indent="0">
              <a:buNone/>
              <a:defRPr sz="4000" b="1"/>
            </a:lvl6pPr>
            <a:lvl7pPr marL="6858000" indent="0">
              <a:buNone/>
              <a:defRPr sz="4000" b="1"/>
            </a:lvl7pPr>
            <a:lvl8pPr marL="8001000" indent="0">
              <a:buNone/>
              <a:defRPr sz="4000" b="1"/>
            </a:lvl8pPr>
            <a:lvl9pPr marL="9144000" indent="0">
              <a:buNone/>
              <a:defRPr sz="4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74605" y="6680200"/>
            <a:ext cx="9670850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572876" y="4483101"/>
            <a:ext cx="9718478" cy="2197099"/>
          </a:xfrm>
        </p:spPr>
        <p:txBody>
          <a:bodyPr anchor="b"/>
          <a:lstStyle>
            <a:lvl1pPr marL="0" indent="0">
              <a:buNone/>
              <a:defRPr sz="6000" b="1"/>
            </a:lvl1pPr>
            <a:lvl2pPr marL="1143000" indent="0">
              <a:buNone/>
              <a:defRPr sz="5000" b="1"/>
            </a:lvl2pPr>
            <a:lvl3pPr marL="2286000" indent="0">
              <a:buNone/>
              <a:defRPr sz="4500" b="1"/>
            </a:lvl3pPr>
            <a:lvl4pPr marL="3429000" indent="0">
              <a:buNone/>
              <a:defRPr sz="4000" b="1"/>
            </a:lvl4pPr>
            <a:lvl5pPr marL="4572000" indent="0">
              <a:buNone/>
              <a:defRPr sz="4000" b="1"/>
            </a:lvl5pPr>
            <a:lvl6pPr marL="5715000" indent="0">
              <a:buNone/>
              <a:defRPr sz="4000" b="1"/>
            </a:lvl6pPr>
            <a:lvl7pPr marL="6858000" indent="0">
              <a:buNone/>
              <a:defRPr sz="4000" b="1"/>
            </a:lvl7pPr>
            <a:lvl8pPr marL="8001000" indent="0">
              <a:buNone/>
              <a:defRPr sz="4000" b="1"/>
            </a:lvl8pPr>
            <a:lvl9pPr marL="9144000" indent="0">
              <a:buNone/>
              <a:defRPr sz="4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572876" y="6680200"/>
            <a:ext cx="9718478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5.01.2026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13612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5.01.2026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96669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5.01.2026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48183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3" y="1219200"/>
            <a:ext cx="7372945" cy="4267200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8477" y="2633137"/>
            <a:ext cx="11572875" cy="12996333"/>
          </a:xfrm>
        </p:spPr>
        <p:txBody>
          <a:bodyPr/>
          <a:lstStyle>
            <a:lvl1pPr>
              <a:defRPr sz="8000"/>
            </a:lvl1pPr>
            <a:lvl2pPr>
              <a:defRPr sz="7000"/>
            </a:lvl2pPr>
            <a:lvl3pPr>
              <a:defRPr sz="6000"/>
            </a:lvl3pPr>
            <a:lvl4pPr>
              <a:defRPr sz="5000"/>
            </a:lvl4pPr>
            <a:lvl5pPr>
              <a:defRPr sz="5000"/>
            </a:lvl5pPr>
            <a:lvl6pPr>
              <a:defRPr sz="5000"/>
            </a:lvl6pPr>
            <a:lvl7pPr>
              <a:defRPr sz="5000"/>
            </a:lvl7pPr>
            <a:lvl8pPr>
              <a:defRPr sz="5000"/>
            </a:lvl8pPr>
            <a:lvl9pPr>
              <a:defRPr sz="5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3" y="5486400"/>
            <a:ext cx="7372945" cy="10164235"/>
          </a:xfrm>
        </p:spPr>
        <p:txBody>
          <a:bodyPr/>
          <a:lstStyle>
            <a:lvl1pPr marL="0" indent="0">
              <a:buNone/>
              <a:defRPr sz="4000"/>
            </a:lvl1pPr>
            <a:lvl2pPr marL="1143000" indent="0">
              <a:buNone/>
              <a:defRPr sz="3500"/>
            </a:lvl2pPr>
            <a:lvl3pPr marL="2286000" indent="0">
              <a:buNone/>
              <a:defRPr sz="3000"/>
            </a:lvl3pPr>
            <a:lvl4pPr marL="3429000" indent="0">
              <a:buNone/>
              <a:defRPr sz="2500"/>
            </a:lvl4pPr>
            <a:lvl5pPr marL="4572000" indent="0">
              <a:buNone/>
              <a:defRPr sz="2500"/>
            </a:lvl5pPr>
            <a:lvl6pPr marL="5715000" indent="0">
              <a:buNone/>
              <a:defRPr sz="2500"/>
            </a:lvl6pPr>
            <a:lvl7pPr marL="6858000" indent="0">
              <a:buNone/>
              <a:defRPr sz="2500"/>
            </a:lvl7pPr>
            <a:lvl8pPr marL="8001000" indent="0">
              <a:buNone/>
              <a:defRPr sz="2500"/>
            </a:lvl8pPr>
            <a:lvl9pPr marL="9144000" indent="0">
              <a:buNone/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5.01.2026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41206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3" y="1219200"/>
            <a:ext cx="7372945" cy="4267200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18477" y="2633137"/>
            <a:ext cx="11572875" cy="12996333"/>
          </a:xfrm>
        </p:spPr>
        <p:txBody>
          <a:bodyPr anchor="t"/>
          <a:lstStyle>
            <a:lvl1pPr marL="0" indent="0">
              <a:buNone/>
              <a:defRPr sz="8000"/>
            </a:lvl1pPr>
            <a:lvl2pPr marL="1143000" indent="0">
              <a:buNone/>
              <a:defRPr sz="7000"/>
            </a:lvl2pPr>
            <a:lvl3pPr marL="2286000" indent="0">
              <a:buNone/>
              <a:defRPr sz="6000"/>
            </a:lvl3pPr>
            <a:lvl4pPr marL="3429000" indent="0">
              <a:buNone/>
              <a:defRPr sz="5000"/>
            </a:lvl4pPr>
            <a:lvl5pPr marL="4572000" indent="0">
              <a:buNone/>
              <a:defRPr sz="5000"/>
            </a:lvl5pPr>
            <a:lvl6pPr marL="5715000" indent="0">
              <a:buNone/>
              <a:defRPr sz="5000"/>
            </a:lvl6pPr>
            <a:lvl7pPr marL="6858000" indent="0">
              <a:buNone/>
              <a:defRPr sz="5000"/>
            </a:lvl7pPr>
            <a:lvl8pPr marL="8001000" indent="0">
              <a:buNone/>
              <a:defRPr sz="5000"/>
            </a:lvl8pPr>
            <a:lvl9pPr marL="9144000" indent="0">
              <a:buNone/>
              <a:defRPr sz="5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3" y="5486400"/>
            <a:ext cx="7372945" cy="10164235"/>
          </a:xfrm>
        </p:spPr>
        <p:txBody>
          <a:bodyPr/>
          <a:lstStyle>
            <a:lvl1pPr marL="0" indent="0">
              <a:buNone/>
              <a:defRPr sz="4000"/>
            </a:lvl1pPr>
            <a:lvl2pPr marL="1143000" indent="0">
              <a:buNone/>
              <a:defRPr sz="3500"/>
            </a:lvl2pPr>
            <a:lvl3pPr marL="2286000" indent="0">
              <a:buNone/>
              <a:defRPr sz="3000"/>
            </a:lvl3pPr>
            <a:lvl4pPr marL="3429000" indent="0">
              <a:buNone/>
              <a:defRPr sz="2500"/>
            </a:lvl4pPr>
            <a:lvl5pPr marL="4572000" indent="0">
              <a:buNone/>
              <a:defRPr sz="2500"/>
            </a:lvl5pPr>
            <a:lvl6pPr marL="5715000" indent="0">
              <a:buNone/>
              <a:defRPr sz="2500"/>
            </a:lvl6pPr>
            <a:lvl7pPr marL="6858000" indent="0">
              <a:buNone/>
              <a:defRPr sz="2500"/>
            </a:lvl7pPr>
            <a:lvl8pPr marL="8001000" indent="0">
              <a:buNone/>
              <a:defRPr sz="2500"/>
            </a:lvl8pPr>
            <a:lvl9pPr marL="9144000" indent="0">
              <a:buNone/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5.01.2026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85958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5.01.2026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15033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359189" y="973666"/>
            <a:ext cx="4929188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71626" y="973666"/>
            <a:ext cx="14501813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5.01.2026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5665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71625" y="973670"/>
            <a:ext cx="1971675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1625" y="4868333"/>
            <a:ext cx="1971675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71625" y="16950271"/>
            <a:ext cx="51435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20D1FC-2253-9541-B174-ECE369BAD33E}" type="datetimeFigureOut">
              <a:rPr lang="pl-PL" smtClean="0"/>
              <a:t>5.01.2026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72375" y="16950271"/>
            <a:ext cx="771525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144875" y="16950271"/>
            <a:ext cx="51435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55228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2286000" rtl="0" eaLnBrk="1" latinLnBrk="0" hangingPunct="1">
        <a:lnSpc>
          <a:spcPct val="90000"/>
        </a:lnSpc>
        <a:spcBef>
          <a:spcPct val="0"/>
        </a:spcBef>
        <a:buNone/>
        <a:defRPr sz="11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1500" indent="-571500" algn="l" defTabSz="2286000" rtl="0" eaLnBrk="1" latinLnBrk="0" hangingPunct="1">
        <a:lnSpc>
          <a:spcPct val="90000"/>
        </a:lnSpc>
        <a:spcBef>
          <a:spcPts val="2500"/>
        </a:spcBef>
        <a:buFont typeface="Arial" panose="020B0604020202020204" pitchFamily="34" charset="0"/>
        <a:buChar char="•"/>
        <a:defRPr sz="700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2pPr>
      <a:lvl3pPr marL="2857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5000" kern="1200">
          <a:solidFill>
            <a:schemeClr val="tx1"/>
          </a:solidFill>
          <a:latin typeface="+mn-lt"/>
          <a:ea typeface="+mn-ea"/>
          <a:cs typeface="+mn-cs"/>
        </a:defRPr>
      </a:lvl3pPr>
      <a:lvl4pPr marL="4000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4pPr>
      <a:lvl5pPr marL="5143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5pPr>
      <a:lvl6pPr marL="6286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6pPr>
      <a:lvl7pPr marL="7429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7pPr>
      <a:lvl8pPr marL="8572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8pPr>
      <a:lvl9pPr marL="9715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1pPr>
      <a:lvl2pPr marL="1143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3pPr>
      <a:lvl4pPr marL="3429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4pPr>
      <a:lvl5pPr marL="4572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5pPr>
      <a:lvl6pPr marL="5715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6pPr>
      <a:lvl7pPr marL="6858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7pPr>
      <a:lvl8pPr marL="8001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8pPr>
      <a:lvl9pPr marL="9144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41727B-FEF8-44B3-37B7-3FF4765D230B}"/>
              </a:ext>
            </a:extLst>
          </p:cNvPr>
          <p:cNvSpPr txBox="1"/>
          <p:nvPr/>
        </p:nvSpPr>
        <p:spPr>
          <a:xfrm>
            <a:off x="560124" y="758568"/>
            <a:ext cx="1248740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4.3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008E97-840D-F703-3F7B-50A11CE6F3E5}"/>
              </a:ext>
            </a:extLst>
          </p:cNvPr>
          <p:cNvSpPr txBox="1"/>
          <p:nvPr/>
        </p:nvSpPr>
        <p:spPr>
          <a:xfrm>
            <a:off x="560126" y="1098838"/>
            <a:ext cx="193149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700" dirty="0"/>
              <a:t>Algorytm A*</a:t>
            </a:r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E402C046-98F0-65EE-8D76-B5C679C100EC}"/>
              </a:ext>
            </a:extLst>
          </p:cNvPr>
          <p:cNvSpPr/>
          <p:nvPr/>
        </p:nvSpPr>
        <p:spPr>
          <a:xfrm>
            <a:off x="9293245" y="1946939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</a:t>
            </a:r>
          </a:p>
        </p:txBody>
      </p:sp>
      <p:sp>
        <p:nvSpPr>
          <p:cNvPr id="3" name="Data 2">
            <a:extLst>
              <a:ext uri="{FF2B5EF4-FFF2-40B4-BE49-F238E27FC236}">
                <a16:creationId xmlns:a16="http://schemas.microsoft.com/office/drawing/2014/main" id="{4A72179A-B4D9-54D5-52AA-6A4EB83957D4}"/>
              </a:ext>
            </a:extLst>
          </p:cNvPr>
          <p:cNvSpPr/>
          <p:nvPr/>
        </p:nvSpPr>
        <p:spPr>
          <a:xfrm>
            <a:off x="7494839" y="2404441"/>
            <a:ext cx="4282616" cy="457076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900" dirty="0" err="1"/>
              <a:t>Wczytaj</a:t>
            </a:r>
            <a:r>
              <a:rPr lang="en-US" sz="900" dirty="0"/>
              <a:t> </a:t>
            </a:r>
            <a:r>
              <a:rPr lang="en-US" sz="900" dirty="0" err="1"/>
              <a:t>graf</a:t>
            </a:r>
            <a:r>
              <a:rPr lang="en-US" sz="900" dirty="0"/>
              <a:t> </a:t>
            </a:r>
            <a:r>
              <a:rPr lang="en-US" sz="900" dirty="0" err="1"/>
              <a:t>skierowany</a:t>
            </a:r>
            <a:r>
              <a:rPr lang="en-US" sz="900" dirty="0"/>
              <a:t> </a:t>
            </a:r>
            <a:r>
              <a:rPr lang="en-US" sz="900" i="1" dirty="0"/>
              <a:t>graph</a:t>
            </a:r>
            <a:r>
              <a:rPr lang="en-US" sz="900" dirty="0"/>
              <a:t> w </a:t>
            </a:r>
            <a:r>
              <a:rPr lang="en-US" sz="900" dirty="0" err="1"/>
              <a:t>postaci</a:t>
            </a:r>
            <a:r>
              <a:rPr lang="en-US" sz="900" dirty="0"/>
              <a:t> </a:t>
            </a:r>
          </a:p>
          <a:p>
            <a:pPr algn="ctr"/>
            <a:r>
              <a:rPr lang="en-US" sz="900" dirty="0" err="1"/>
              <a:t>macierzowej</a:t>
            </a:r>
            <a:r>
              <a:rPr lang="en-US" sz="900" dirty="0"/>
              <a:t>, </a:t>
            </a:r>
            <a:r>
              <a:rPr lang="en-US" sz="900" i="1" dirty="0"/>
              <a:t>source</a:t>
            </a:r>
            <a:r>
              <a:rPr lang="en-US" sz="900" dirty="0"/>
              <a:t>, </a:t>
            </a:r>
            <a:r>
              <a:rPr lang="en-US" sz="900" i="1" dirty="0"/>
              <a:t>destination </a:t>
            </a:r>
            <a:r>
              <a:rPr lang="en-US" sz="900" dirty="0" err="1"/>
              <a:t>oraz</a:t>
            </a:r>
            <a:r>
              <a:rPr lang="en-US" sz="900" dirty="0"/>
              <a:t> </a:t>
            </a:r>
            <a:r>
              <a:rPr lang="en-US" sz="900" dirty="0" err="1"/>
              <a:t>funkcję</a:t>
            </a:r>
            <a:r>
              <a:rPr lang="en-US" sz="900" dirty="0"/>
              <a:t> </a:t>
            </a:r>
            <a:r>
              <a:rPr lang="en-US" sz="900" dirty="0" err="1"/>
              <a:t>heurystyczną</a:t>
            </a:r>
            <a:endParaRPr lang="en-US" sz="900" dirty="0"/>
          </a:p>
          <a:p>
            <a:pPr algn="ctr"/>
            <a:r>
              <a:rPr lang="en-US" sz="900" dirty="0" err="1"/>
              <a:t>przewidywnej</a:t>
            </a:r>
            <a:r>
              <a:rPr lang="en-US" sz="900" dirty="0"/>
              <a:t> </a:t>
            </a:r>
            <a:r>
              <a:rPr lang="en-US" sz="900" dirty="0" err="1"/>
              <a:t>odległości</a:t>
            </a:r>
            <a:r>
              <a:rPr lang="en-US" sz="900" dirty="0"/>
              <a:t> </a:t>
            </a:r>
            <a:r>
              <a:rPr lang="en-US" sz="900" dirty="0" err="1"/>
              <a:t>approximate_distance</a:t>
            </a:r>
            <a:endParaRPr lang="en-US" sz="900" dirty="0"/>
          </a:p>
        </p:txBody>
      </p:sp>
      <p:sp>
        <p:nvSpPr>
          <p:cNvPr id="10" name="Process 9">
            <a:extLst>
              <a:ext uri="{FF2B5EF4-FFF2-40B4-BE49-F238E27FC236}">
                <a16:creationId xmlns:a16="http://schemas.microsoft.com/office/drawing/2014/main" id="{92607B48-BBA5-DB96-98D3-5BC2BC88C912}"/>
              </a:ext>
            </a:extLst>
          </p:cNvPr>
          <p:cNvSpPr/>
          <p:nvPr/>
        </p:nvSpPr>
        <p:spPr>
          <a:xfrm>
            <a:off x="8523772" y="3061839"/>
            <a:ext cx="2224746" cy="59836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vertex_count</a:t>
            </a:r>
            <a:r>
              <a:rPr lang="pl-PL" sz="900" dirty="0"/>
              <a:t> ← ilość wierzchołków </a:t>
            </a:r>
            <a:r>
              <a:rPr lang="pl-PL" sz="900" i="1" dirty="0" err="1"/>
              <a:t>graph</a:t>
            </a:r>
            <a:endParaRPr lang="pl-PL" sz="900" i="1" dirty="0"/>
          </a:p>
          <a:p>
            <a:pPr algn="ctr"/>
            <a:r>
              <a:rPr lang="pl-PL" sz="900" i="1" dirty="0" err="1"/>
              <a:t>weights</a:t>
            </a:r>
            <a:r>
              <a:rPr lang="pl-PL" sz="900" dirty="0"/>
              <a:t> ← tablica długości </a:t>
            </a:r>
            <a:r>
              <a:rPr lang="pl-PL" sz="900" i="1" dirty="0" err="1"/>
              <a:t>vertex_count</a:t>
            </a:r>
            <a:endParaRPr lang="pl-PL" sz="900" i="1" dirty="0"/>
          </a:p>
          <a:p>
            <a:pPr algn="ctr"/>
            <a:r>
              <a:rPr lang="pl-PL" sz="900" i="1" dirty="0" err="1"/>
              <a:t>history</a:t>
            </a:r>
            <a:r>
              <a:rPr lang="pl-PL" sz="900" dirty="0"/>
              <a:t> ← tablica długości </a:t>
            </a:r>
            <a:r>
              <a:rPr lang="pl-PL" sz="900" i="1" dirty="0" err="1"/>
              <a:t>vertex_count</a:t>
            </a:r>
            <a:endParaRPr lang="pl-PL" sz="900" i="1" dirty="0"/>
          </a:p>
          <a:p>
            <a:pPr algn="ctr"/>
            <a:r>
              <a:rPr lang="pl-PL" sz="900" i="1" dirty="0"/>
              <a:t>i</a:t>
            </a:r>
            <a:r>
              <a:rPr lang="pl-PL" sz="900" dirty="0"/>
              <a:t> ← 0</a:t>
            </a:r>
          </a:p>
        </p:txBody>
      </p:sp>
      <p:sp>
        <p:nvSpPr>
          <p:cNvPr id="12" name="Decision 11">
            <a:extLst>
              <a:ext uri="{FF2B5EF4-FFF2-40B4-BE49-F238E27FC236}">
                <a16:creationId xmlns:a16="http://schemas.microsoft.com/office/drawing/2014/main" id="{50C9729F-3E34-0AC2-64FF-B7442BC10849}"/>
              </a:ext>
            </a:extLst>
          </p:cNvPr>
          <p:cNvSpPr/>
          <p:nvPr/>
        </p:nvSpPr>
        <p:spPr>
          <a:xfrm>
            <a:off x="8892668" y="3860521"/>
            <a:ext cx="1486954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i</a:t>
            </a:r>
            <a:r>
              <a:rPr lang="pl-PL" sz="900" dirty="0"/>
              <a:t> &lt; </a:t>
            </a:r>
            <a:r>
              <a:rPr lang="pl-PL" sz="900" i="1" dirty="0" err="1"/>
              <a:t>vertex_count</a:t>
            </a:r>
            <a:endParaRPr lang="pl-PL" sz="900" i="1" dirty="0"/>
          </a:p>
        </p:txBody>
      </p:sp>
      <p:sp>
        <p:nvSpPr>
          <p:cNvPr id="13" name="Process 12">
            <a:extLst>
              <a:ext uri="{FF2B5EF4-FFF2-40B4-BE49-F238E27FC236}">
                <a16:creationId xmlns:a16="http://schemas.microsoft.com/office/drawing/2014/main" id="{B71773AC-B58C-21CA-5570-659AF8D04F8E}"/>
              </a:ext>
            </a:extLst>
          </p:cNvPr>
          <p:cNvSpPr/>
          <p:nvPr/>
        </p:nvSpPr>
        <p:spPr>
          <a:xfrm>
            <a:off x="10047541" y="4386140"/>
            <a:ext cx="1657908" cy="44956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weights</a:t>
            </a:r>
            <a:r>
              <a:rPr lang="pl-PL" sz="900" dirty="0"/>
              <a:t>[</a:t>
            </a:r>
            <a:r>
              <a:rPr lang="pl-PL" sz="900" i="1" dirty="0"/>
              <a:t>i</a:t>
            </a:r>
            <a:r>
              <a:rPr lang="pl-PL" sz="900" dirty="0"/>
              <a:t>] ← para ∞, ∞</a:t>
            </a:r>
          </a:p>
          <a:p>
            <a:pPr algn="ctr"/>
            <a:r>
              <a:rPr lang="pl-PL" sz="900" i="1" dirty="0" err="1"/>
              <a:t>history</a:t>
            </a:r>
            <a:r>
              <a:rPr lang="pl-PL" sz="900" dirty="0"/>
              <a:t>[</a:t>
            </a:r>
            <a:r>
              <a:rPr lang="pl-PL" sz="900" i="1" dirty="0"/>
              <a:t>i</a:t>
            </a:r>
            <a:r>
              <a:rPr lang="pl-PL" sz="900" dirty="0"/>
              <a:t>] ← brak</a:t>
            </a:r>
          </a:p>
          <a:p>
            <a:pPr algn="ctr"/>
            <a:r>
              <a:rPr lang="pl-PL" sz="900" i="1" dirty="0"/>
              <a:t>i</a:t>
            </a:r>
            <a:r>
              <a:rPr lang="pl-PL" sz="900" dirty="0"/>
              <a:t> ← </a:t>
            </a:r>
            <a:r>
              <a:rPr lang="pl-PL" sz="900" i="1" dirty="0"/>
              <a:t>i</a:t>
            </a:r>
            <a:r>
              <a:rPr lang="pl-PL" sz="900" dirty="0"/>
              <a:t> + 1</a:t>
            </a:r>
          </a:p>
        </p:txBody>
      </p:sp>
      <p:sp>
        <p:nvSpPr>
          <p:cNvPr id="14" name="Process 13">
            <a:extLst>
              <a:ext uri="{FF2B5EF4-FFF2-40B4-BE49-F238E27FC236}">
                <a16:creationId xmlns:a16="http://schemas.microsoft.com/office/drawing/2014/main" id="{59A4D207-8804-FF7E-9846-DB3C9FF444AD}"/>
              </a:ext>
            </a:extLst>
          </p:cNvPr>
          <p:cNvSpPr/>
          <p:nvPr/>
        </p:nvSpPr>
        <p:spPr>
          <a:xfrm>
            <a:off x="6622558" y="4401113"/>
            <a:ext cx="3112276" cy="50050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pending_vertices</a:t>
            </a:r>
            <a:r>
              <a:rPr lang="pl-PL" sz="900" i="1" dirty="0"/>
              <a:t> </a:t>
            </a:r>
            <a:r>
              <a:rPr lang="pl-PL" sz="900" dirty="0"/>
              <a:t>← set pojemności </a:t>
            </a:r>
            <a:r>
              <a:rPr lang="pl-PL" sz="900" i="1" dirty="0" err="1"/>
              <a:t>vertex_count</a:t>
            </a:r>
            <a:endParaRPr lang="pl-PL" sz="900" i="1" dirty="0"/>
          </a:p>
          <a:p>
            <a:pPr algn="ctr"/>
            <a:r>
              <a:rPr lang="pl-PL" sz="900" dirty="0"/>
              <a:t>Dodaj </a:t>
            </a:r>
            <a:r>
              <a:rPr lang="pl-PL" sz="900" i="1" dirty="0" err="1"/>
              <a:t>source</a:t>
            </a:r>
            <a:r>
              <a:rPr lang="pl-PL" sz="900" dirty="0"/>
              <a:t> do </a:t>
            </a:r>
            <a:r>
              <a:rPr lang="pl-PL" sz="900" i="1" dirty="0" err="1"/>
              <a:t>pending_vertices</a:t>
            </a:r>
            <a:endParaRPr lang="pl-PL" sz="900" i="1" dirty="0"/>
          </a:p>
          <a:p>
            <a:pPr algn="ctr"/>
            <a:r>
              <a:rPr lang="pl-PL" sz="900" i="1" dirty="0" err="1"/>
              <a:t>weights</a:t>
            </a:r>
            <a:r>
              <a:rPr lang="pl-PL" sz="900" dirty="0"/>
              <a:t>[</a:t>
            </a:r>
            <a:r>
              <a:rPr lang="pl-PL" sz="900" i="1" dirty="0" err="1"/>
              <a:t>source</a:t>
            </a:r>
            <a:r>
              <a:rPr lang="pl-PL" sz="900" dirty="0"/>
              <a:t>] ← para 0, </a:t>
            </a:r>
            <a:r>
              <a:rPr lang="pl-PL" sz="900" i="1" dirty="0" err="1"/>
              <a:t>approximate_distance</a:t>
            </a:r>
            <a:r>
              <a:rPr lang="pl-PL" sz="900" dirty="0"/>
              <a:t>(</a:t>
            </a:r>
            <a:r>
              <a:rPr lang="pl-PL" sz="900" i="1" dirty="0" err="1"/>
              <a:t>source</a:t>
            </a:r>
            <a:r>
              <a:rPr lang="pl-PL" sz="900" dirty="0"/>
              <a:t>)</a:t>
            </a:r>
            <a:endParaRPr lang="pl-PL" sz="900" i="1" dirty="0"/>
          </a:p>
        </p:txBody>
      </p:sp>
      <p:sp>
        <p:nvSpPr>
          <p:cNvPr id="21" name="Decision 20">
            <a:extLst>
              <a:ext uri="{FF2B5EF4-FFF2-40B4-BE49-F238E27FC236}">
                <a16:creationId xmlns:a16="http://schemas.microsoft.com/office/drawing/2014/main" id="{3ADA6096-6CAF-8FB6-5D65-29C9EE2D9715}"/>
              </a:ext>
            </a:extLst>
          </p:cNvPr>
          <p:cNvSpPr/>
          <p:nvPr/>
        </p:nvSpPr>
        <p:spPr>
          <a:xfrm>
            <a:off x="7107193" y="5494082"/>
            <a:ext cx="2143005" cy="48817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dirty="0"/>
              <a:t>długość </a:t>
            </a:r>
            <a:r>
              <a:rPr lang="pl-PL" sz="900" i="1" dirty="0" err="1"/>
              <a:t>pending_vertices</a:t>
            </a:r>
            <a:r>
              <a:rPr lang="pl-PL" sz="900" dirty="0"/>
              <a:t> &gt; 0</a:t>
            </a:r>
          </a:p>
        </p:txBody>
      </p:sp>
      <p:sp>
        <p:nvSpPr>
          <p:cNvPr id="22" name="Process 21">
            <a:extLst>
              <a:ext uri="{FF2B5EF4-FFF2-40B4-BE49-F238E27FC236}">
                <a16:creationId xmlns:a16="http://schemas.microsoft.com/office/drawing/2014/main" id="{D0C8CA3B-7E2B-4C24-8EC5-3064CF9D510C}"/>
              </a:ext>
            </a:extLst>
          </p:cNvPr>
          <p:cNvSpPr/>
          <p:nvPr/>
        </p:nvSpPr>
        <p:spPr>
          <a:xfrm>
            <a:off x="9074465" y="6182575"/>
            <a:ext cx="4144472" cy="241481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vertex</a:t>
            </a:r>
            <a:r>
              <a:rPr lang="pl-PL" sz="900" i="1" dirty="0"/>
              <a:t> </a:t>
            </a:r>
            <a:r>
              <a:rPr lang="pl-PL" sz="900" dirty="0"/>
              <a:t>← element z </a:t>
            </a:r>
            <a:r>
              <a:rPr lang="pl-PL" sz="900" i="1" dirty="0" err="1"/>
              <a:t>pending_vertices</a:t>
            </a:r>
            <a:r>
              <a:rPr lang="pl-PL" sz="900" dirty="0"/>
              <a:t> o najmniejszej wartości </a:t>
            </a:r>
            <a:r>
              <a:rPr lang="pl-PL" sz="900" i="1" dirty="0" err="1"/>
              <a:t>weights</a:t>
            </a:r>
            <a:r>
              <a:rPr lang="pl-PL" sz="900" dirty="0"/>
              <a:t>[</a:t>
            </a:r>
            <a:r>
              <a:rPr lang="pl-PL" sz="900" i="1" dirty="0" err="1"/>
              <a:t>vertex</a:t>
            </a:r>
            <a:r>
              <a:rPr lang="pl-PL" sz="900" dirty="0"/>
              <a:t>][1]</a:t>
            </a:r>
            <a:endParaRPr lang="pl-PL" sz="900" i="1" dirty="0"/>
          </a:p>
        </p:txBody>
      </p:sp>
      <p:sp>
        <p:nvSpPr>
          <p:cNvPr id="24" name="Decision 23">
            <a:extLst>
              <a:ext uri="{FF2B5EF4-FFF2-40B4-BE49-F238E27FC236}">
                <a16:creationId xmlns:a16="http://schemas.microsoft.com/office/drawing/2014/main" id="{3F5C38E5-0B5A-D8CF-A8FE-12B24D1B4AE6}"/>
              </a:ext>
            </a:extLst>
          </p:cNvPr>
          <p:cNvSpPr/>
          <p:nvPr/>
        </p:nvSpPr>
        <p:spPr>
          <a:xfrm>
            <a:off x="11925407" y="7795453"/>
            <a:ext cx="1936106" cy="366372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 err="1"/>
              <a:t>neighbor</a:t>
            </a:r>
            <a:r>
              <a:rPr lang="pl-PL" sz="900" dirty="0"/>
              <a:t> &lt; </a:t>
            </a:r>
            <a:r>
              <a:rPr lang="pl-PL" sz="900" i="1" dirty="0" err="1"/>
              <a:t>vertex_count</a:t>
            </a:r>
            <a:endParaRPr lang="pl-PL" sz="900" i="1" dirty="0"/>
          </a:p>
        </p:txBody>
      </p:sp>
      <p:sp>
        <p:nvSpPr>
          <p:cNvPr id="26" name="Process 25">
            <a:extLst>
              <a:ext uri="{FF2B5EF4-FFF2-40B4-BE49-F238E27FC236}">
                <a16:creationId xmlns:a16="http://schemas.microsoft.com/office/drawing/2014/main" id="{A021311F-016A-9A11-60DF-7CB6EE6D2872}"/>
              </a:ext>
            </a:extLst>
          </p:cNvPr>
          <p:cNvSpPr/>
          <p:nvPr/>
        </p:nvSpPr>
        <p:spPr>
          <a:xfrm>
            <a:off x="13861513" y="8362148"/>
            <a:ext cx="2039962" cy="226709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distance</a:t>
            </a:r>
            <a:r>
              <a:rPr lang="pl-PL" sz="900" dirty="0"/>
              <a:t> ← </a:t>
            </a:r>
            <a:r>
              <a:rPr lang="pl-PL" sz="900" i="1" dirty="0" err="1"/>
              <a:t>graph</a:t>
            </a:r>
            <a:r>
              <a:rPr lang="pl-PL" sz="900" dirty="0"/>
              <a:t>[</a:t>
            </a:r>
            <a:r>
              <a:rPr lang="pl-PL" sz="900" i="1" dirty="0" err="1"/>
              <a:t>vertex</a:t>
            </a:r>
            <a:r>
              <a:rPr lang="pl-PL" sz="900" dirty="0"/>
              <a:t>][</a:t>
            </a:r>
            <a:r>
              <a:rPr lang="pl-PL" sz="900" i="1" dirty="0" err="1"/>
              <a:t>neighbor</a:t>
            </a:r>
            <a:r>
              <a:rPr lang="pl-PL" sz="900" dirty="0"/>
              <a:t>]</a:t>
            </a:r>
            <a:endParaRPr lang="pl-PL" sz="900" i="1" dirty="0"/>
          </a:p>
        </p:txBody>
      </p:sp>
      <p:sp>
        <p:nvSpPr>
          <p:cNvPr id="27" name="Decision 26">
            <a:extLst>
              <a:ext uri="{FF2B5EF4-FFF2-40B4-BE49-F238E27FC236}">
                <a16:creationId xmlns:a16="http://schemas.microsoft.com/office/drawing/2014/main" id="{04EFB253-79B9-B6D1-592F-FE425117AB84}"/>
              </a:ext>
            </a:extLst>
          </p:cNvPr>
          <p:cNvSpPr/>
          <p:nvPr/>
        </p:nvSpPr>
        <p:spPr>
          <a:xfrm>
            <a:off x="14209113" y="8789178"/>
            <a:ext cx="1344762" cy="366372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 err="1"/>
              <a:t>distance</a:t>
            </a:r>
            <a:r>
              <a:rPr lang="pl-PL" sz="900" dirty="0"/>
              <a:t> &gt; 0</a:t>
            </a:r>
            <a:endParaRPr lang="pl-PL" sz="900" i="1" dirty="0"/>
          </a:p>
        </p:txBody>
      </p:sp>
      <p:sp>
        <p:nvSpPr>
          <p:cNvPr id="29" name="Process 28">
            <a:extLst>
              <a:ext uri="{FF2B5EF4-FFF2-40B4-BE49-F238E27FC236}">
                <a16:creationId xmlns:a16="http://schemas.microsoft.com/office/drawing/2014/main" id="{EC41E8A0-4C34-4466-8AB7-889FCB261705}"/>
              </a:ext>
            </a:extLst>
          </p:cNvPr>
          <p:cNvSpPr/>
          <p:nvPr/>
        </p:nvSpPr>
        <p:spPr>
          <a:xfrm>
            <a:off x="15432370" y="9355873"/>
            <a:ext cx="2776538" cy="24894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calculated_weight</a:t>
            </a:r>
            <a:r>
              <a:rPr lang="pl-PL" sz="900" dirty="0"/>
              <a:t> ← </a:t>
            </a:r>
            <a:r>
              <a:rPr lang="pl-PL" sz="900" i="1" dirty="0" err="1"/>
              <a:t>weights</a:t>
            </a:r>
            <a:r>
              <a:rPr lang="pl-PL" sz="900" dirty="0"/>
              <a:t>[</a:t>
            </a:r>
            <a:r>
              <a:rPr lang="pl-PL" sz="900" i="1" dirty="0" err="1"/>
              <a:t>vertex</a:t>
            </a:r>
            <a:r>
              <a:rPr lang="pl-PL" sz="900" dirty="0"/>
              <a:t>][0] + </a:t>
            </a:r>
            <a:r>
              <a:rPr lang="pl-PL" sz="900" i="1" dirty="0" err="1"/>
              <a:t>distance</a:t>
            </a:r>
            <a:endParaRPr lang="pl-PL" sz="900" i="1" dirty="0"/>
          </a:p>
        </p:txBody>
      </p:sp>
      <p:sp>
        <p:nvSpPr>
          <p:cNvPr id="30" name="Decision 29">
            <a:extLst>
              <a:ext uri="{FF2B5EF4-FFF2-40B4-BE49-F238E27FC236}">
                <a16:creationId xmlns:a16="http://schemas.microsoft.com/office/drawing/2014/main" id="{81E55F73-1308-E477-43C4-36486C242CF5}"/>
              </a:ext>
            </a:extLst>
          </p:cNvPr>
          <p:cNvSpPr/>
          <p:nvPr/>
        </p:nvSpPr>
        <p:spPr>
          <a:xfrm>
            <a:off x="15895128" y="9805139"/>
            <a:ext cx="1851025" cy="55732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 err="1"/>
              <a:t>calculated_weight</a:t>
            </a:r>
            <a:br>
              <a:rPr lang="pl-PL" sz="900" i="1" dirty="0"/>
            </a:br>
            <a:r>
              <a:rPr lang="pl-PL" sz="900" dirty="0"/>
              <a:t>&lt; </a:t>
            </a:r>
            <a:r>
              <a:rPr lang="pl-PL" sz="900" i="1" dirty="0" err="1"/>
              <a:t>weights</a:t>
            </a:r>
            <a:r>
              <a:rPr lang="pl-PL" sz="900" dirty="0"/>
              <a:t>[</a:t>
            </a:r>
            <a:r>
              <a:rPr lang="pl-PL" sz="900" i="1" dirty="0" err="1"/>
              <a:t>neighbor</a:t>
            </a:r>
            <a:r>
              <a:rPr lang="pl-PL" sz="900" dirty="0"/>
              <a:t>][0]</a:t>
            </a:r>
            <a:endParaRPr lang="pl-PL" sz="900" i="1" dirty="0"/>
          </a:p>
        </p:txBody>
      </p:sp>
      <p:sp>
        <p:nvSpPr>
          <p:cNvPr id="31" name="Process 30">
            <a:extLst>
              <a:ext uri="{FF2B5EF4-FFF2-40B4-BE49-F238E27FC236}">
                <a16:creationId xmlns:a16="http://schemas.microsoft.com/office/drawing/2014/main" id="{88FDE5AC-91BD-6709-24D9-3A4C68E4AF9C}"/>
              </a:ext>
            </a:extLst>
          </p:cNvPr>
          <p:cNvSpPr/>
          <p:nvPr/>
        </p:nvSpPr>
        <p:spPr>
          <a:xfrm>
            <a:off x="16404927" y="10496872"/>
            <a:ext cx="5056200" cy="45805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weights</a:t>
            </a:r>
            <a:r>
              <a:rPr lang="pl-PL" sz="900" dirty="0"/>
              <a:t>[</a:t>
            </a:r>
            <a:r>
              <a:rPr lang="pl-PL" sz="900" i="1" dirty="0" err="1"/>
              <a:t>neighbor</a:t>
            </a:r>
            <a:r>
              <a:rPr lang="pl-PL" sz="900" dirty="0"/>
              <a:t>] ← para </a:t>
            </a:r>
            <a:r>
              <a:rPr lang="pl-PL" sz="900" i="1" dirty="0" err="1"/>
              <a:t>calculated_weight</a:t>
            </a:r>
            <a:r>
              <a:rPr lang="pl-PL" sz="900" dirty="0"/>
              <a:t>, </a:t>
            </a:r>
            <a:r>
              <a:rPr lang="pl-PL" sz="900" i="1" dirty="0" err="1"/>
              <a:t>calculated_weight</a:t>
            </a:r>
            <a:r>
              <a:rPr lang="pl-PL" sz="900" i="1" dirty="0"/>
              <a:t> + </a:t>
            </a:r>
            <a:r>
              <a:rPr lang="pl-PL" sz="900" i="1" dirty="0" err="1"/>
              <a:t>approximate_distance</a:t>
            </a:r>
            <a:r>
              <a:rPr lang="pl-PL" sz="900" dirty="0"/>
              <a:t>(</a:t>
            </a:r>
            <a:r>
              <a:rPr lang="pl-PL" sz="900" i="1" dirty="0" err="1"/>
              <a:t>neighbor</a:t>
            </a:r>
            <a:r>
              <a:rPr lang="pl-PL" sz="900" dirty="0"/>
              <a:t>)</a:t>
            </a:r>
            <a:endParaRPr lang="pl-PL" sz="900" i="1" dirty="0"/>
          </a:p>
          <a:p>
            <a:pPr algn="ctr"/>
            <a:r>
              <a:rPr lang="pl-PL" sz="900" i="1" dirty="0" err="1"/>
              <a:t>history</a:t>
            </a:r>
            <a:r>
              <a:rPr lang="pl-PL" sz="900" dirty="0"/>
              <a:t>[</a:t>
            </a:r>
            <a:r>
              <a:rPr lang="pl-PL" sz="900" i="1" dirty="0" err="1"/>
              <a:t>neighbor</a:t>
            </a:r>
            <a:r>
              <a:rPr lang="pl-PL" sz="900" dirty="0"/>
              <a:t>] ← </a:t>
            </a:r>
            <a:r>
              <a:rPr lang="pl-PL" sz="900" i="1" dirty="0" err="1"/>
              <a:t>vertex</a:t>
            </a:r>
            <a:endParaRPr lang="pl-PL" sz="900" i="1" dirty="0"/>
          </a:p>
          <a:p>
            <a:pPr algn="ctr"/>
            <a:r>
              <a:rPr lang="pl-PL" sz="900" dirty="0"/>
              <a:t>Dodaj </a:t>
            </a:r>
            <a:r>
              <a:rPr lang="pl-PL" sz="900" i="1" dirty="0" err="1"/>
              <a:t>neighbor</a:t>
            </a:r>
            <a:r>
              <a:rPr lang="pl-PL" sz="900" dirty="0"/>
              <a:t> do </a:t>
            </a:r>
            <a:r>
              <a:rPr lang="pl-PL" sz="900" i="1" dirty="0" err="1"/>
              <a:t>pending_vertices</a:t>
            </a:r>
            <a:endParaRPr lang="pl-PL" sz="900" i="1" dirty="0"/>
          </a:p>
        </p:txBody>
      </p:sp>
      <p:sp>
        <p:nvSpPr>
          <p:cNvPr id="34" name="Process 33">
            <a:extLst>
              <a:ext uri="{FF2B5EF4-FFF2-40B4-BE49-F238E27FC236}">
                <a16:creationId xmlns:a16="http://schemas.microsoft.com/office/drawing/2014/main" id="{52670826-43ED-7810-38C6-AA892DF02FF2}"/>
              </a:ext>
            </a:extLst>
          </p:cNvPr>
          <p:cNvSpPr/>
          <p:nvPr/>
        </p:nvSpPr>
        <p:spPr>
          <a:xfrm>
            <a:off x="6260297" y="8152664"/>
            <a:ext cx="1234542" cy="38880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path</a:t>
            </a:r>
            <a:r>
              <a:rPr lang="pl-PL" sz="900" dirty="0"/>
              <a:t> ← pusta lista</a:t>
            </a:r>
          </a:p>
          <a:p>
            <a:pPr algn="ctr"/>
            <a:r>
              <a:rPr lang="pl-PL" sz="900" i="1" dirty="0" err="1"/>
              <a:t>vertex</a:t>
            </a:r>
            <a:r>
              <a:rPr lang="pl-PL" sz="900" dirty="0"/>
              <a:t> ← </a:t>
            </a:r>
            <a:r>
              <a:rPr lang="pl-PL" sz="900" i="1" dirty="0" err="1"/>
              <a:t>destination</a:t>
            </a:r>
            <a:endParaRPr lang="pl-PL" sz="900" i="1" dirty="0"/>
          </a:p>
        </p:txBody>
      </p:sp>
      <p:sp>
        <p:nvSpPr>
          <p:cNvPr id="35" name="Decision 34">
            <a:extLst>
              <a:ext uri="{FF2B5EF4-FFF2-40B4-BE49-F238E27FC236}">
                <a16:creationId xmlns:a16="http://schemas.microsoft.com/office/drawing/2014/main" id="{1925D035-8FEB-CFFF-08D9-A3EA0B0AA546}"/>
              </a:ext>
            </a:extLst>
          </p:cNvPr>
          <p:cNvSpPr/>
          <p:nvPr/>
        </p:nvSpPr>
        <p:spPr>
          <a:xfrm>
            <a:off x="6205187" y="8741790"/>
            <a:ext cx="1344762" cy="366372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 err="1"/>
              <a:t>vertex</a:t>
            </a:r>
            <a:r>
              <a:rPr lang="pl-PL" sz="900" dirty="0"/>
              <a:t> &lt;&gt; -1</a:t>
            </a:r>
            <a:endParaRPr lang="pl-PL" sz="900" i="1" dirty="0"/>
          </a:p>
        </p:txBody>
      </p:sp>
      <p:sp>
        <p:nvSpPr>
          <p:cNvPr id="36" name="Process 35">
            <a:extLst>
              <a:ext uri="{FF2B5EF4-FFF2-40B4-BE49-F238E27FC236}">
                <a16:creationId xmlns:a16="http://schemas.microsoft.com/office/drawing/2014/main" id="{7299B65D-EF7A-EDB8-93C2-041906333929}"/>
              </a:ext>
            </a:extLst>
          </p:cNvPr>
          <p:cNvSpPr/>
          <p:nvPr/>
        </p:nvSpPr>
        <p:spPr>
          <a:xfrm>
            <a:off x="7494840" y="9308485"/>
            <a:ext cx="2275465" cy="374479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Wstaw wartość </a:t>
            </a:r>
            <a:r>
              <a:rPr lang="pl-PL" sz="900" i="1" dirty="0" err="1"/>
              <a:t>vertex</a:t>
            </a:r>
            <a:r>
              <a:rPr lang="pl-PL" sz="900" dirty="0"/>
              <a:t> na pozycji 0 do </a:t>
            </a:r>
            <a:r>
              <a:rPr lang="pl-PL" sz="900" i="1" dirty="0" err="1"/>
              <a:t>path</a:t>
            </a:r>
            <a:endParaRPr lang="pl-PL" sz="900" i="1" dirty="0"/>
          </a:p>
          <a:p>
            <a:pPr algn="ctr"/>
            <a:r>
              <a:rPr lang="pl-PL" sz="900" i="1" dirty="0" err="1"/>
              <a:t>vertex</a:t>
            </a:r>
            <a:r>
              <a:rPr lang="pl-PL" sz="900" dirty="0"/>
              <a:t> ← </a:t>
            </a:r>
            <a:r>
              <a:rPr lang="pl-PL" sz="900" i="1" dirty="0" err="1"/>
              <a:t>history</a:t>
            </a:r>
            <a:r>
              <a:rPr lang="pl-PL" sz="900" dirty="0"/>
              <a:t>[</a:t>
            </a:r>
            <a:r>
              <a:rPr lang="pl-PL" sz="900" i="1" dirty="0" err="1"/>
              <a:t>vertex</a:t>
            </a:r>
            <a:r>
              <a:rPr lang="pl-PL" sz="900" dirty="0"/>
              <a:t>]</a:t>
            </a:r>
          </a:p>
        </p:txBody>
      </p:sp>
      <p:sp>
        <p:nvSpPr>
          <p:cNvPr id="37" name="Terminator 36">
            <a:extLst>
              <a:ext uri="{FF2B5EF4-FFF2-40B4-BE49-F238E27FC236}">
                <a16:creationId xmlns:a16="http://schemas.microsoft.com/office/drawing/2014/main" id="{1E007AA1-6347-0912-982B-AA0380FE56F6}"/>
              </a:ext>
            </a:extLst>
          </p:cNvPr>
          <p:cNvSpPr/>
          <p:nvPr/>
        </p:nvSpPr>
        <p:spPr>
          <a:xfrm>
            <a:off x="4661986" y="9873166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Stop</a:t>
            </a:r>
          </a:p>
        </p:txBody>
      </p:sp>
      <p:sp>
        <p:nvSpPr>
          <p:cNvPr id="38" name="Data 37">
            <a:extLst>
              <a:ext uri="{FF2B5EF4-FFF2-40B4-BE49-F238E27FC236}">
                <a16:creationId xmlns:a16="http://schemas.microsoft.com/office/drawing/2014/main" id="{4761B37D-0896-3323-B981-C28739D0C381}"/>
              </a:ext>
            </a:extLst>
          </p:cNvPr>
          <p:cNvSpPr/>
          <p:nvPr/>
        </p:nvSpPr>
        <p:spPr>
          <a:xfrm>
            <a:off x="3210333" y="9315398"/>
            <a:ext cx="3589109" cy="357446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dirty="0" err="1"/>
              <a:t>ścieżkę</a:t>
            </a:r>
            <a:r>
              <a:rPr lang="en-US" sz="900" dirty="0"/>
              <a:t> </a:t>
            </a:r>
            <a:r>
              <a:rPr lang="en-US" sz="900" i="1" dirty="0"/>
              <a:t>path</a:t>
            </a:r>
            <a:r>
              <a:rPr lang="en-US" sz="900" dirty="0"/>
              <a:t> </a:t>
            </a:r>
            <a:r>
              <a:rPr lang="en-US" sz="900" dirty="0" err="1"/>
              <a:t>oraz</a:t>
            </a:r>
            <a:r>
              <a:rPr lang="en-US" sz="900" dirty="0"/>
              <a:t> </a:t>
            </a:r>
            <a:r>
              <a:rPr lang="en-US" sz="900" dirty="0" err="1"/>
              <a:t>sumaryczny</a:t>
            </a:r>
            <a:r>
              <a:rPr lang="en-US" sz="900" dirty="0"/>
              <a:t> </a:t>
            </a:r>
            <a:r>
              <a:rPr lang="en-US" sz="900" dirty="0" err="1"/>
              <a:t>dystans</a:t>
            </a:r>
            <a:r>
              <a:rPr lang="en-US" sz="900" dirty="0"/>
              <a:t> </a:t>
            </a:r>
            <a:r>
              <a:rPr lang="en-US" sz="900" i="1" dirty="0"/>
              <a:t>weights</a:t>
            </a:r>
            <a:r>
              <a:rPr lang="en-US" sz="900" dirty="0"/>
              <a:t>[</a:t>
            </a:r>
            <a:r>
              <a:rPr lang="en-US" sz="900" i="1" dirty="0"/>
              <a:t>destination</a:t>
            </a:r>
            <a:r>
              <a:rPr lang="en-US" sz="900" dirty="0"/>
              <a:t>][0]</a:t>
            </a:r>
            <a:endParaRPr lang="en-US" sz="900" i="1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86DEB47-0B33-AEDE-86E7-4E6F03D45EA7}"/>
              </a:ext>
            </a:extLst>
          </p:cNvPr>
          <p:cNvCxnSpPr>
            <a:cxnSpLocks/>
            <a:stCxn id="6" idx="2"/>
            <a:endCxn id="3" idx="1"/>
          </p:cNvCxnSpPr>
          <p:nvPr/>
        </p:nvCxnSpPr>
        <p:spPr>
          <a:xfrm>
            <a:off x="9636145" y="2173253"/>
            <a:ext cx="2" cy="2311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2659337-3BDA-6779-3FA7-BE3B0C230313}"/>
              </a:ext>
            </a:extLst>
          </p:cNvPr>
          <p:cNvCxnSpPr>
            <a:cxnSpLocks/>
            <a:stCxn id="3" idx="4"/>
            <a:endCxn id="10" idx="0"/>
          </p:cNvCxnSpPr>
          <p:nvPr/>
        </p:nvCxnSpPr>
        <p:spPr>
          <a:xfrm flipH="1">
            <a:off x="9636145" y="2861517"/>
            <a:ext cx="2" cy="200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EEACE76-9B57-1AF2-5F43-8094E5E8EFCF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9636145" y="3660199"/>
            <a:ext cx="0" cy="200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34B3F25E-2CE7-ABB8-99FD-9F23236CA8BB}"/>
              </a:ext>
            </a:extLst>
          </p:cNvPr>
          <p:cNvCxnSpPr>
            <a:cxnSpLocks/>
            <a:stCxn id="12" idx="3"/>
            <a:endCxn id="13" idx="0"/>
          </p:cNvCxnSpPr>
          <p:nvPr/>
        </p:nvCxnSpPr>
        <p:spPr>
          <a:xfrm>
            <a:off x="10379622" y="4023169"/>
            <a:ext cx="496873" cy="36297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C7F13F0D-7D89-0EFB-50B6-EB7BEC3CCE1F}"/>
              </a:ext>
            </a:extLst>
          </p:cNvPr>
          <p:cNvCxnSpPr>
            <a:cxnSpLocks/>
            <a:stCxn id="13" idx="2"/>
            <a:endCxn id="12" idx="0"/>
          </p:cNvCxnSpPr>
          <p:nvPr/>
        </p:nvCxnSpPr>
        <p:spPr>
          <a:xfrm rot="5400000" flipH="1">
            <a:off x="9768728" y="3727938"/>
            <a:ext cx="975184" cy="1240350"/>
          </a:xfrm>
          <a:prstGeom prst="bentConnector5">
            <a:avLst>
              <a:gd name="adj1" fmla="val -10535"/>
              <a:gd name="adj2" fmla="val -80399"/>
              <a:gd name="adj3" fmla="val 11547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3747D0F1-F2C7-4A92-82C8-713EAA229A06}"/>
              </a:ext>
            </a:extLst>
          </p:cNvPr>
          <p:cNvCxnSpPr>
            <a:cxnSpLocks/>
            <a:stCxn id="12" idx="1"/>
            <a:endCxn id="14" idx="0"/>
          </p:cNvCxnSpPr>
          <p:nvPr/>
        </p:nvCxnSpPr>
        <p:spPr>
          <a:xfrm rot="10800000" flipV="1">
            <a:off x="8178696" y="4023169"/>
            <a:ext cx="713972" cy="37794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EE11DDA-7A7B-AA80-4528-F1BF1BC520AB}"/>
              </a:ext>
            </a:extLst>
          </p:cNvPr>
          <p:cNvCxnSpPr>
            <a:cxnSpLocks/>
            <a:stCxn id="14" idx="2"/>
            <a:endCxn id="21" idx="0"/>
          </p:cNvCxnSpPr>
          <p:nvPr/>
        </p:nvCxnSpPr>
        <p:spPr>
          <a:xfrm>
            <a:off x="8178696" y="4901621"/>
            <a:ext cx="0" cy="5924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Elbow Connector 79">
            <a:extLst>
              <a:ext uri="{FF2B5EF4-FFF2-40B4-BE49-F238E27FC236}">
                <a16:creationId xmlns:a16="http://schemas.microsoft.com/office/drawing/2014/main" id="{DDCCB9DC-D8F7-C0A3-120E-A88068CA793E}"/>
              </a:ext>
            </a:extLst>
          </p:cNvPr>
          <p:cNvCxnSpPr>
            <a:cxnSpLocks/>
            <a:stCxn id="21" idx="3"/>
            <a:endCxn id="22" idx="0"/>
          </p:cNvCxnSpPr>
          <p:nvPr/>
        </p:nvCxnSpPr>
        <p:spPr>
          <a:xfrm>
            <a:off x="9250198" y="5738167"/>
            <a:ext cx="1896503" cy="44440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Process 80">
            <a:extLst>
              <a:ext uri="{FF2B5EF4-FFF2-40B4-BE49-F238E27FC236}">
                <a16:creationId xmlns:a16="http://schemas.microsoft.com/office/drawing/2014/main" id="{E25BF82B-8DCF-319A-CD09-756D47E741A4}"/>
              </a:ext>
            </a:extLst>
          </p:cNvPr>
          <p:cNvSpPr/>
          <p:nvPr/>
        </p:nvSpPr>
        <p:spPr>
          <a:xfrm>
            <a:off x="14159265" y="11287438"/>
            <a:ext cx="1444459" cy="271993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neighbor</a:t>
            </a:r>
            <a:r>
              <a:rPr lang="pl-PL" sz="900" dirty="0"/>
              <a:t> ← </a:t>
            </a:r>
            <a:r>
              <a:rPr lang="pl-PL" sz="900" i="1" dirty="0" err="1"/>
              <a:t>neighbor</a:t>
            </a:r>
            <a:r>
              <a:rPr lang="pl-PL" sz="900" i="1" dirty="0"/>
              <a:t> + 1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0755000A-ADC3-4474-68C6-3C421423FB3C}"/>
              </a:ext>
            </a:extLst>
          </p:cNvPr>
          <p:cNvCxnSpPr>
            <a:cxnSpLocks/>
            <a:stCxn id="49" idx="2"/>
            <a:endCxn id="24" idx="0"/>
          </p:cNvCxnSpPr>
          <p:nvPr/>
        </p:nvCxnSpPr>
        <p:spPr>
          <a:xfrm>
            <a:off x="12893460" y="7557326"/>
            <a:ext cx="0" cy="2381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88">
            <a:extLst>
              <a:ext uri="{FF2B5EF4-FFF2-40B4-BE49-F238E27FC236}">
                <a16:creationId xmlns:a16="http://schemas.microsoft.com/office/drawing/2014/main" id="{568701F9-39C5-8BAD-CCED-9C6189BEE732}"/>
              </a:ext>
            </a:extLst>
          </p:cNvPr>
          <p:cNvCxnSpPr>
            <a:stCxn id="24" idx="3"/>
            <a:endCxn id="26" idx="0"/>
          </p:cNvCxnSpPr>
          <p:nvPr/>
        </p:nvCxnSpPr>
        <p:spPr>
          <a:xfrm>
            <a:off x="13861514" y="7978639"/>
            <a:ext cx="1019981" cy="38350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8C5D62D5-CA2C-E072-46B5-E96C8154C921}"/>
              </a:ext>
            </a:extLst>
          </p:cNvPr>
          <p:cNvCxnSpPr>
            <a:stCxn id="26" idx="2"/>
            <a:endCxn id="27" idx="0"/>
          </p:cNvCxnSpPr>
          <p:nvPr/>
        </p:nvCxnSpPr>
        <p:spPr>
          <a:xfrm>
            <a:off x="14881494" y="8588856"/>
            <a:ext cx="0" cy="200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Elbow Connector 93">
            <a:extLst>
              <a:ext uri="{FF2B5EF4-FFF2-40B4-BE49-F238E27FC236}">
                <a16:creationId xmlns:a16="http://schemas.microsoft.com/office/drawing/2014/main" id="{23A87EB8-2369-3791-DBAA-529977EFD4C1}"/>
              </a:ext>
            </a:extLst>
          </p:cNvPr>
          <p:cNvCxnSpPr>
            <a:cxnSpLocks/>
            <a:stCxn id="27" idx="3"/>
            <a:endCxn id="29" idx="0"/>
          </p:cNvCxnSpPr>
          <p:nvPr/>
        </p:nvCxnSpPr>
        <p:spPr>
          <a:xfrm>
            <a:off x="15553875" y="8972364"/>
            <a:ext cx="1266764" cy="38350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BE48BC66-CBB1-F819-098B-CC9F59971278}"/>
              </a:ext>
            </a:extLst>
          </p:cNvPr>
          <p:cNvCxnSpPr>
            <a:cxnSpLocks/>
            <a:stCxn id="29" idx="2"/>
            <a:endCxn id="30" idx="0"/>
          </p:cNvCxnSpPr>
          <p:nvPr/>
        </p:nvCxnSpPr>
        <p:spPr>
          <a:xfrm>
            <a:off x="16820639" y="9604818"/>
            <a:ext cx="2" cy="2003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Elbow Connector 100">
            <a:extLst>
              <a:ext uri="{FF2B5EF4-FFF2-40B4-BE49-F238E27FC236}">
                <a16:creationId xmlns:a16="http://schemas.microsoft.com/office/drawing/2014/main" id="{88FC6D0A-3AF2-B4A0-264E-1464535BC237}"/>
              </a:ext>
            </a:extLst>
          </p:cNvPr>
          <p:cNvCxnSpPr>
            <a:cxnSpLocks/>
            <a:stCxn id="30" idx="3"/>
            <a:endCxn id="31" idx="0"/>
          </p:cNvCxnSpPr>
          <p:nvPr/>
        </p:nvCxnSpPr>
        <p:spPr>
          <a:xfrm>
            <a:off x="17746153" y="10083802"/>
            <a:ext cx="1186874" cy="41307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Elbow Connector 102">
            <a:extLst>
              <a:ext uri="{FF2B5EF4-FFF2-40B4-BE49-F238E27FC236}">
                <a16:creationId xmlns:a16="http://schemas.microsoft.com/office/drawing/2014/main" id="{1ADC51E3-5484-B403-5CEC-71DCC0C32088}"/>
              </a:ext>
            </a:extLst>
          </p:cNvPr>
          <p:cNvCxnSpPr>
            <a:cxnSpLocks/>
            <a:stCxn id="31" idx="2"/>
            <a:endCxn id="81" idx="0"/>
          </p:cNvCxnSpPr>
          <p:nvPr/>
        </p:nvCxnSpPr>
        <p:spPr>
          <a:xfrm rot="5400000">
            <a:off x="16741006" y="9095416"/>
            <a:ext cx="332511" cy="405153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Elbow Connector 104">
            <a:extLst>
              <a:ext uri="{FF2B5EF4-FFF2-40B4-BE49-F238E27FC236}">
                <a16:creationId xmlns:a16="http://schemas.microsoft.com/office/drawing/2014/main" id="{50008BAC-A4C9-3FFB-B102-953333566C85}"/>
              </a:ext>
            </a:extLst>
          </p:cNvPr>
          <p:cNvCxnSpPr>
            <a:stCxn id="30" idx="1"/>
            <a:endCxn id="81" idx="0"/>
          </p:cNvCxnSpPr>
          <p:nvPr/>
        </p:nvCxnSpPr>
        <p:spPr>
          <a:xfrm rot="10800000" flipV="1">
            <a:off x="14881496" y="10083802"/>
            <a:ext cx="1013633" cy="120363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Elbow Connector 106">
            <a:extLst>
              <a:ext uri="{FF2B5EF4-FFF2-40B4-BE49-F238E27FC236}">
                <a16:creationId xmlns:a16="http://schemas.microsoft.com/office/drawing/2014/main" id="{CC1FEC42-DA27-91F4-2E1F-9304F5FC500E}"/>
              </a:ext>
            </a:extLst>
          </p:cNvPr>
          <p:cNvCxnSpPr>
            <a:stCxn id="27" idx="1"/>
            <a:endCxn id="81" idx="0"/>
          </p:cNvCxnSpPr>
          <p:nvPr/>
        </p:nvCxnSpPr>
        <p:spPr>
          <a:xfrm rot="10800000" flipH="1" flipV="1">
            <a:off x="14209113" y="8972364"/>
            <a:ext cx="672381" cy="2315073"/>
          </a:xfrm>
          <a:prstGeom prst="bentConnector4">
            <a:avLst>
              <a:gd name="adj1" fmla="val -75640"/>
              <a:gd name="adj2" fmla="val 9286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Elbow Connector 119">
            <a:extLst>
              <a:ext uri="{FF2B5EF4-FFF2-40B4-BE49-F238E27FC236}">
                <a16:creationId xmlns:a16="http://schemas.microsoft.com/office/drawing/2014/main" id="{52D8FEE3-D3A9-0CC6-A212-7B2CFCFFED3E}"/>
              </a:ext>
            </a:extLst>
          </p:cNvPr>
          <p:cNvCxnSpPr>
            <a:stCxn id="81" idx="2"/>
            <a:endCxn id="24" idx="0"/>
          </p:cNvCxnSpPr>
          <p:nvPr/>
        </p:nvCxnSpPr>
        <p:spPr>
          <a:xfrm rot="5400000" flipH="1">
            <a:off x="12005489" y="8683425"/>
            <a:ext cx="3763977" cy="1988034"/>
          </a:xfrm>
          <a:prstGeom prst="bentConnector5">
            <a:avLst>
              <a:gd name="adj1" fmla="val -1544"/>
              <a:gd name="adj2" fmla="val -348913"/>
              <a:gd name="adj3" fmla="val 10422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Elbow Connector 138">
            <a:extLst>
              <a:ext uri="{FF2B5EF4-FFF2-40B4-BE49-F238E27FC236}">
                <a16:creationId xmlns:a16="http://schemas.microsoft.com/office/drawing/2014/main" id="{A9AA68E4-13F6-39F4-15B2-143D9C419C90}"/>
              </a:ext>
            </a:extLst>
          </p:cNvPr>
          <p:cNvCxnSpPr>
            <a:cxnSpLocks/>
          </p:cNvCxnSpPr>
          <p:nvPr/>
        </p:nvCxnSpPr>
        <p:spPr>
          <a:xfrm>
            <a:off x="11925407" y="7978640"/>
            <a:ext cx="10045518" cy="3816708"/>
          </a:xfrm>
          <a:prstGeom prst="bentConnector3">
            <a:avLst>
              <a:gd name="adj1" fmla="val -494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Elbow Connector 143">
            <a:extLst>
              <a:ext uri="{FF2B5EF4-FFF2-40B4-BE49-F238E27FC236}">
                <a16:creationId xmlns:a16="http://schemas.microsoft.com/office/drawing/2014/main" id="{D84EF46C-CD06-EA21-3F2F-179EFAF8CD97}"/>
              </a:ext>
            </a:extLst>
          </p:cNvPr>
          <p:cNvCxnSpPr>
            <a:cxnSpLocks/>
            <a:endCxn id="21" idx="0"/>
          </p:cNvCxnSpPr>
          <p:nvPr/>
        </p:nvCxnSpPr>
        <p:spPr>
          <a:xfrm rot="10800000">
            <a:off x="8178697" y="5494083"/>
            <a:ext cx="13792229" cy="6302593"/>
          </a:xfrm>
          <a:prstGeom prst="bentConnector4">
            <a:avLst>
              <a:gd name="adj1" fmla="val 67"/>
              <a:gd name="adj2" fmla="val 10362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04893D9D-86A3-8399-373C-F26A2E3B4A17}"/>
              </a:ext>
            </a:extLst>
          </p:cNvPr>
          <p:cNvCxnSpPr>
            <a:stCxn id="34" idx="2"/>
            <a:endCxn id="35" idx="0"/>
          </p:cNvCxnSpPr>
          <p:nvPr/>
        </p:nvCxnSpPr>
        <p:spPr>
          <a:xfrm>
            <a:off x="6877568" y="8541468"/>
            <a:ext cx="0" cy="200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Elbow Connector 166">
            <a:extLst>
              <a:ext uri="{FF2B5EF4-FFF2-40B4-BE49-F238E27FC236}">
                <a16:creationId xmlns:a16="http://schemas.microsoft.com/office/drawing/2014/main" id="{D8F62DBA-9B23-52F8-EA4F-D0823D18397E}"/>
              </a:ext>
            </a:extLst>
          </p:cNvPr>
          <p:cNvCxnSpPr>
            <a:cxnSpLocks/>
            <a:stCxn id="35" idx="3"/>
            <a:endCxn id="36" idx="0"/>
          </p:cNvCxnSpPr>
          <p:nvPr/>
        </p:nvCxnSpPr>
        <p:spPr>
          <a:xfrm>
            <a:off x="7549950" y="8924976"/>
            <a:ext cx="1082623" cy="38350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Elbow Connector 169">
            <a:extLst>
              <a:ext uri="{FF2B5EF4-FFF2-40B4-BE49-F238E27FC236}">
                <a16:creationId xmlns:a16="http://schemas.microsoft.com/office/drawing/2014/main" id="{3AE82E4E-E815-DE03-A4A7-3018E4E19A2E}"/>
              </a:ext>
            </a:extLst>
          </p:cNvPr>
          <p:cNvCxnSpPr>
            <a:stCxn id="36" idx="2"/>
            <a:endCxn id="35" idx="0"/>
          </p:cNvCxnSpPr>
          <p:nvPr/>
        </p:nvCxnSpPr>
        <p:spPr>
          <a:xfrm rot="5400000" flipH="1">
            <a:off x="7284484" y="8334875"/>
            <a:ext cx="941173" cy="1755004"/>
          </a:xfrm>
          <a:prstGeom prst="bentConnector5">
            <a:avLst>
              <a:gd name="adj1" fmla="val -9456"/>
              <a:gd name="adj2" fmla="val -73379"/>
              <a:gd name="adj3" fmla="val 11538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Elbow Connector 174">
            <a:extLst>
              <a:ext uri="{FF2B5EF4-FFF2-40B4-BE49-F238E27FC236}">
                <a16:creationId xmlns:a16="http://schemas.microsoft.com/office/drawing/2014/main" id="{307EEC26-71A0-3FD2-80E0-8AF23611B1C1}"/>
              </a:ext>
            </a:extLst>
          </p:cNvPr>
          <p:cNvCxnSpPr>
            <a:cxnSpLocks/>
            <a:stCxn id="35" idx="1"/>
            <a:endCxn id="38" idx="1"/>
          </p:cNvCxnSpPr>
          <p:nvPr/>
        </p:nvCxnSpPr>
        <p:spPr>
          <a:xfrm rot="10800000" flipV="1">
            <a:off x="5004889" y="8924976"/>
            <a:ext cx="1200299" cy="39042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840279E3-0CC5-9503-EE7B-6BE4ACA288D2}"/>
              </a:ext>
            </a:extLst>
          </p:cNvPr>
          <p:cNvCxnSpPr>
            <a:cxnSpLocks/>
            <a:stCxn id="38" idx="4"/>
            <a:endCxn id="37" idx="0"/>
          </p:cNvCxnSpPr>
          <p:nvPr/>
        </p:nvCxnSpPr>
        <p:spPr>
          <a:xfrm flipH="1">
            <a:off x="5004887" y="9672844"/>
            <a:ext cx="1" cy="200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Elbow Connector 179">
            <a:extLst>
              <a:ext uri="{FF2B5EF4-FFF2-40B4-BE49-F238E27FC236}">
                <a16:creationId xmlns:a16="http://schemas.microsoft.com/office/drawing/2014/main" id="{415FDB28-36D4-C0F1-D7D6-2A8732496CBF}"/>
              </a:ext>
            </a:extLst>
          </p:cNvPr>
          <p:cNvCxnSpPr>
            <a:cxnSpLocks/>
            <a:stCxn id="21" idx="1"/>
            <a:endCxn id="123" idx="0"/>
          </p:cNvCxnSpPr>
          <p:nvPr/>
        </p:nvCxnSpPr>
        <p:spPr>
          <a:xfrm rot="10800000" flipV="1">
            <a:off x="4281837" y="5738167"/>
            <a:ext cx="2825357" cy="147129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34167081-8F97-E43B-2E57-C81945E80FDA}"/>
              </a:ext>
            </a:extLst>
          </p:cNvPr>
          <p:cNvSpPr txBox="1"/>
          <p:nvPr/>
        </p:nvSpPr>
        <p:spPr>
          <a:xfrm>
            <a:off x="10379621" y="3760360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CA1E4446-B6C9-4A27-8C7F-BA9B62010840}"/>
              </a:ext>
            </a:extLst>
          </p:cNvPr>
          <p:cNvSpPr txBox="1"/>
          <p:nvPr/>
        </p:nvSpPr>
        <p:spPr>
          <a:xfrm>
            <a:off x="9199693" y="5457902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ACAE6F98-A44C-4BC1-DAE8-06C776487B18}"/>
              </a:ext>
            </a:extLst>
          </p:cNvPr>
          <p:cNvSpPr txBox="1"/>
          <p:nvPr/>
        </p:nvSpPr>
        <p:spPr>
          <a:xfrm>
            <a:off x="7520031" y="8634056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8C486470-0A37-5641-8692-14B234E37C28}"/>
              </a:ext>
            </a:extLst>
          </p:cNvPr>
          <p:cNvSpPr txBox="1"/>
          <p:nvPr/>
        </p:nvSpPr>
        <p:spPr>
          <a:xfrm>
            <a:off x="13804544" y="7670861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2F947038-0850-B805-2CB0-AEBC872D87E4}"/>
              </a:ext>
            </a:extLst>
          </p:cNvPr>
          <p:cNvSpPr txBox="1"/>
          <p:nvPr/>
        </p:nvSpPr>
        <p:spPr>
          <a:xfrm>
            <a:off x="15553873" y="8680352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8FB92AD5-28D0-47AF-088D-A92DB59CAA0B}"/>
              </a:ext>
            </a:extLst>
          </p:cNvPr>
          <p:cNvSpPr txBox="1"/>
          <p:nvPr/>
        </p:nvSpPr>
        <p:spPr>
          <a:xfrm>
            <a:off x="17729195" y="9788005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8BFFEE9A-01D0-E90A-F45A-33A1A4DCEEBF}"/>
              </a:ext>
            </a:extLst>
          </p:cNvPr>
          <p:cNvSpPr txBox="1"/>
          <p:nvPr/>
        </p:nvSpPr>
        <p:spPr>
          <a:xfrm>
            <a:off x="15474052" y="9759828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6E67DFBD-C805-F546-C753-2C7AFA3B4CB4}"/>
              </a:ext>
            </a:extLst>
          </p:cNvPr>
          <p:cNvSpPr txBox="1"/>
          <p:nvPr/>
        </p:nvSpPr>
        <p:spPr>
          <a:xfrm>
            <a:off x="13750356" y="8656241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C68B407B-A447-8E1C-8323-F59F84E6319A}"/>
              </a:ext>
            </a:extLst>
          </p:cNvPr>
          <p:cNvSpPr txBox="1"/>
          <p:nvPr/>
        </p:nvSpPr>
        <p:spPr>
          <a:xfrm>
            <a:off x="11506397" y="7673524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C71D3A0B-0B7D-ED37-D720-781AACE4BE19}"/>
              </a:ext>
            </a:extLst>
          </p:cNvPr>
          <p:cNvSpPr txBox="1"/>
          <p:nvPr/>
        </p:nvSpPr>
        <p:spPr>
          <a:xfrm>
            <a:off x="6669596" y="5439715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7D0E5D69-E6CC-15F0-7CCB-69ECC62EAC04}"/>
              </a:ext>
            </a:extLst>
          </p:cNvPr>
          <p:cNvSpPr txBox="1"/>
          <p:nvPr/>
        </p:nvSpPr>
        <p:spPr>
          <a:xfrm>
            <a:off x="5729027" y="8613464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2D2866FC-5600-9FEA-2BA8-63487176344C}"/>
              </a:ext>
            </a:extLst>
          </p:cNvPr>
          <p:cNvSpPr txBox="1"/>
          <p:nvPr/>
        </p:nvSpPr>
        <p:spPr>
          <a:xfrm>
            <a:off x="8430903" y="3722021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49" name="Process 48">
            <a:extLst>
              <a:ext uri="{FF2B5EF4-FFF2-40B4-BE49-F238E27FC236}">
                <a16:creationId xmlns:a16="http://schemas.microsoft.com/office/drawing/2014/main" id="{66DB6EE6-95C8-1E1A-41B0-6275DD2F0200}"/>
              </a:ext>
            </a:extLst>
          </p:cNvPr>
          <p:cNvSpPr/>
          <p:nvPr/>
        </p:nvSpPr>
        <p:spPr>
          <a:xfrm>
            <a:off x="11806382" y="7202992"/>
            <a:ext cx="2174156" cy="35433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Usuń wartość </a:t>
            </a:r>
            <a:r>
              <a:rPr lang="pl-PL" sz="900" i="1" dirty="0" err="1"/>
              <a:t>vertex</a:t>
            </a:r>
            <a:r>
              <a:rPr lang="pl-PL" sz="900" dirty="0"/>
              <a:t> z </a:t>
            </a:r>
            <a:r>
              <a:rPr lang="pl-PL" sz="900" i="1" dirty="0" err="1"/>
              <a:t>pending_vertices</a:t>
            </a:r>
            <a:endParaRPr lang="pl-PL" sz="900" i="1" dirty="0"/>
          </a:p>
          <a:p>
            <a:pPr algn="ctr"/>
            <a:r>
              <a:rPr lang="pl-PL" sz="900" i="1" dirty="0" err="1"/>
              <a:t>neighbor</a:t>
            </a:r>
            <a:r>
              <a:rPr lang="pl-PL" sz="900" i="1" dirty="0"/>
              <a:t> </a:t>
            </a:r>
            <a:r>
              <a:rPr lang="pl-PL" sz="900" dirty="0"/>
              <a:t>← 0</a:t>
            </a:r>
            <a:endParaRPr lang="pl-PL" sz="900" i="1" dirty="0"/>
          </a:p>
        </p:txBody>
      </p:sp>
      <p:sp>
        <p:nvSpPr>
          <p:cNvPr id="58" name="Decision 57">
            <a:extLst>
              <a:ext uri="{FF2B5EF4-FFF2-40B4-BE49-F238E27FC236}">
                <a16:creationId xmlns:a16="http://schemas.microsoft.com/office/drawing/2014/main" id="{10FBAD5C-679A-0BD2-115B-036C5F6C4DD2}"/>
              </a:ext>
            </a:extLst>
          </p:cNvPr>
          <p:cNvSpPr/>
          <p:nvPr/>
        </p:nvSpPr>
        <p:spPr>
          <a:xfrm>
            <a:off x="10418850" y="6624379"/>
            <a:ext cx="1455702" cy="37829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 err="1"/>
              <a:t>vertex</a:t>
            </a:r>
            <a:r>
              <a:rPr lang="pl-PL" sz="900" dirty="0"/>
              <a:t> &lt;&gt; </a:t>
            </a:r>
            <a:r>
              <a:rPr lang="pl-PL" sz="900" i="1" dirty="0" err="1"/>
              <a:t>destination</a:t>
            </a:r>
            <a:endParaRPr lang="pl-PL" sz="900" i="1" dirty="0"/>
          </a:p>
        </p:txBody>
      </p: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2B7BC5B7-849A-E1C9-9265-A3947AAA2BE0}"/>
              </a:ext>
            </a:extLst>
          </p:cNvPr>
          <p:cNvCxnSpPr>
            <a:cxnSpLocks/>
            <a:stCxn id="58" idx="1"/>
            <a:endCxn id="123" idx="0"/>
          </p:cNvCxnSpPr>
          <p:nvPr/>
        </p:nvCxnSpPr>
        <p:spPr>
          <a:xfrm rot="10800000" flipV="1">
            <a:off x="4281836" y="6813523"/>
            <a:ext cx="6137014" cy="39593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9AC1CD4-F986-E3F2-A6C2-78EC0E7DC10C}"/>
              </a:ext>
            </a:extLst>
          </p:cNvPr>
          <p:cNvCxnSpPr>
            <a:cxnSpLocks/>
            <a:stCxn id="22" idx="2"/>
            <a:endCxn id="58" idx="0"/>
          </p:cNvCxnSpPr>
          <p:nvPr/>
        </p:nvCxnSpPr>
        <p:spPr>
          <a:xfrm>
            <a:off x="11146701" y="6424056"/>
            <a:ext cx="0" cy="2003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E1926855-3BAF-0713-AC60-F91C269C068C}"/>
              </a:ext>
            </a:extLst>
          </p:cNvPr>
          <p:cNvSpPr txBox="1"/>
          <p:nvPr/>
        </p:nvSpPr>
        <p:spPr>
          <a:xfrm>
            <a:off x="9935311" y="6522844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cxnSp>
        <p:nvCxnSpPr>
          <p:cNvPr id="71" name="Elbow Connector 70">
            <a:extLst>
              <a:ext uri="{FF2B5EF4-FFF2-40B4-BE49-F238E27FC236}">
                <a16:creationId xmlns:a16="http://schemas.microsoft.com/office/drawing/2014/main" id="{556A9A71-5D44-AF5E-C0EB-B1C6844EDA23}"/>
              </a:ext>
            </a:extLst>
          </p:cNvPr>
          <p:cNvCxnSpPr>
            <a:stCxn id="58" idx="3"/>
            <a:endCxn id="49" idx="0"/>
          </p:cNvCxnSpPr>
          <p:nvPr/>
        </p:nvCxnSpPr>
        <p:spPr>
          <a:xfrm>
            <a:off x="11874552" y="6813524"/>
            <a:ext cx="1018908" cy="38946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30E33C33-1911-49EC-AEB8-9975C2068A2A}"/>
              </a:ext>
            </a:extLst>
          </p:cNvPr>
          <p:cNvSpPr txBox="1"/>
          <p:nvPr/>
        </p:nvSpPr>
        <p:spPr>
          <a:xfrm>
            <a:off x="11894101" y="6506089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23" name="Decision 122">
            <a:extLst>
              <a:ext uri="{FF2B5EF4-FFF2-40B4-BE49-F238E27FC236}">
                <a16:creationId xmlns:a16="http://schemas.microsoft.com/office/drawing/2014/main" id="{9C9F4EF9-E5A9-1948-9F05-647BE5FDCCB6}"/>
              </a:ext>
            </a:extLst>
          </p:cNvPr>
          <p:cNvSpPr/>
          <p:nvPr/>
        </p:nvSpPr>
        <p:spPr>
          <a:xfrm>
            <a:off x="3210333" y="7209459"/>
            <a:ext cx="2143005" cy="48817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dirty="0"/>
              <a:t>długość </a:t>
            </a:r>
            <a:r>
              <a:rPr lang="pl-PL" sz="900" i="1" dirty="0" err="1"/>
              <a:t>pending_vertices</a:t>
            </a:r>
            <a:r>
              <a:rPr lang="pl-PL" sz="900" dirty="0"/>
              <a:t> &gt; 0</a:t>
            </a:r>
          </a:p>
        </p:txBody>
      </p:sp>
      <p:sp>
        <p:nvSpPr>
          <p:cNvPr id="130" name="Terminator 129">
            <a:extLst>
              <a:ext uri="{FF2B5EF4-FFF2-40B4-BE49-F238E27FC236}">
                <a16:creationId xmlns:a16="http://schemas.microsoft.com/office/drawing/2014/main" id="{255304F0-6E3F-C866-41CE-F283F10B042E}"/>
              </a:ext>
            </a:extLst>
          </p:cNvPr>
          <p:cNvSpPr/>
          <p:nvPr/>
        </p:nvSpPr>
        <p:spPr>
          <a:xfrm>
            <a:off x="1900427" y="8407742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Stop</a:t>
            </a:r>
          </a:p>
        </p:txBody>
      </p:sp>
      <p:sp>
        <p:nvSpPr>
          <p:cNvPr id="131" name="Data 130">
            <a:extLst>
              <a:ext uri="{FF2B5EF4-FFF2-40B4-BE49-F238E27FC236}">
                <a16:creationId xmlns:a16="http://schemas.microsoft.com/office/drawing/2014/main" id="{1C6E19CB-C6AF-5397-3F4D-6B22B941669D}"/>
              </a:ext>
            </a:extLst>
          </p:cNvPr>
          <p:cNvSpPr/>
          <p:nvPr/>
        </p:nvSpPr>
        <p:spPr>
          <a:xfrm>
            <a:off x="560124" y="7986218"/>
            <a:ext cx="3366406" cy="226314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dirty="0" err="1"/>
              <a:t>komunikat</a:t>
            </a:r>
            <a:r>
              <a:rPr lang="en-US" sz="900" dirty="0"/>
              <a:t> o </a:t>
            </a:r>
            <a:r>
              <a:rPr lang="en-US" sz="900" dirty="0" err="1"/>
              <a:t>braku</a:t>
            </a:r>
            <a:r>
              <a:rPr lang="en-US" sz="900" dirty="0"/>
              <a:t> </a:t>
            </a:r>
            <a:r>
              <a:rPr lang="en-US" sz="900" dirty="0" err="1"/>
              <a:t>rozwiązań</a:t>
            </a:r>
            <a:endParaRPr lang="en-US" sz="900" i="1" dirty="0"/>
          </a:p>
        </p:txBody>
      </p:sp>
      <p:cxnSp>
        <p:nvCxnSpPr>
          <p:cNvPr id="135" name="Elbow Connector 134">
            <a:extLst>
              <a:ext uri="{FF2B5EF4-FFF2-40B4-BE49-F238E27FC236}">
                <a16:creationId xmlns:a16="http://schemas.microsoft.com/office/drawing/2014/main" id="{A3491E49-DBA6-F6A5-35F7-055ACC549F46}"/>
              </a:ext>
            </a:extLst>
          </p:cNvPr>
          <p:cNvCxnSpPr>
            <a:stCxn id="123" idx="3"/>
            <a:endCxn id="34" idx="0"/>
          </p:cNvCxnSpPr>
          <p:nvPr/>
        </p:nvCxnSpPr>
        <p:spPr>
          <a:xfrm>
            <a:off x="5353338" y="7453544"/>
            <a:ext cx="1524230" cy="69912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Elbow Connector 136">
            <a:extLst>
              <a:ext uri="{FF2B5EF4-FFF2-40B4-BE49-F238E27FC236}">
                <a16:creationId xmlns:a16="http://schemas.microsoft.com/office/drawing/2014/main" id="{67CF927D-2839-9E0A-115F-4E2ADAEF9217}"/>
              </a:ext>
            </a:extLst>
          </p:cNvPr>
          <p:cNvCxnSpPr>
            <a:stCxn id="123" idx="1"/>
            <a:endCxn id="131" idx="1"/>
          </p:cNvCxnSpPr>
          <p:nvPr/>
        </p:nvCxnSpPr>
        <p:spPr>
          <a:xfrm rot="10800000" flipV="1">
            <a:off x="2243327" y="7453544"/>
            <a:ext cx="967006" cy="53267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0C3446F5-2477-F1D5-45F9-1DDD2FA98106}"/>
              </a:ext>
            </a:extLst>
          </p:cNvPr>
          <p:cNvCxnSpPr>
            <a:stCxn id="131" idx="4"/>
            <a:endCxn id="130" idx="0"/>
          </p:cNvCxnSpPr>
          <p:nvPr/>
        </p:nvCxnSpPr>
        <p:spPr>
          <a:xfrm>
            <a:off x="2243327" y="8212532"/>
            <a:ext cx="0" cy="1952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57B8BC86-419D-D218-1B47-5FF8FF28F5E7}"/>
              </a:ext>
            </a:extLst>
          </p:cNvPr>
          <p:cNvSpPr txBox="1"/>
          <p:nvPr/>
        </p:nvSpPr>
        <p:spPr>
          <a:xfrm>
            <a:off x="2751679" y="7145767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808757EA-9BB7-EBEA-4410-53B5B03DFD97}"/>
              </a:ext>
            </a:extLst>
          </p:cNvPr>
          <p:cNvSpPr txBox="1"/>
          <p:nvPr/>
        </p:nvSpPr>
        <p:spPr>
          <a:xfrm>
            <a:off x="5342575" y="7147333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</p:spTree>
    <p:extLst>
      <p:ext uri="{BB962C8B-B14F-4D97-AF65-F5344CB8AC3E}">
        <p14:creationId xmlns:p14="http://schemas.microsoft.com/office/powerpoint/2010/main" val="977508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</TotalTime>
  <Words>280</Words>
  <Application>Microsoft Macintosh PowerPoint</Application>
  <PresentationFormat>Custom</PresentationFormat>
  <Paragraphs>57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Bartosz Bieniek (bb315945)</dc:creator>
  <cp:lastModifiedBy>Bartosz Bieniek (bb315945)</cp:lastModifiedBy>
  <cp:revision>7</cp:revision>
  <dcterms:created xsi:type="dcterms:W3CDTF">2025-11-30T19:03:59Z</dcterms:created>
  <dcterms:modified xsi:type="dcterms:W3CDTF">2026-01-05T17:19:22Z</dcterms:modified>
</cp:coreProperties>
</file>