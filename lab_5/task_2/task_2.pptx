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9144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61"/>
    <p:restoredTop sz="94614"/>
  </p:normalViewPr>
  <p:slideViewPr>
    <p:cSldViewPr snapToGrid="0">
      <p:cViewPr>
        <p:scale>
          <a:sx n="209" d="100"/>
          <a:sy n="209" d="100"/>
        </p:scale>
        <p:origin x="440" y="-3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550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767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589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435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884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362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123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47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807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06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1498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44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23842" y="544329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23847" y="884599"/>
            <a:ext cx="7146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wzorca. Algorytm Karpa-Rabina.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3010076" y="305107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24654" y="3459889"/>
            <a:ext cx="2856648" cy="324773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text,</a:t>
            </a:r>
            <a:r>
              <a:rPr lang="en-US" sz="900" dirty="0"/>
              <a:t> </a:t>
            </a:r>
            <a:r>
              <a:rPr lang="en-US" sz="900" i="1" dirty="0"/>
              <a:t>pattern</a:t>
            </a:r>
          </a:p>
          <a:p>
            <a:pPr algn="ctr"/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dirty="0" err="1"/>
              <a:t>funkcję</a:t>
            </a:r>
            <a:r>
              <a:rPr lang="en-US" sz="900" dirty="0"/>
              <a:t> </a:t>
            </a:r>
            <a:r>
              <a:rPr lang="en-US" sz="900" dirty="0" err="1"/>
              <a:t>hashującą</a:t>
            </a:r>
            <a:r>
              <a:rPr lang="en-US" sz="900" dirty="0"/>
              <a:t> </a:t>
            </a:r>
            <a:r>
              <a:rPr lang="en-US" sz="900" i="1" dirty="0"/>
              <a:t>hf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352978" y="3277390"/>
            <a:ext cx="2" cy="182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2253801" y="3965347"/>
            <a:ext cx="2201114" cy="88500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text_length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text</a:t>
            </a:r>
            <a:r>
              <a:rPr lang="pl-PL" sz="900" dirty="0"/>
              <a:t>)</a:t>
            </a:r>
          </a:p>
          <a:p>
            <a:pPr algn="ctr"/>
            <a:r>
              <a:rPr lang="pl-PL" sz="900" i="1" dirty="0" err="1"/>
              <a:t>pattern_length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pattern</a:t>
            </a:r>
            <a:r>
              <a:rPr lang="pl-PL" sz="900" dirty="0"/>
              <a:t>)</a:t>
            </a:r>
            <a:br>
              <a:rPr lang="pl-PL" sz="900" dirty="0"/>
            </a:br>
            <a:r>
              <a:rPr lang="pl-PL" sz="900" i="1" dirty="0" err="1"/>
              <a:t>matches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 err="1"/>
              <a:t>pattern_hash</a:t>
            </a:r>
            <a:r>
              <a:rPr lang="pl-PL" sz="900" dirty="0"/>
              <a:t> ← </a:t>
            </a:r>
            <a:r>
              <a:rPr lang="pl-PL" sz="900" i="1" dirty="0" err="1"/>
              <a:t>hf</a:t>
            </a:r>
            <a:r>
              <a:rPr lang="pl-PL" sz="900" dirty="0"/>
              <a:t>(</a:t>
            </a:r>
            <a:r>
              <a:rPr lang="pl-PL" sz="900" i="1" dirty="0" err="1"/>
              <a:t>pattern</a:t>
            </a:r>
            <a:r>
              <a:rPr lang="pl-PL" sz="900" dirty="0"/>
              <a:t>)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  <a:p>
            <a:pPr algn="ctr"/>
            <a:r>
              <a:rPr lang="pl-PL" sz="900" i="1" dirty="0" err="1"/>
              <a:t>i_max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text_length</a:t>
            </a:r>
            <a:r>
              <a:rPr lang="pl-PL" sz="900" dirty="0"/>
              <a:t> – </a:t>
            </a:r>
            <a:r>
              <a:rPr lang="pl-PL" sz="900" i="1" dirty="0" err="1"/>
              <a:t>pattern_length</a:t>
            </a:r>
            <a:r>
              <a:rPr lang="pl-PL" sz="900" i="1" dirty="0"/>
              <a:t> </a:t>
            </a:r>
            <a:r>
              <a:rPr lang="pl-PL" sz="900" dirty="0"/>
              <a:t>- 1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352980" y="3784660"/>
            <a:ext cx="1379" cy="18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ecision 25">
            <a:extLst>
              <a:ext uri="{FF2B5EF4-FFF2-40B4-BE49-F238E27FC236}">
                <a16:creationId xmlns:a16="http://schemas.microsoft.com/office/drawing/2014/main" id="{1915B7D2-E870-8DD0-339B-52A05F1AA269}"/>
              </a:ext>
            </a:extLst>
          </p:cNvPr>
          <p:cNvSpPr/>
          <p:nvPr/>
        </p:nvSpPr>
        <p:spPr>
          <a:xfrm>
            <a:off x="2729403" y="5049207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i_max</a:t>
            </a:r>
            <a:endParaRPr lang="pl-PL" sz="900" i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BD4ED8-36DA-4942-9790-61191FFBF37E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3354356" y="4850354"/>
            <a:ext cx="0" cy="19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rminator 39">
            <a:extLst>
              <a:ext uri="{FF2B5EF4-FFF2-40B4-BE49-F238E27FC236}">
                <a16:creationId xmlns:a16="http://schemas.microsoft.com/office/drawing/2014/main" id="{C83AE65B-8958-8418-D6DE-744470F9D4B5}"/>
              </a:ext>
            </a:extLst>
          </p:cNvPr>
          <p:cNvSpPr/>
          <p:nvPr/>
        </p:nvSpPr>
        <p:spPr>
          <a:xfrm>
            <a:off x="1244809" y="601533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42" name="Data 41">
            <a:extLst>
              <a:ext uri="{FF2B5EF4-FFF2-40B4-BE49-F238E27FC236}">
                <a16:creationId xmlns:a16="http://schemas.microsoft.com/office/drawing/2014/main" id="{1EC9B146-D94E-555B-E1CE-EAE2083BC928}"/>
              </a:ext>
            </a:extLst>
          </p:cNvPr>
          <p:cNvSpPr/>
          <p:nvPr/>
        </p:nvSpPr>
        <p:spPr>
          <a:xfrm>
            <a:off x="530918" y="5536632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matches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4A13CBF-679A-4D0C-2D80-3E017904E9CB}"/>
              </a:ext>
            </a:extLst>
          </p:cNvPr>
          <p:cNvCxnSpPr>
            <a:stCxn id="42" idx="4"/>
            <a:endCxn id="40" idx="0"/>
          </p:cNvCxnSpPr>
          <p:nvPr/>
        </p:nvCxnSpPr>
        <p:spPr>
          <a:xfrm flipH="1">
            <a:off x="1587711" y="5785574"/>
            <a:ext cx="2" cy="229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26F918C-AD45-B27C-8E5E-5E9ED0921829}"/>
              </a:ext>
            </a:extLst>
          </p:cNvPr>
          <p:cNvCxnSpPr>
            <a:stCxn id="26" idx="1"/>
            <a:endCxn id="42" idx="1"/>
          </p:cNvCxnSpPr>
          <p:nvPr/>
        </p:nvCxnSpPr>
        <p:spPr>
          <a:xfrm rot="10800000" flipV="1">
            <a:off x="1587713" y="5211858"/>
            <a:ext cx="1141691" cy="324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DF3527DB-E9ED-5641-A8F8-0BA5A9BEBEE9}"/>
              </a:ext>
            </a:extLst>
          </p:cNvPr>
          <p:cNvSpPr txBox="1"/>
          <p:nvPr/>
        </p:nvSpPr>
        <p:spPr>
          <a:xfrm>
            <a:off x="2360592" y="493603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3E37FC1-4BFF-444B-8847-0CB2ED81FC9E}"/>
              </a:ext>
            </a:extLst>
          </p:cNvPr>
          <p:cNvSpPr txBox="1"/>
          <p:nvPr/>
        </p:nvSpPr>
        <p:spPr>
          <a:xfrm>
            <a:off x="3936718" y="491598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A03EB7-421A-83AF-0361-B898932174A8}"/>
              </a:ext>
            </a:extLst>
          </p:cNvPr>
          <p:cNvSpPr txBox="1"/>
          <p:nvPr/>
        </p:nvSpPr>
        <p:spPr>
          <a:xfrm>
            <a:off x="4267687" y="598287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0661547-5E2B-3D02-7F29-711C3A393325}"/>
              </a:ext>
            </a:extLst>
          </p:cNvPr>
          <p:cNvSpPr txBox="1"/>
          <p:nvPr/>
        </p:nvSpPr>
        <p:spPr>
          <a:xfrm>
            <a:off x="4588294" y="700318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9309415-E82A-311B-AEF5-30D94CD37AE9}"/>
              </a:ext>
            </a:extLst>
          </p:cNvPr>
          <p:cNvSpPr txBox="1"/>
          <p:nvPr/>
        </p:nvSpPr>
        <p:spPr>
          <a:xfrm>
            <a:off x="2326761" y="700318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6BD6947-AA0C-0F35-7B0C-EEA7D70C31FE}"/>
              </a:ext>
            </a:extLst>
          </p:cNvPr>
          <p:cNvSpPr txBox="1"/>
          <p:nvPr/>
        </p:nvSpPr>
        <p:spPr>
          <a:xfrm>
            <a:off x="6023586" y="598646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01B5A314-A5C3-973E-5B82-D9D18A296954}"/>
              </a:ext>
            </a:extLst>
          </p:cNvPr>
          <p:cNvSpPr/>
          <p:nvPr/>
        </p:nvSpPr>
        <p:spPr>
          <a:xfrm>
            <a:off x="4840431" y="5536630"/>
            <a:ext cx="985664" cy="32477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slice_text</a:t>
            </a:r>
            <a:r>
              <a:rPr lang="pl-PL" sz="900" dirty="0"/>
              <a:t> ← „”</a:t>
            </a:r>
            <a:endParaRPr lang="pl-PL" sz="900" i="1" dirty="0"/>
          </a:p>
          <a:p>
            <a:pPr algn="ctr"/>
            <a:r>
              <a:rPr lang="pl-PL" sz="900" i="1" dirty="0"/>
              <a:t>j </a:t>
            </a:r>
            <a:r>
              <a:rPr lang="pl-PL" sz="900" dirty="0"/>
              <a:t>← 0</a:t>
            </a:r>
          </a:p>
        </p:txBody>
      </p:sp>
      <p:sp>
        <p:nvSpPr>
          <p:cNvPr id="24" name="Decision 23">
            <a:extLst>
              <a:ext uri="{FF2B5EF4-FFF2-40B4-BE49-F238E27FC236}">
                <a16:creationId xmlns:a16="http://schemas.microsoft.com/office/drawing/2014/main" id="{B223B951-64DC-141C-4996-1F3326A228E2}"/>
              </a:ext>
            </a:extLst>
          </p:cNvPr>
          <p:cNvSpPr/>
          <p:nvPr/>
        </p:nvSpPr>
        <p:spPr>
          <a:xfrm>
            <a:off x="4642096" y="6038893"/>
            <a:ext cx="1382336" cy="4514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&lt; </a:t>
            </a:r>
            <a:r>
              <a:rPr lang="pl-PL" sz="900" i="1" dirty="0" err="1"/>
              <a:t>pattern_length</a:t>
            </a:r>
            <a:endParaRPr lang="pl-PL" sz="900" i="1" dirty="0"/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E04B122E-075F-D8EA-23AF-9CA65070CFBF}"/>
              </a:ext>
            </a:extLst>
          </p:cNvPr>
          <p:cNvSpPr/>
          <p:nvPr/>
        </p:nvSpPr>
        <p:spPr>
          <a:xfrm>
            <a:off x="5826096" y="6667836"/>
            <a:ext cx="1673534" cy="32477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slice_text</a:t>
            </a:r>
            <a:r>
              <a:rPr lang="pl-PL" sz="900" dirty="0"/>
              <a:t> ← </a:t>
            </a:r>
            <a:r>
              <a:rPr lang="pl-PL" sz="900" i="1" dirty="0" err="1"/>
              <a:t>slice_text</a:t>
            </a:r>
            <a:r>
              <a:rPr lang="pl-PL" sz="900" dirty="0"/>
              <a:t> + </a:t>
            </a:r>
            <a:r>
              <a:rPr lang="pl-PL" sz="900" i="1" dirty="0" err="1"/>
              <a:t>text</a:t>
            </a:r>
            <a:r>
              <a:rPr lang="pl-PL" sz="900" i="1" dirty="0"/>
              <a:t>[j]</a:t>
            </a:r>
          </a:p>
          <a:p>
            <a:pPr algn="ctr"/>
            <a:r>
              <a:rPr lang="pl-PL" sz="900" i="1" dirty="0"/>
              <a:t>j </a:t>
            </a:r>
            <a:r>
              <a:rPr lang="pl-PL" sz="900" dirty="0"/>
              <a:t>← j+1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983D87DE-2BA9-37A2-65BB-BF8CA8ED4527}"/>
              </a:ext>
            </a:extLst>
          </p:cNvPr>
          <p:cNvSpPr/>
          <p:nvPr/>
        </p:nvSpPr>
        <p:spPr>
          <a:xfrm>
            <a:off x="2938099" y="6667834"/>
            <a:ext cx="1469280" cy="2263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slice_hash</a:t>
            </a:r>
            <a:r>
              <a:rPr lang="pl-PL" sz="900" dirty="0"/>
              <a:t> ← </a:t>
            </a:r>
            <a:r>
              <a:rPr lang="pl-PL" sz="900" i="1" dirty="0" err="1"/>
              <a:t>hf</a:t>
            </a:r>
            <a:r>
              <a:rPr lang="pl-PL" sz="900" dirty="0"/>
              <a:t>(</a:t>
            </a:r>
            <a:r>
              <a:rPr lang="pl-PL" sz="900" i="1" dirty="0" err="1"/>
              <a:t>slice_text</a:t>
            </a:r>
            <a:r>
              <a:rPr lang="pl-PL" sz="900" dirty="0"/>
              <a:t>)</a:t>
            </a:r>
            <a:endParaRPr lang="pl-PL" sz="900" i="1" dirty="0"/>
          </a:p>
        </p:txBody>
      </p:sp>
      <p:sp>
        <p:nvSpPr>
          <p:cNvPr id="32" name="Decision 31">
            <a:extLst>
              <a:ext uri="{FF2B5EF4-FFF2-40B4-BE49-F238E27FC236}">
                <a16:creationId xmlns:a16="http://schemas.microsoft.com/office/drawing/2014/main" id="{D4336D92-8986-6C8E-9D03-20F793EE1E11}"/>
              </a:ext>
            </a:extLst>
          </p:cNvPr>
          <p:cNvSpPr/>
          <p:nvPr/>
        </p:nvSpPr>
        <p:spPr>
          <a:xfrm>
            <a:off x="2742563" y="7071643"/>
            <a:ext cx="1860359" cy="4514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pattern_hash</a:t>
            </a:r>
            <a:r>
              <a:rPr lang="pl-PL" sz="900" dirty="0"/>
              <a:t> = </a:t>
            </a:r>
            <a:r>
              <a:rPr lang="pl-PL" sz="900" i="1" dirty="0" err="1"/>
              <a:t>slice_hash</a:t>
            </a:r>
            <a:endParaRPr lang="pl-PL" sz="900" i="1" dirty="0"/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83841CAD-3B30-F39D-7D07-A1BF756E7899}"/>
              </a:ext>
            </a:extLst>
          </p:cNvPr>
          <p:cNvSpPr/>
          <p:nvPr/>
        </p:nvSpPr>
        <p:spPr>
          <a:xfrm>
            <a:off x="4267687" y="7711853"/>
            <a:ext cx="1903010" cy="2263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Wstaw wartość </a:t>
            </a:r>
            <a:r>
              <a:rPr lang="pl-PL" sz="900" i="1" dirty="0"/>
              <a:t>i</a:t>
            </a:r>
            <a:r>
              <a:rPr lang="pl-PL" sz="900" dirty="0"/>
              <a:t> do listy </a:t>
            </a:r>
            <a:r>
              <a:rPr lang="pl-PL" sz="900" i="1" dirty="0" err="1"/>
              <a:t>matches</a:t>
            </a:r>
            <a:endParaRPr lang="pl-PL" sz="900" i="1" dirty="0"/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B887B55C-9474-33F7-4604-34F520BDFA43}"/>
              </a:ext>
            </a:extLst>
          </p:cNvPr>
          <p:cNvSpPr/>
          <p:nvPr/>
        </p:nvSpPr>
        <p:spPr>
          <a:xfrm>
            <a:off x="3347982" y="8251816"/>
            <a:ext cx="566354" cy="2263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47BCA36-4C81-4818-E472-2338C0E3A5EA}"/>
              </a:ext>
            </a:extLst>
          </p:cNvPr>
          <p:cNvCxnSpPr>
            <a:stCxn id="26" idx="3"/>
            <a:endCxn id="23" idx="0"/>
          </p:cNvCxnSpPr>
          <p:nvPr/>
        </p:nvCxnSpPr>
        <p:spPr>
          <a:xfrm>
            <a:off x="3979314" y="5211858"/>
            <a:ext cx="1353951" cy="324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E941350-D7CE-AE50-8288-46AE01AA0977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5333263" y="5861401"/>
            <a:ext cx="2" cy="177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5091435-42B6-AADE-DC96-4C5D0468EE82}"/>
              </a:ext>
            </a:extLst>
          </p:cNvPr>
          <p:cNvCxnSpPr>
            <a:stCxn id="24" idx="3"/>
            <a:endCxn id="25" idx="0"/>
          </p:cNvCxnSpPr>
          <p:nvPr/>
        </p:nvCxnSpPr>
        <p:spPr>
          <a:xfrm>
            <a:off x="6024432" y="6264619"/>
            <a:ext cx="638432" cy="4032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E148E40-0C72-DAD8-CFD1-948C59383126}"/>
              </a:ext>
            </a:extLst>
          </p:cNvPr>
          <p:cNvCxnSpPr>
            <a:stCxn id="25" idx="2"/>
            <a:endCxn id="24" idx="0"/>
          </p:cNvCxnSpPr>
          <p:nvPr/>
        </p:nvCxnSpPr>
        <p:spPr>
          <a:xfrm rot="5400000" flipH="1">
            <a:off x="5521206" y="5850952"/>
            <a:ext cx="953714" cy="1329599"/>
          </a:xfrm>
          <a:prstGeom prst="bentConnector5">
            <a:avLst>
              <a:gd name="adj1" fmla="val -23969"/>
              <a:gd name="adj2" fmla="val -81693"/>
              <a:gd name="adj3" fmla="val 1125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4EC70B8-B0FB-E08C-5367-1D1E5121AF69}"/>
              </a:ext>
            </a:extLst>
          </p:cNvPr>
          <p:cNvCxnSpPr>
            <a:stCxn id="24" idx="1"/>
            <a:endCxn id="27" idx="0"/>
          </p:cNvCxnSpPr>
          <p:nvPr/>
        </p:nvCxnSpPr>
        <p:spPr>
          <a:xfrm rot="10800000" flipV="1">
            <a:off x="3672741" y="6264619"/>
            <a:ext cx="969356" cy="4032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DE9A986-29DA-2588-D719-446B3B3315F2}"/>
              </a:ext>
            </a:extLst>
          </p:cNvPr>
          <p:cNvCxnSpPr>
            <a:stCxn id="27" idx="2"/>
            <a:endCxn id="32" idx="0"/>
          </p:cNvCxnSpPr>
          <p:nvPr/>
        </p:nvCxnSpPr>
        <p:spPr>
          <a:xfrm>
            <a:off x="3672739" y="6894149"/>
            <a:ext cx="0" cy="177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E729356A-B892-A85F-0F55-87F3B50F22F6}"/>
              </a:ext>
            </a:extLst>
          </p:cNvPr>
          <p:cNvCxnSpPr>
            <a:stCxn id="32" idx="3"/>
            <a:endCxn id="35" idx="0"/>
          </p:cNvCxnSpPr>
          <p:nvPr/>
        </p:nvCxnSpPr>
        <p:spPr>
          <a:xfrm>
            <a:off x="4602919" y="7297367"/>
            <a:ext cx="616274" cy="4144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8ADFC4D7-5101-5D17-8472-ACACCDD2334E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 rot="5400000">
            <a:off x="4268353" y="7300975"/>
            <a:ext cx="313647" cy="15880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B4CF8512-6A28-16BC-3750-CE21273E250C}"/>
              </a:ext>
            </a:extLst>
          </p:cNvPr>
          <p:cNvCxnSpPr>
            <a:stCxn id="32" idx="1"/>
            <a:endCxn id="37" idx="0"/>
          </p:cNvCxnSpPr>
          <p:nvPr/>
        </p:nvCxnSpPr>
        <p:spPr>
          <a:xfrm rot="10800000" flipH="1" flipV="1">
            <a:off x="2742562" y="7297369"/>
            <a:ext cx="888597" cy="954449"/>
          </a:xfrm>
          <a:prstGeom prst="bentConnector4">
            <a:avLst>
              <a:gd name="adj1" fmla="val -25726"/>
              <a:gd name="adj2" fmla="val 618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99168659-07ED-2F8A-1708-C8F57259718B}"/>
              </a:ext>
            </a:extLst>
          </p:cNvPr>
          <p:cNvCxnSpPr>
            <a:stCxn id="37" idx="2"/>
            <a:endCxn id="26" idx="0"/>
          </p:cNvCxnSpPr>
          <p:nvPr/>
        </p:nvCxnSpPr>
        <p:spPr>
          <a:xfrm rot="5400000" flipH="1">
            <a:off x="1778296" y="6625271"/>
            <a:ext cx="3428922" cy="276801"/>
          </a:xfrm>
          <a:prstGeom prst="bentConnector5">
            <a:avLst>
              <a:gd name="adj1" fmla="val -6667"/>
              <a:gd name="adj2" fmla="val -1580063"/>
              <a:gd name="adj3" fmla="val 103720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8A2CFB3-3655-F772-53F6-9277C1719BCB}"/>
              </a:ext>
            </a:extLst>
          </p:cNvPr>
          <p:cNvSpPr/>
          <p:nvPr/>
        </p:nvSpPr>
        <p:spPr>
          <a:xfrm>
            <a:off x="420569" y="1568091"/>
            <a:ext cx="3668105" cy="652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143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7</cp:revision>
  <dcterms:created xsi:type="dcterms:W3CDTF">2025-11-30T19:03:59Z</dcterms:created>
  <dcterms:modified xsi:type="dcterms:W3CDTF">2025-12-30T23:36:34Z</dcterms:modified>
</cp:coreProperties>
</file>