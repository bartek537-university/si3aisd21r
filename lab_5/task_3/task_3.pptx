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5"/>
    <p:restoredTop sz="94635"/>
  </p:normalViewPr>
  <p:slideViewPr>
    <p:cSldViewPr snapToGrid="0">
      <p:cViewPr>
        <p:scale>
          <a:sx n="221" d="100"/>
          <a:sy n="221" d="100"/>
        </p:scale>
        <p:origin x="-3120" y="-3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593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514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914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597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353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821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582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634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072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650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18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429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318911" y="366634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318918" y="706904"/>
            <a:ext cx="73799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wzorca. Algorytm </a:t>
            </a:r>
            <a:r>
              <a:rPr lang="pl-PL" sz="2700" dirty="0" err="1"/>
              <a:t>Boyera</a:t>
            </a:r>
            <a:r>
              <a:rPr lang="pl-PL" sz="2700"/>
              <a:t>-Moorea.</a:t>
            </a:r>
            <a:endParaRPr lang="pl-PL" sz="2700" dirty="0"/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7060191" y="2994135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5974767" y="3397658"/>
            <a:ext cx="2856648" cy="213233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text </a:t>
            </a: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/>
              <a:t>pattern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7403090" y="3220453"/>
            <a:ext cx="2" cy="182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6302534" y="3797315"/>
            <a:ext cx="2201114" cy="85060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text_length</a:t>
            </a:r>
            <a:r>
              <a:rPr lang="pl-PL" sz="900" i="1" dirty="0"/>
              <a:t> </a:t>
            </a:r>
            <a:r>
              <a:rPr lang="pl-PL" sz="900" dirty="0"/>
              <a:t>← długość(</a:t>
            </a:r>
            <a:r>
              <a:rPr lang="pl-PL" sz="900" i="1" dirty="0" err="1"/>
              <a:t>text</a:t>
            </a:r>
            <a:r>
              <a:rPr lang="pl-PL" sz="900" dirty="0"/>
              <a:t>)</a:t>
            </a:r>
          </a:p>
          <a:p>
            <a:pPr algn="ctr"/>
            <a:r>
              <a:rPr lang="pl-PL" sz="900" i="1" dirty="0" err="1"/>
              <a:t>pattern_length</a:t>
            </a:r>
            <a:r>
              <a:rPr lang="pl-PL" sz="900" i="1" dirty="0"/>
              <a:t> </a:t>
            </a:r>
            <a:r>
              <a:rPr lang="pl-PL" sz="900" dirty="0"/>
              <a:t>← długość(</a:t>
            </a:r>
            <a:r>
              <a:rPr lang="pl-PL" sz="900" i="1" dirty="0" err="1"/>
              <a:t>pattern</a:t>
            </a:r>
            <a:r>
              <a:rPr lang="pl-PL" sz="900" dirty="0"/>
              <a:t>)</a:t>
            </a:r>
            <a:br>
              <a:rPr lang="pl-PL" sz="900" dirty="0"/>
            </a:br>
            <a:r>
              <a:rPr lang="pl-PL" sz="900" i="1" dirty="0" err="1"/>
              <a:t>last_occurrence_table</a:t>
            </a:r>
            <a:r>
              <a:rPr lang="pl-PL" sz="900" dirty="0"/>
              <a:t> ← </a:t>
            </a:r>
            <a:r>
              <a:rPr lang="pl-PL" sz="900"/>
              <a:t>pusty słownik</a:t>
            </a:r>
            <a:endParaRPr lang="pl-PL" sz="900" dirty="0"/>
          </a:p>
          <a:p>
            <a:pPr algn="ctr"/>
            <a:r>
              <a:rPr lang="pl-PL" sz="900" i="1" dirty="0" err="1"/>
              <a:t>matches</a:t>
            </a:r>
            <a:r>
              <a:rPr lang="pl-PL" sz="900" dirty="0"/>
              <a:t> ← pusta tablica</a:t>
            </a:r>
          </a:p>
          <a:p>
            <a:pPr algn="ctr"/>
            <a:r>
              <a:rPr lang="pl-PL" sz="900" i="1" dirty="0" err="1"/>
              <a:t>pattern_start_index</a:t>
            </a:r>
            <a:r>
              <a:rPr lang="pl-PL" sz="900" i="1" dirty="0"/>
              <a:t> </a:t>
            </a:r>
            <a:r>
              <a:rPr lang="pl-PL" sz="900" dirty="0"/>
              <a:t>← 0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83DC63-A03F-F9DE-C0E5-86918B1577AA}"/>
              </a:ext>
            </a:extLst>
          </p:cNvPr>
          <p:cNvCxnSpPr>
            <a:cxnSpLocks/>
          </p:cNvCxnSpPr>
          <p:nvPr/>
        </p:nvCxnSpPr>
        <p:spPr>
          <a:xfrm>
            <a:off x="7402401" y="3606967"/>
            <a:ext cx="0" cy="180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8A2CFB3-3655-F772-53F6-9277C1719BCB}"/>
              </a:ext>
            </a:extLst>
          </p:cNvPr>
          <p:cNvSpPr/>
          <p:nvPr/>
        </p:nvSpPr>
        <p:spPr>
          <a:xfrm>
            <a:off x="315640" y="1390395"/>
            <a:ext cx="3668105" cy="6520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l-PL" sz="1400" dirty="0">
                <a:solidFill>
                  <a:schemeClr val="accent2"/>
                </a:solidFill>
              </a:rPr>
              <a:t>Konwencja</a:t>
            </a:r>
          </a:p>
          <a:p>
            <a:r>
              <a:rPr lang="pl-PL" dirty="0"/>
              <a:t>Indeksowanie rozpoczyna się od </a:t>
            </a:r>
            <a:r>
              <a:rPr lang="pl-PL" i="1" dirty="0"/>
              <a:t>0</a:t>
            </a:r>
            <a:r>
              <a:rPr lang="pl-PL" dirty="0"/>
              <a:t>.</a:t>
            </a:r>
          </a:p>
        </p:txBody>
      </p:sp>
      <p:sp>
        <p:nvSpPr>
          <p:cNvPr id="62" name="Decision 61">
            <a:extLst>
              <a:ext uri="{FF2B5EF4-FFF2-40B4-BE49-F238E27FC236}">
                <a16:creationId xmlns:a16="http://schemas.microsoft.com/office/drawing/2014/main" id="{A6D7BD0A-75A7-35D4-A542-205C696BBAA3}"/>
              </a:ext>
            </a:extLst>
          </p:cNvPr>
          <p:cNvSpPr/>
          <p:nvPr/>
        </p:nvSpPr>
        <p:spPr>
          <a:xfrm>
            <a:off x="6589933" y="4831874"/>
            <a:ext cx="1626316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pattern_length</a:t>
            </a:r>
            <a:endParaRPr lang="pl-PL" sz="900" i="1" dirty="0"/>
          </a:p>
        </p:txBody>
      </p:sp>
      <p:sp>
        <p:nvSpPr>
          <p:cNvPr id="72" name="Process 71">
            <a:extLst>
              <a:ext uri="{FF2B5EF4-FFF2-40B4-BE49-F238E27FC236}">
                <a16:creationId xmlns:a16="http://schemas.microsoft.com/office/drawing/2014/main" id="{EFE26862-62CD-1870-794C-E3CE370DC035}"/>
              </a:ext>
            </a:extLst>
          </p:cNvPr>
          <p:cNvSpPr/>
          <p:nvPr/>
        </p:nvSpPr>
        <p:spPr>
          <a:xfrm>
            <a:off x="8569219" y="5343595"/>
            <a:ext cx="1856656" cy="43011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letter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pattern</a:t>
            </a:r>
            <a:r>
              <a:rPr lang="pl-PL" sz="900" dirty="0"/>
              <a:t>[</a:t>
            </a:r>
            <a:r>
              <a:rPr lang="pl-PL" sz="900" i="1" dirty="0"/>
              <a:t>i</a:t>
            </a:r>
            <a:r>
              <a:rPr lang="pl-PL" sz="900" dirty="0"/>
              <a:t>]</a:t>
            </a:r>
            <a:endParaRPr lang="pl-PL" sz="900" i="1" dirty="0"/>
          </a:p>
          <a:p>
            <a:pPr algn="ctr"/>
            <a:r>
              <a:rPr lang="pl-PL" sz="900" i="1" dirty="0" err="1"/>
              <a:t>last_occurrence_table</a:t>
            </a:r>
            <a:r>
              <a:rPr lang="pl-PL" sz="900" dirty="0"/>
              <a:t>[</a:t>
            </a:r>
            <a:r>
              <a:rPr lang="pl-PL" sz="900" i="1" dirty="0" err="1"/>
              <a:t>letter</a:t>
            </a:r>
            <a:r>
              <a:rPr lang="pl-PL" sz="900" dirty="0"/>
              <a:t>] ← i</a:t>
            </a:r>
            <a:br>
              <a:rPr lang="pl-PL" sz="900" dirty="0"/>
            </a:br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 </a:t>
            </a:r>
            <a:endParaRPr lang="pl-PL" sz="900" i="1" dirty="0"/>
          </a:p>
        </p:txBody>
      </p:sp>
      <p:sp>
        <p:nvSpPr>
          <p:cNvPr id="75" name="Decision 74">
            <a:extLst>
              <a:ext uri="{FF2B5EF4-FFF2-40B4-BE49-F238E27FC236}">
                <a16:creationId xmlns:a16="http://schemas.microsoft.com/office/drawing/2014/main" id="{B0DC3B63-85B3-7E24-3D1C-9352FE05AEFF}"/>
              </a:ext>
            </a:extLst>
          </p:cNvPr>
          <p:cNvSpPr/>
          <p:nvPr/>
        </p:nvSpPr>
        <p:spPr>
          <a:xfrm>
            <a:off x="4086519" y="6417841"/>
            <a:ext cx="2098737" cy="9270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pattern_start_index</a:t>
            </a:r>
            <a:r>
              <a:rPr lang="pl-PL" sz="900" i="1" dirty="0"/>
              <a:t> </a:t>
            </a:r>
            <a:r>
              <a:rPr lang="pl-PL" sz="900" dirty="0"/>
              <a:t>+ </a:t>
            </a:r>
            <a:r>
              <a:rPr lang="pl-PL" sz="900" i="1" dirty="0" err="1"/>
              <a:t>pattern_length</a:t>
            </a:r>
            <a:endParaRPr lang="pl-PL" sz="900" i="1" dirty="0"/>
          </a:p>
          <a:p>
            <a:pPr algn="ctr"/>
            <a:r>
              <a:rPr lang="pl-PL" sz="900" dirty="0"/>
              <a:t>&lt;= </a:t>
            </a:r>
            <a:r>
              <a:rPr lang="pl-PL" sz="900" i="1" dirty="0" err="1"/>
              <a:t>text_length</a:t>
            </a:r>
            <a:endParaRPr lang="pl-PL" sz="900" i="1" dirty="0"/>
          </a:p>
        </p:txBody>
      </p:sp>
      <p:sp>
        <p:nvSpPr>
          <p:cNvPr id="76" name="Process 75">
            <a:extLst>
              <a:ext uri="{FF2B5EF4-FFF2-40B4-BE49-F238E27FC236}">
                <a16:creationId xmlns:a16="http://schemas.microsoft.com/office/drawing/2014/main" id="{731C6972-FF9D-B430-E34C-20322B63414C}"/>
              </a:ext>
            </a:extLst>
          </p:cNvPr>
          <p:cNvSpPr/>
          <p:nvPr/>
        </p:nvSpPr>
        <p:spPr>
          <a:xfrm>
            <a:off x="5605418" y="7338156"/>
            <a:ext cx="2034960" cy="2263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in_pattern_index</a:t>
            </a:r>
            <a:r>
              <a:rPr lang="pl-PL" sz="900" dirty="0"/>
              <a:t> ← </a:t>
            </a:r>
            <a:r>
              <a:rPr lang="pl-PL" sz="900" i="1" dirty="0" err="1"/>
              <a:t>pattern_length</a:t>
            </a:r>
            <a:r>
              <a:rPr lang="pl-PL" sz="900" dirty="0"/>
              <a:t> – 1</a:t>
            </a:r>
          </a:p>
        </p:txBody>
      </p:sp>
      <p:sp>
        <p:nvSpPr>
          <p:cNvPr id="78" name="Decision 77">
            <a:extLst>
              <a:ext uri="{FF2B5EF4-FFF2-40B4-BE49-F238E27FC236}">
                <a16:creationId xmlns:a16="http://schemas.microsoft.com/office/drawing/2014/main" id="{B98A77C4-A672-578E-04C4-D1690C974380}"/>
              </a:ext>
            </a:extLst>
          </p:cNvPr>
          <p:cNvSpPr/>
          <p:nvPr/>
        </p:nvSpPr>
        <p:spPr>
          <a:xfrm>
            <a:off x="5269319" y="7750898"/>
            <a:ext cx="2707160" cy="104173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(</a:t>
            </a:r>
            <a:r>
              <a:rPr lang="pl-PL" sz="900" i="1" dirty="0" err="1"/>
              <a:t>in_pattern_index</a:t>
            </a:r>
            <a:r>
              <a:rPr lang="pl-PL" sz="900" i="1" dirty="0"/>
              <a:t> &gt;= 0)</a:t>
            </a:r>
          </a:p>
          <a:p>
            <a:pPr algn="ctr"/>
            <a:r>
              <a:rPr lang="pl-PL" sz="900" i="1" dirty="0"/>
              <a:t>oraz</a:t>
            </a:r>
          </a:p>
          <a:p>
            <a:pPr algn="ctr"/>
            <a:r>
              <a:rPr lang="pl-PL" sz="900" dirty="0"/>
              <a:t>(</a:t>
            </a:r>
            <a:r>
              <a:rPr lang="pl-PL" sz="900" i="1" dirty="0" err="1"/>
              <a:t>text</a:t>
            </a:r>
            <a:r>
              <a:rPr lang="pl-PL" sz="900" dirty="0"/>
              <a:t>[</a:t>
            </a:r>
            <a:r>
              <a:rPr lang="pl-PL" sz="900" i="1" dirty="0" err="1"/>
              <a:t>pattern_start__index</a:t>
            </a:r>
            <a:r>
              <a:rPr lang="pl-PL" sz="900" dirty="0"/>
              <a:t>+</a:t>
            </a:r>
            <a:r>
              <a:rPr lang="pl-PL" sz="900" i="1" dirty="0"/>
              <a:t> </a:t>
            </a:r>
            <a:r>
              <a:rPr lang="pl-PL" sz="900" i="1" dirty="0" err="1"/>
              <a:t>in_pattern_index</a:t>
            </a:r>
            <a:r>
              <a:rPr lang="pl-PL" sz="900" dirty="0"/>
              <a:t> ]</a:t>
            </a:r>
          </a:p>
          <a:p>
            <a:pPr algn="ctr"/>
            <a:r>
              <a:rPr lang="pl-PL" sz="900" i="1" dirty="0"/>
              <a:t>== </a:t>
            </a:r>
            <a:r>
              <a:rPr lang="pl-PL" sz="900" i="1" dirty="0" err="1"/>
              <a:t>pattern</a:t>
            </a:r>
            <a:r>
              <a:rPr lang="pl-PL" sz="900" dirty="0"/>
              <a:t>[</a:t>
            </a:r>
            <a:r>
              <a:rPr lang="pl-PL" sz="900" i="1" dirty="0" err="1"/>
              <a:t>n_pattern_index</a:t>
            </a:r>
            <a:r>
              <a:rPr lang="pl-PL" sz="900" i="1" dirty="0"/>
              <a:t> </a:t>
            </a:r>
            <a:r>
              <a:rPr lang="pl-PL" sz="900" dirty="0"/>
              <a:t>])</a:t>
            </a:r>
          </a:p>
        </p:txBody>
      </p:sp>
      <p:sp>
        <p:nvSpPr>
          <p:cNvPr id="79" name="Process 78">
            <a:extLst>
              <a:ext uri="{FF2B5EF4-FFF2-40B4-BE49-F238E27FC236}">
                <a16:creationId xmlns:a16="http://schemas.microsoft.com/office/drawing/2014/main" id="{C2F038B5-7315-3904-18F8-6287CD321705}"/>
              </a:ext>
            </a:extLst>
          </p:cNvPr>
          <p:cNvSpPr/>
          <p:nvPr/>
        </p:nvSpPr>
        <p:spPr>
          <a:xfrm>
            <a:off x="7279920" y="8695931"/>
            <a:ext cx="2134188" cy="2263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in_pattern_index</a:t>
            </a:r>
            <a:r>
              <a:rPr lang="pl-PL" sz="900" dirty="0"/>
              <a:t> ← </a:t>
            </a:r>
            <a:r>
              <a:rPr lang="pl-PL" sz="900" i="1" dirty="0" err="1"/>
              <a:t>in_pattern_index</a:t>
            </a:r>
            <a:r>
              <a:rPr lang="pl-PL" sz="900" dirty="0"/>
              <a:t> – 1</a:t>
            </a:r>
          </a:p>
        </p:txBody>
      </p:sp>
      <p:sp>
        <p:nvSpPr>
          <p:cNvPr id="80" name="Decision 79">
            <a:extLst>
              <a:ext uri="{FF2B5EF4-FFF2-40B4-BE49-F238E27FC236}">
                <a16:creationId xmlns:a16="http://schemas.microsoft.com/office/drawing/2014/main" id="{D5F54409-B6D5-59A2-2332-6A6F08E0A844}"/>
              </a:ext>
            </a:extLst>
          </p:cNvPr>
          <p:cNvSpPr/>
          <p:nvPr/>
        </p:nvSpPr>
        <p:spPr>
          <a:xfrm>
            <a:off x="5967655" y="9305204"/>
            <a:ext cx="1310486" cy="56693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in_pattern_index</a:t>
            </a:r>
            <a:r>
              <a:rPr lang="pl-PL" sz="900" i="1" dirty="0"/>
              <a:t> &lt; 0</a:t>
            </a:r>
          </a:p>
        </p:txBody>
      </p:sp>
      <p:sp>
        <p:nvSpPr>
          <p:cNvPr id="81" name="Process 80">
            <a:extLst>
              <a:ext uri="{FF2B5EF4-FFF2-40B4-BE49-F238E27FC236}">
                <a16:creationId xmlns:a16="http://schemas.microsoft.com/office/drawing/2014/main" id="{7DB97AD9-34C2-43F5-BEED-2DC93B0FC74D}"/>
              </a:ext>
            </a:extLst>
          </p:cNvPr>
          <p:cNvSpPr/>
          <p:nvPr/>
        </p:nvSpPr>
        <p:spPr>
          <a:xfrm>
            <a:off x="7015538" y="9937480"/>
            <a:ext cx="2870133" cy="40731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Wstaw wartość </a:t>
            </a:r>
            <a:r>
              <a:rPr lang="pl-PL" sz="900" i="1" dirty="0" err="1"/>
              <a:t>pattern_start_index</a:t>
            </a:r>
            <a:r>
              <a:rPr lang="pl-PL" sz="900" dirty="0"/>
              <a:t> do listy </a:t>
            </a:r>
            <a:r>
              <a:rPr lang="pl-PL" sz="900" i="1" dirty="0" err="1"/>
              <a:t>matches</a:t>
            </a:r>
            <a:endParaRPr lang="pl-PL" sz="900" i="1" dirty="0"/>
          </a:p>
          <a:p>
            <a:pPr algn="ctr"/>
            <a:r>
              <a:rPr lang="pl-PL" sz="900" i="1" dirty="0" err="1"/>
              <a:t>pattern_start_index</a:t>
            </a:r>
            <a:r>
              <a:rPr lang="pl-PL" sz="900" dirty="0"/>
              <a:t> ← </a:t>
            </a:r>
            <a:r>
              <a:rPr lang="pl-PL" sz="900" i="1" dirty="0" err="1"/>
              <a:t>pattern_start_index</a:t>
            </a:r>
            <a:r>
              <a:rPr lang="pl-PL" sz="900" dirty="0"/>
              <a:t> + </a:t>
            </a:r>
            <a:r>
              <a:rPr lang="pl-PL" sz="900" i="1" dirty="0"/>
              <a:t>1</a:t>
            </a:r>
          </a:p>
        </p:txBody>
      </p:sp>
      <p:sp>
        <p:nvSpPr>
          <p:cNvPr id="82" name="Process 81">
            <a:extLst>
              <a:ext uri="{FF2B5EF4-FFF2-40B4-BE49-F238E27FC236}">
                <a16:creationId xmlns:a16="http://schemas.microsoft.com/office/drawing/2014/main" id="{0B304F61-5952-5678-7CC2-5C8C75CC2EFE}"/>
              </a:ext>
            </a:extLst>
          </p:cNvPr>
          <p:cNvSpPr/>
          <p:nvPr/>
        </p:nvSpPr>
        <p:spPr>
          <a:xfrm>
            <a:off x="2474687" y="9937479"/>
            <a:ext cx="3223664" cy="2562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current_letter</a:t>
            </a:r>
            <a:r>
              <a:rPr lang="pl-PL" sz="900" dirty="0"/>
              <a:t> ← </a:t>
            </a:r>
            <a:r>
              <a:rPr lang="pl-PL" sz="900" i="1" dirty="0" err="1"/>
              <a:t>text</a:t>
            </a:r>
            <a:r>
              <a:rPr lang="pl-PL" sz="900" dirty="0"/>
              <a:t>[</a:t>
            </a:r>
            <a:r>
              <a:rPr lang="pl-PL" sz="900" i="1" dirty="0" err="1"/>
              <a:t>pattern_start_index</a:t>
            </a:r>
            <a:r>
              <a:rPr lang="pl-PL" sz="900" dirty="0"/>
              <a:t> + </a:t>
            </a:r>
            <a:r>
              <a:rPr lang="pl-PL" sz="900" i="1" dirty="0" err="1"/>
              <a:t>in_pattern_index</a:t>
            </a:r>
            <a:r>
              <a:rPr lang="pl-PL" sz="900" i="1" dirty="0"/>
              <a:t> </a:t>
            </a:r>
            <a:r>
              <a:rPr lang="pl-PL" sz="900" dirty="0"/>
              <a:t>]</a:t>
            </a:r>
            <a:endParaRPr lang="pl-PL" sz="900" i="1" dirty="0"/>
          </a:p>
        </p:txBody>
      </p:sp>
      <p:sp>
        <p:nvSpPr>
          <p:cNvPr id="83" name="Decision 82">
            <a:extLst>
              <a:ext uri="{FF2B5EF4-FFF2-40B4-BE49-F238E27FC236}">
                <a16:creationId xmlns:a16="http://schemas.microsoft.com/office/drawing/2014/main" id="{77745386-D8E8-CCD8-EFBA-B6D8C8EFB06A}"/>
              </a:ext>
            </a:extLst>
          </p:cNvPr>
          <p:cNvSpPr/>
          <p:nvPr/>
        </p:nvSpPr>
        <p:spPr>
          <a:xfrm>
            <a:off x="3094756" y="10380174"/>
            <a:ext cx="1983522" cy="74492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current_letter</a:t>
            </a:r>
            <a:endParaRPr lang="pl-PL" sz="900" i="1" dirty="0"/>
          </a:p>
          <a:p>
            <a:pPr algn="ctr"/>
            <a:r>
              <a:rPr lang="pl-PL" sz="900" dirty="0"/>
              <a:t>w </a:t>
            </a:r>
            <a:r>
              <a:rPr lang="pl-PL" sz="900" i="1" dirty="0" err="1"/>
              <a:t>last_occurrence_table</a:t>
            </a:r>
            <a:r>
              <a:rPr lang="pl-PL" sz="900" dirty="0"/>
              <a:t> </a:t>
            </a:r>
            <a:endParaRPr lang="pl-PL" sz="900" i="1" dirty="0"/>
          </a:p>
        </p:txBody>
      </p:sp>
      <p:sp>
        <p:nvSpPr>
          <p:cNvPr id="85" name="Process 84">
            <a:extLst>
              <a:ext uri="{FF2B5EF4-FFF2-40B4-BE49-F238E27FC236}">
                <a16:creationId xmlns:a16="http://schemas.microsoft.com/office/drawing/2014/main" id="{17A8ED3C-B217-6042-C7BB-BA4E457AFD2F}"/>
              </a:ext>
            </a:extLst>
          </p:cNvPr>
          <p:cNvSpPr/>
          <p:nvPr/>
        </p:nvSpPr>
        <p:spPr>
          <a:xfrm>
            <a:off x="4336965" y="11332307"/>
            <a:ext cx="3939130" cy="38254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last_occurrence_index</a:t>
            </a:r>
            <a:r>
              <a:rPr lang="pl-PL" sz="900" dirty="0"/>
              <a:t> ←</a:t>
            </a:r>
            <a:r>
              <a:rPr lang="pl-PL" sz="900" i="1" dirty="0"/>
              <a:t> </a:t>
            </a:r>
            <a:r>
              <a:rPr lang="pl-PL" sz="900" i="1" dirty="0" err="1"/>
              <a:t>last_occurrence_table</a:t>
            </a:r>
            <a:r>
              <a:rPr lang="pl-PL" sz="900" i="1" dirty="0"/>
              <a:t>[</a:t>
            </a:r>
            <a:r>
              <a:rPr lang="pl-PL" sz="900" i="1" dirty="0" err="1"/>
              <a:t>current_letter</a:t>
            </a:r>
            <a:r>
              <a:rPr lang="pl-PL" sz="900" i="1" dirty="0"/>
              <a:t>]</a:t>
            </a:r>
          </a:p>
          <a:p>
            <a:pPr algn="ctr"/>
            <a:r>
              <a:rPr lang="pl-PL" sz="900" i="1" dirty="0" err="1"/>
              <a:t>pattern_start_index</a:t>
            </a:r>
            <a:r>
              <a:rPr lang="pl-PL" sz="900" dirty="0"/>
              <a:t> ← max(1, </a:t>
            </a:r>
            <a:r>
              <a:rPr lang="pl-PL" sz="900" i="1" dirty="0" err="1"/>
              <a:t>pattern_start_index</a:t>
            </a:r>
            <a:r>
              <a:rPr lang="pl-PL" sz="900" dirty="0"/>
              <a:t> - </a:t>
            </a:r>
            <a:r>
              <a:rPr lang="pl-PL" sz="900" i="1" dirty="0" err="1"/>
              <a:t>last_occurrence_index</a:t>
            </a:r>
            <a:r>
              <a:rPr lang="pl-PL" sz="900" dirty="0"/>
              <a:t>)</a:t>
            </a:r>
            <a:endParaRPr lang="pl-PL" sz="900" i="1" dirty="0"/>
          </a:p>
        </p:txBody>
      </p:sp>
      <p:sp>
        <p:nvSpPr>
          <p:cNvPr id="86" name="Process 85">
            <a:extLst>
              <a:ext uri="{FF2B5EF4-FFF2-40B4-BE49-F238E27FC236}">
                <a16:creationId xmlns:a16="http://schemas.microsoft.com/office/drawing/2014/main" id="{7244F009-A729-E279-2EA2-E36438AB4F6D}"/>
              </a:ext>
            </a:extLst>
          </p:cNvPr>
          <p:cNvSpPr/>
          <p:nvPr/>
        </p:nvSpPr>
        <p:spPr>
          <a:xfrm>
            <a:off x="713661" y="11380330"/>
            <a:ext cx="3048159" cy="25627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pattern_start_index</a:t>
            </a:r>
            <a:r>
              <a:rPr lang="pl-PL" sz="900" dirty="0"/>
              <a:t> ← </a:t>
            </a:r>
            <a:r>
              <a:rPr lang="pl-PL" sz="900" i="1" dirty="0" err="1"/>
              <a:t>pattern_start_index</a:t>
            </a:r>
            <a:r>
              <a:rPr lang="pl-PL" sz="900" dirty="0"/>
              <a:t> + </a:t>
            </a:r>
            <a:r>
              <a:rPr lang="pl-PL" sz="900" i="1" dirty="0" err="1"/>
              <a:t>pattern_length</a:t>
            </a:r>
            <a:endParaRPr lang="pl-PL" sz="900" i="1" dirty="0"/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F5240DB0-B387-EC8C-6281-DC2DC0816940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8216249" y="4994839"/>
            <a:ext cx="1281298" cy="3487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4B608782-F13A-4920-ED64-8325DE14712E}"/>
              </a:ext>
            </a:extLst>
          </p:cNvPr>
          <p:cNvCxnSpPr>
            <a:cxnSpLocks/>
            <a:stCxn id="72" idx="2"/>
            <a:endCxn id="62" idx="0"/>
          </p:cNvCxnSpPr>
          <p:nvPr/>
        </p:nvCxnSpPr>
        <p:spPr>
          <a:xfrm rot="5400000" flipH="1">
            <a:off x="7979402" y="4255563"/>
            <a:ext cx="941833" cy="2094456"/>
          </a:xfrm>
          <a:prstGeom prst="bentConnector5">
            <a:avLst>
              <a:gd name="adj1" fmla="val -13934"/>
              <a:gd name="adj2" fmla="val -50535"/>
              <a:gd name="adj3" fmla="val 1130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0E94A67-58F4-8970-2A86-737AAFA4BD5C}"/>
              </a:ext>
            </a:extLst>
          </p:cNvPr>
          <p:cNvCxnSpPr>
            <a:cxnSpLocks/>
            <a:stCxn id="11" idx="2"/>
            <a:endCxn id="62" idx="0"/>
          </p:cNvCxnSpPr>
          <p:nvPr/>
        </p:nvCxnSpPr>
        <p:spPr>
          <a:xfrm>
            <a:off x="7403091" y="4647922"/>
            <a:ext cx="0" cy="183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rminator 112">
            <a:extLst>
              <a:ext uri="{FF2B5EF4-FFF2-40B4-BE49-F238E27FC236}">
                <a16:creationId xmlns:a16="http://schemas.microsoft.com/office/drawing/2014/main" id="{5C9876EC-1535-2B00-813C-AE3F97B29468}"/>
              </a:ext>
            </a:extLst>
          </p:cNvPr>
          <p:cNvSpPr/>
          <p:nvPr/>
        </p:nvSpPr>
        <p:spPr>
          <a:xfrm>
            <a:off x="3040752" y="776341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114" name="Data 113">
            <a:extLst>
              <a:ext uri="{FF2B5EF4-FFF2-40B4-BE49-F238E27FC236}">
                <a16:creationId xmlns:a16="http://schemas.microsoft.com/office/drawing/2014/main" id="{C0825CEB-EB74-CC0F-BABA-C7D34092DC1C}"/>
              </a:ext>
            </a:extLst>
          </p:cNvPr>
          <p:cNvSpPr/>
          <p:nvPr/>
        </p:nvSpPr>
        <p:spPr>
          <a:xfrm>
            <a:off x="2326859" y="7330414"/>
            <a:ext cx="2113589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listę</a:t>
            </a:r>
            <a:r>
              <a:rPr lang="en-US" sz="900" dirty="0"/>
              <a:t> </a:t>
            </a:r>
            <a:r>
              <a:rPr lang="en-US" sz="900" i="1" dirty="0"/>
              <a:t>matches</a:t>
            </a:r>
            <a:r>
              <a:rPr lang="en-US" sz="900" dirty="0"/>
              <a:t>.</a:t>
            </a:r>
            <a:endParaRPr lang="en-US" sz="900" i="1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6D78E4E-A83D-C730-153E-906EE53307D0}"/>
              </a:ext>
            </a:extLst>
          </p:cNvPr>
          <p:cNvSpPr txBox="1"/>
          <p:nvPr/>
        </p:nvSpPr>
        <p:spPr>
          <a:xfrm>
            <a:off x="6230257" y="470813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80F79B20-7437-541C-9B78-00EB23114F8D}"/>
              </a:ext>
            </a:extLst>
          </p:cNvPr>
          <p:cNvCxnSpPr>
            <a:cxnSpLocks/>
            <a:stCxn id="62" idx="1"/>
            <a:endCxn id="75" idx="0"/>
          </p:cNvCxnSpPr>
          <p:nvPr/>
        </p:nvCxnSpPr>
        <p:spPr>
          <a:xfrm rot="10800000" flipV="1">
            <a:off x="5135889" y="4994521"/>
            <a:ext cx="1454045" cy="14233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1F9B171-AA47-1037-1F35-4E732BED611D}"/>
              </a:ext>
            </a:extLst>
          </p:cNvPr>
          <p:cNvCxnSpPr>
            <a:cxnSpLocks/>
            <a:stCxn id="76" idx="2"/>
            <a:endCxn id="78" idx="0"/>
          </p:cNvCxnSpPr>
          <p:nvPr/>
        </p:nvCxnSpPr>
        <p:spPr>
          <a:xfrm>
            <a:off x="6622898" y="7564472"/>
            <a:ext cx="1" cy="186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68FC6A0C-8F16-D514-DC57-248CA49347B5}"/>
              </a:ext>
            </a:extLst>
          </p:cNvPr>
          <p:cNvCxnSpPr>
            <a:cxnSpLocks/>
            <a:stCxn id="75" idx="3"/>
            <a:endCxn id="76" idx="0"/>
          </p:cNvCxnSpPr>
          <p:nvPr/>
        </p:nvCxnSpPr>
        <p:spPr>
          <a:xfrm>
            <a:off x="6185256" y="6881365"/>
            <a:ext cx="437642" cy="4567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BD20855B-BDB4-6DED-82C7-CF5C843D4F02}"/>
              </a:ext>
            </a:extLst>
          </p:cNvPr>
          <p:cNvCxnSpPr>
            <a:cxnSpLocks/>
            <a:stCxn id="78" idx="3"/>
            <a:endCxn id="79" idx="0"/>
          </p:cNvCxnSpPr>
          <p:nvPr/>
        </p:nvCxnSpPr>
        <p:spPr>
          <a:xfrm>
            <a:off x="7976479" y="8271766"/>
            <a:ext cx="370535" cy="4241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1DF318B4-20CB-648F-3B76-942C8AB0B7A7}"/>
              </a:ext>
            </a:extLst>
          </p:cNvPr>
          <p:cNvCxnSpPr>
            <a:cxnSpLocks/>
            <a:stCxn id="79" idx="2"/>
            <a:endCxn id="78" idx="0"/>
          </p:cNvCxnSpPr>
          <p:nvPr/>
        </p:nvCxnSpPr>
        <p:spPr>
          <a:xfrm rot="5400000" flipH="1">
            <a:off x="6899282" y="7474516"/>
            <a:ext cx="1171349" cy="1724115"/>
          </a:xfrm>
          <a:prstGeom prst="bentConnector5">
            <a:avLst>
              <a:gd name="adj1" fmla="val -19516"/>
              <a:gd name="adj2" fmla="val -77069"/>
              <a:gd name="adj3" fmla="val 1109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1C65AAEE-0A54-21BB-D195-B16CBE3C42A8}"/>
              </a:ext>
            </a:extLst>
          </p:cNvPr>
          <p:cNvCxnSpPr>
            <a:cxnSpLocks/>
            <a:stCxn id="78" idx="1"/>
            <a:endCxn id="80" idx="0"/>
          </p:cNvCxnSpPr>
          <p:nvPr/>
        </p:nvCxnSpPr>
        <p:spPr>
          <a:xfrm rot="10800000" flipH="1" flipV="1">
            <a:off x="5269318" y="8271766"/>
            <a:ext cx="1353579" cy="1033438"/>
          </a:xfrm>
          <a:prstGeom prst="bentConnector4">
            <a:avLst>
              <a:gd name="adj1" fmla="val -16889"/>
              <a:gd name="adj2" fmla="val 752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6D2FBFDF-14D9-B352-1FA2-F851F5FFEAC3}"/>
              </a:ext>
            </a:extLst>
          </p:cNvPr>
          <p:cNvCxnSpPr>
            <a:cxnSpLocks/>
            <a:stCxn id="80" idx="3"/>
            <a:endCxn id="81" idx="0"/>
          </p:cNvCxnSpPr>
          <p:nvPr/>
        </p:nvCxnSpPr>
        <p:spPr>
          <a:xfrm>
            <a:off x="7278141" y="9588669"/>
            <a:ext cx="1172464" cy="3488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3586BD10-5BEE-95E1-98A7-F5E8190CA9EB}"/>
              </a:ext>
            </a:extLst>
          </p:cNvPr>
          <p:cNvCxnSpPr>
            <a:cxnSpLocks/>
            <a:stCxn id="80" idx="1"/>
            <a:endCxn id="82" idx="0"/>
          </p:cNvCxnSpPr>
          <p:nvPr/>
        </p:nvCxnSpPr>
        <p:spPr>
          <a:xfrm rot="10800000" flipV="1">
            <a:off x="4086519" y="9588669"/>
            <a:ext cx="1881136" cy="3488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EBCE1FF-1B87-12B3-FE4E-DC807DB8F983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flipH="1">
            <a:off x="4086517" y="10193749"/>
            <a:ext cx="2" cy="186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3051295B-74CD-3DEB-BCDF-99A01C13103E}"/>
              </a:ext>
            </a:extLst>
          </p:cNvPr>
          <p:cNvCxnSpPr>
            <a:cxnSpLocks/>
            <a:stCxn id="83" idx="3"/>
            <a:endCxn id="85" idx="0"/>
          </p:cNvCxnSpPr>
          <p:nvPr/>
        </p:nvCxnSpPr>
        <p:spPr>
          <a:xfrm>
            <a:off x="5078278" y="10752635"/>
            <a:ext cx="1228252" cy="5796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53872FD8-D193-D717-C136-4483C12C6AFA}"/>
              </a:ext>
            </a:extLst>
          </p:cNvPr>
          <p:cNvCxnSpPr>
            <a:cxnSpLocks/>
            <a:stCxn id="83" idx="1"/>
            <a:endCxn id="86" idx="0"/>
          </p:cNvCxnSpPr>
          <p:nvPr/>
        </p:nvCxnSpPr>
        <p:spPr>
          <a:xfrm rot="10800000" flipV="1">
            <a:off x="2237742" y="10752634"/>
            <a:ext cx="857015" cy="6276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Elbow Connector 149">
            <a:extLst>
              <a:ext uri="{FF2B5EF4-FFF2-40B4-BE49-F238E27FC236}">
                <a16:creationId xmlns:a16="http://schemas.microsoft.com/office/drawing/2014/main" id="{BDBA8B37-07F0-FF25-164E-F3062B92BF06}"/>
              </a:ext>
            </a:extLst>
          </p:cNvPr>
          <p:cNvCxnSpPr>
            <a:cxnSpLocks/>
            <a:stCxn id="86" idx="2"/>
          </p:cNvCxnSpPr>
          <p:nvPr/>
        </p:nvCxnSpPr>
        <p:spPr>
          <a:xfrm rot="16200000" flipH="1">
            <a:off x="4086863" y="9787478"/>
            <a:ext cx="601978" cy="4300222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89A67919-5985-1658-859F-59959B4F396D}"/>
              </a:ext>
            </a:extLst>
          </p:cNvPr>
          <p:cNvCxnSpPr>
            <a:cxnSpLocks/>
            <a:stCxn id="85" idx="2"/>
          </p:cNvCxnSpPr>
          <p:nvPr/>
        </p:nvCxnSpPr>
        <p:spPr>
          <a:xfrm rot="16200000" flipH="1">
            <a:off x="7008350" y="11013035"/>
            <a:ext cx="520391" cy="1924031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D36C3525-9E87-8C03-A53A-FAFFAC880880}"/>
              </a:ext>
            </a:extLst>
          </p:cNvPr>
          <p:cNvCxnSpPr>
            <a:cxnSpLocks/>
            <a:stCxn id="85" idx="2"/>
            <a:endCxn id="75" idx="0"/>
          </p:cNvCxnSpPr>
          <p:nvPr/>
        </p:nvCxnSpPr>
        <p:spPr>
          <a:xfrm rot="5400000" flipH="1">
            <a:off x="3072701" y="8481028"/>
            <a:ext cx="5297015" cy="1170642"/>
          </a:xfrm>
          <a:prstGeom prst="bentConnector5">
            <a:avLst>
              <a:gd name="adj1" fmla="val -9915"/>
              <a:gd name="adj2" fmla="val -356609"/>
              <a:gd name="adj3" fmla="val 1043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Elbow Connector 166">
            <a:extLst>
              <a:ext uri="{FF2B5EF4-FFF2-40B4-BE49-F238E27FC236}">
                <a16:creationId xmlns:a16="http://schemas.microsoft.com/office/drawing/2014/main" id="{B761187D-1167-E978-D7EF-049AD0E42FD5}"/>
              </a:ext>
            </a:extLst>
          </p:cNvPr>
          <p:cNvCxnSpPr>
            <a:cxnSpLocks/>
            <a:stCxn id="75" idx="1"/>
            <a:endCxn id="114" idx="1"/>
          </p:cNvCxnSpPr>
          <p:nvPr/>
        </p:nvCxnSpPr>
        <p:spPr>
          <a:xfrm rot="10800000" flipV="1">
            <a:off x="3383655" y="6881364"/>
            <a:ext cx="702865" cy="4490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9D417609-DB76-AA2C-7243-A4CB517438B6}"/>
              </a:ext>
            </a:extLst>
          </p:cNvPr>
          <p:cNvCxnSpPr>
            <a:stCxn id="114" idx="4"/>
            <a:endCxn id="113" idx="0"/>
          </p:cNvCxnSpPr>
          <p:nvPr/>
        </p:nvCxnSpPr>
        <p:spPr>
          <a:xfrm flipH="1">
            <a:off x="3383653" y="7579359"/>
            <a:ext cx="1" cy="184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B400DAAC-C864-0058-3E0B-A372D5200442}"/>
              </a:ext>
            </a:extLst>
          </p:cNvPr>
          <p:cNvSpPr txBox="1"/>
          <p:nvPr/>
        </p:nvSpPr>
        <p:spPr>
          <a:xfrm>
            <a:off x="8207261" y="470752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BDE652B-7323-C3F3-B5CB-CF9B624ABF15}"/>
              </a:ext>
            </a:extLst>
          </p:cNvPr>
          <p:cNvSpPr txBox="1"/>
          <p:nvPr/>
        </p:nvSpPr>
        <p:spPr>
          <a:xfrm>
            <a:off x="3711648" y="657276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5FD94D0-4743-8F92-2FDF-B0999FDA7C34}"/>
              </a:ext>
            </a:extLst>
          </p:cNvPr>
          <p:cNvSpPr txBox="1"/>
          <p:nvPr/>
        </p:nvSpPr>
        <p:spPr>
          <a:xfrm>
            <a:off x="6157136" y="658340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C2500D7-96DE-2352-164F-491C9B3A767A}"/>
              </a:ext>
            </a:extLst>
          </p:cNvPr>
          <p:cNvSpPr txBox="1"/>
          <p:nvPr/>
        </p:nvSpPr>
        <p:spPr>
          <a:xfrm>
            <a:off x="7640378" y="783272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995375-1F88-243A-86E4-8905FE222E51}"/>
              </a:ext>
            </a:extLst>
          </p:cNvPr>
          <p:cNvSpPr txBox="1"/>
          <p:nvPr/>
        </p:nvSpPr>
        <p:spPr>
          <a:xfrm>
            <a:off x="7231708" y="9294702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F024CBA-1D83-F202-EC04-549AF47FE2C0}"/>
              </a:ext>
            </a:extLst>
          </p:cNvPr>
          <p:cNvSpPr txBox="1"/>
          <p:nvPr/>
        </p:nvSpPr>
        <p:spPr>
          <a:xfrm>
            <a:off x="5060592" y="1045496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7E3F259-90CE-32E4-34AD-F44FD54C9063}"/>
              </a:ext>
            </a:extLst>
          </p:cNvPr>
          <p:cNvSpPr txBox="1"/>
          <p:nvPr/>
        </p:nvSpPr>
        <p:spPr>
          <a:xfrm>
            <a:off x="5269318" y="7838041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4F8DAE5-5743-7269-42DB-1DC9AAEC397F}"/>
              </a:ext>
            </a:extLst>
          </p:cNvPr>
          <p:cNvSpPr txBox="1"/>
          <p:nvPr/>
        </p:nvSpPr>
        <p:spPr>
          <a:xfrm>
            <a:off x="5628948" y="928406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8A77999-2425-8B37-118A-FC1871FDADC4}"/>
              </a:ext>
            </a:extLst>
          </p:cNvPr>
          <p:cNvSpPr txBox="1"/>
          <p:nvPr/>
        </p:nvSpPr>
        <p:spPr>
          <a:xfrm>
            <a:off x="2706246" y="10454961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3DD6C43-E035-6095-D3C0-237A594EFF8B}"/>
              </a:ext>
            </a:extLst>
          </p:cNvPr>
          <p:cNvCxnSpPr>
            <a:stCxn id="81" idx="2"/>
          </p:cNvCxnSpPr>
          <p:nvPr/>
        </p:nvCxnSpPr>
        <p:spPr>
          <a:xfrm>
            <a:off x="8450605" y="10344793"/>
            <a:ext cx="0" cy="18904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282</Words>
  <Application>Microsoft Macintosh PowerPoint</Application>
  <PresentationFormat>Custom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13</cp:revision>
  <dcterms:created xsi:type="dcterms:W3CDTF">2025-11-30T19:03:59Z</dcterms:created>
  <dcterms:modified xsi:type="dcterms:W3CDTF">2026-01-01T16:05:00Z</dcterms:modified>
</cp:coreProperties>
</file>