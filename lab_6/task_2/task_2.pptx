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  <p:sldId id="258" r:id="rId3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69"/>
    <p:restoredTop sz="94673"/>
  </p:normalViewPr>
  <p:slideViewPr>
    <p:cSldViewPr snapToGrid="0">
      <p:cViewPr>
        <p:scale>
          <a:sx n="154" d="100"/>
          <a:sy n="154" d="100"/>
        </p:scale>
        <p:origin x="1568" y="-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1"/>
            <a:ext cx="19431000" cy="7958668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6"/>
            <a:ext cx="17145000" cy="5519208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723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375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9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21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236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8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8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839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1217088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84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9" y="5603884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9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926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446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795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1"/>
            <a:ext cx="11572875" cy="16245418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6858003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892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1"/>
            <a:ext cx="11572875" cy="16245418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6858003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79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833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3" y="1217083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3" y="1217083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589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8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8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46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8.12.2025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46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46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829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41113" y="504221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41119" y="844491"/>
            <a:ext cx="53321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Kodowanie </a:t>
            </a:r>
            <a:r>
              <a:rPr lang="pl-PL" sz="2700" dirty="0" err="1"/>
              <a:t>Huffmana</a:t>
            </a:r>
            <a:r>
              <a:rPr lang="pl-PL" sz="2700" dirty="0"/>
              <a:t> – kodowanie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4907392D-7EC6-4DEE-84AF-487C8A007ABA}"/>
              </a:ext>
            </a:extLst>
          </p:cNvPr>
          <p:cNvSpPr/>
          <p:nvPr/>
        </p:nvSpPr>
        <p:spPr>
          <a:xfrm>
            <a:off x="9571103" y="2260625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5D13F780-078B-93BB-4278-6DE7D2A2DFA4}"/>
              </a:ext>
            </a:extLst>
          </p:cNvPr>
          <p:cNvSpPr/>
          <p:nvPr/>
        </p:nvSpPr>
        <p:spPr>
          <a:xfrm>
            <a:off x="8477976" y="2652080"/>
            <a:ext cx="2872063" cy="22631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Wczytaj</a:t>
            </a:r>
            <a:r>
              <a:rPr lang="en-US" sz="800" dirty="0"/>
              <a:t> </a:t>
            </a:r>
            <a:r>
              <a:rPr lang="en-US" sz="800" dirty="0" err="1"/>
              <a:t>wiadomość</a:t>
            </a:r>
            <a:r>
              <a:rPr lang="en-US" sz="800" dirty="0"/>
              <a:t> </a:t>
            </a:r>
            <a:r>
              <a:rPr lang="en-US" sz="800" i="1" dirty="0"/>
              <a:t>message</a:t>
            </a:r>
            <a:endParaRPr lang="en-US" sz="800" dirty="0"/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F0C291A3-8A55-71A7-E032-B1713FC3A384}"/>
              </a:ext>
            </a:extLst>
          </p:cNvPr>
          <p:cNvSpPr/>
          <p:nvPr/>
        </p:nvSpPr>
        <p:spPr>
          <a:xfrm>
            <a:off x="9090925" y="3043535"/>
            <a:ext cx="1646155" cy="421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 ← pusty słownik</a:t>
            </a:r>
          </a:p>
          <a:p>
            <a:pPr algn="ctr"/>
            <a:r>
              <a:rPr lang="pl-PL" sz="800" dirty="0"/>
              <a:t>mi ← 0</a:t>
            </a:r>
          </a:p>
          <a:p>
            <a:pPr algn="ctr"/>
            <a:r>
              <a:rPr lang="pl-PL" sz="800" dirty="0"/>
              <a:t>m ← długość(</a:t>
            </a:r>
            <a:r>
              <a:rPr lang="pl-PL" sz="800" dirty="0" err="1"/>
              <a:t>message</a:t>
            </a:r>
            <a:r>
              <a:rPr lang="pl-PL" sz="800" dirty="0"/>
              <a:t>) 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B5BFDDE6-2869-A43A-C6EA-636E756F4864}"/>
              </a:ext>
            </a:extLst>
          </p:cNvPr>
          <p:cNvSpPr/>
          <p:nvPr/>
        </p:nvSpPr>
        <p:spPr>
          <a:xfrm>
            <a:off x="9378595" y="3629993"/>
            <a:ext cx="1070820" cy="3252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&lt; m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E9B8CFA0-89E0-F966-3C14-E71D23E32C6C}"/>
              </a:ext>
            </a:extLst>
          </p:cNvPr>
          <p:cNvSpPr/>
          <p:nvPr/>
        </p:nvSpPr>
        <p:spPr>
          <a:xfrm>
            <a:off x="6851428" y="7962730"/>
            <a:ext cx="2581740" cy="37154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długość(</a:t>
            </a:r>
            <a:r>
              <a:rPr lang="pl-PL" sz="800" dirty="0" err="1"/>
              <a:t>symbols</a:t>
            </a:r>
            <a:r>
              <a:rPr lang="pl-PL" sz="800" dirty="0"/>
              <a:t>) &gt; 1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177913B8-42EA-0E4F-7411-8D5A14180D70}"/>
              </a:ext>
            </a:extLst>
          </p:cNvPr>
          <p:cNvSpPr/>
          <p:nvPr/>
        </p:nvSpPr>
        <p:spPr>
          <a:xfrm>
            <a:off x="13588829" y="5139824"/>
            <a:ext cx="1719405" cy="29507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← 0</a:t>
            </a: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30ED61B0-859B-AD36-ABA0-B2FCE39238C3}"/>
              </a:ext>
            </a:extLst>
          </p:cNvPr>
          <p:cNvSpPr/>
          <p:nvPr/>
        </p:nvSpPr>
        <p:spPr>
          <a:xfrm>
            <a:off x="11758351" y="4120428"/>
            <a:ext cx="1343223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</a:t>
            </a:r>
            <a:r>
              <a:rPr lang="pl-PL" sz="800" dirty="0"/>
              <a:t> ← </a:t>
            </a:r>
            <a:r>
              <a:rPr lang="pl-PL" sz="800" dirty="0" err="1"/>
              <a:t>message</a:t>
            </a:r>
            <a:r>
              <a:rPr lang="pl-PL" sz="800" dirty="0"/>
              <a:t>[mi]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6AE30102-FBE2-0BF6-23CE-51E640858420}"/>
              </a:ext>
            </a:extLst>
          </p:cNvPr>
          <p:cNvSpPr/>
          <p:nvPr/>
        </p:nvSpPr>
        <p:spPr>
          <a:xfrm>
            <a:off x="11210586" y="5600041"/>
            <a:ext cx="2438755" cy="29507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← </a:t>
            </a:r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+ 1 </a:t>
            </a:r>
          </a:p>
          <a:p>
            <a:pPr algn="ctr"/>
            <a:r>
              <a:rPr lang="pl-PL" sz="800" dirty="0"/>
              <a:t>mi ← mi + 1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2C6F448B-AE73-979E-9976-FC6AF614E400}"/>
              </a:ext>
            </a:extLst>
          </p:cNvPr>
          <p:cNvSpPr/>
          <p:nvPr/>
        </p:nvSpPr>
        <p:spPr>
          <a:xfrm>
            <a:off x="8271363" y="8499418"/>
            <a:ext cx="4773780" cy="8639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right_node</a:t>
            </a:r>
            <a:r>
              <a:rPr lang="pl-PL" sz="800" dirty="0"/>
              <a:t> ← Zdejmij element z kolejki </a:t>
            </a:r>
            <a:r>
              <a:rPr lang="pl-PL" sz="800" dirty="0" err="1"/>
              <a:t>symbols</a:t>
            </a:r>
            <a:endParaRPr lang="pl-PL" sz="800" dirty="0"/>
          </a:p>
          <a:p>
            <a:pPr algn="ctr"/>
            <a:r>
              <a:rPr lang="pl-PL" sz="800" dirty="0" err="1"/>
              <a:t>right_weight</a:t>
            </a:r>
            <a:r>
              <a:rPr lang="pl-PL" sz="800" dirty="0"/>
              <a:t> ← Waga elementu </a:t>
            </a:r>
            <a:r>
              <a:rPr lang="pl-PL" sz="800" dirty="0" err="1"/>
              <a:t>right_node</a:t>
            </a:r>
            <a:r>
              <a:rPr lang="pl-PL" sz="800" dirty="0"/>
              <a:t> w kolejce </a:t>
            </a:r>
            <a:r>
              <a:rPr lang="pl-PL" sz="800" dirty="0" err="1"/>
              <a:t>symbols</a:t>
            </a:r>
            <a:endParaRPr lang="pl-PL" sz="800" dirty="0"/>
          </a:p>
          <a:p>
            <a:pPr algn="ctr"/>
            <a:r>
              <a:rPr lang="pl-PL" sz="800" dirty="0" err="1"/>
              <a:t>left_node</a:t>
            </a:r>
            <a:r>
              <a:rPr lang="pl-PL" sz="800" dirty="0"/>
              <a:t> ← Zdejmij element z kolejki </a:t>
            </a:r>
            <a:r>
              <a:rPr lang="pl-PL" sz="800" dirty="0" err="1"/>
              <a:t>symbols</a:t>
            </a:r>
            <a:endParaRPr lang="pl-PL" sz="800" dirty="0"/>
          </a:p>
          <a:p>
            <a:pPr algn="ctr"/>
            <a:r>
              <a:rPr lang="pl-PL" sz="800" dirty="0" err="1"/>
              <a:t>left_weight</a:t>
            </a:r>
            <a:r>
              <a:rPr lang="pl-PL" sz="800" dirty="0"/>
              <a:t> ← Waga elementu </a:t>
            </a:r>
            <a:r>
              <a:rPr lang="pl-PL" sz="800" dirty="0" err="1"/>
              <a:t>left_node</a:t>
            </a:r>
            <a:r>
              <a:rPr lang="pl-PL" sz="800" dirty="0"/>
              <a:t> w kolejce </a:t>
            </a:r>
            <a:r>
              <a:rPr lang="pl-PL" sz="800" dirty="0" err="1"/>
              <a:t>symbols</a:t>
            </a:r>
            <a:endParaRPr lang="pl-PL" sz="800" dirty="0"/>
          </a:p>
          <a:p>
            <a:pPr algn="ctr"/>
            <a:endParaRPr lang="pl-PL" sz="800" dirty="0"/>
          </a:p>
          <a:p>
            <a:pPr algn="ctr"/>
            <a:r>
              <a:rPr lang="pl-PL" sz="800" dirty="0"/>
              <a:t>Zakolejkuj trójkę (brak, </a:t>
            </a:r>
            <a:r>
              <a:rPr lang="pl-PL" sz="800" dirty="0" err="1"/>
              <a:t>left_node</a:t>
            </a:r>
            <a:r>
              <a:rPr lang="pl-PL" sz="800" dirty="0"/>
              <a:t>, </a:t>
            </a:r>
            <a:r>
              <a:rPr lang="pl-PL" sz="800" dirty="0" err="1"/>
              <a:t>right_node</a:t>
            </a:r>
            <a:r>
              <a:rPr lang="pl-PL" sz="800" dirty="0"/>
              <a:t>) o wadze </a:t>
            </a:r>
            <a:r>
              <a:rPr lang="pl-PL" sz="800" dirty="0" err="1"/>
              <a:t>left_weight</a:t>
            </a:r>
            <a:r>
              <a:rPr lang="pl-PL" sz="800" dirty="0"/>
              <a:t> + </a:t>
            </a:r>
            <a:r>
              <a:rPr lang="pl-PL" sz="800" dirty="0" err="1"/>
              <a:t>right_weight</a:t>
            </a:r>
            <a:r>
              <a:rPr lang="pl-PL" sz="800" dirty="0"/>
              <a:t> w </a:t>
            </a:r>
            <a:r>
              <a:rPr lang="pl-PL" sz="800" dirty="0" err="1"/>
              <a:t>symbols</a:t>
            </a:r>
            <a:endParaRPr lang="pl-PL" sz="800" dirty="0"/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73A4263D-B3DB-7F41-FB91-5CD1938B4B21}"/>
              </a:ext>
            </a:extLst>
          </p:cNvPr>
          <p:cNvSpPr/>
          <p:nvPr/>
        </p:nvSpPr>
        <p:spPr>
          <a:xfrm>
            <a:off x="5112078" y="9528489"/>
            <a:ext cx="2687320" cy="6490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root</a:t>
            </a:r>
            <a:r>
              <a:rPr lang="pl-PL" sz="800" dirty="0"/>
              <a:t> ← Zdejmij element z kolejki </a:t>
            </a:r>
            <a:r>
              <a:rPr lang="pl-PL" sz="800" dirty="0" err="1"/>
              <a:t>symbols</a:t>
            </a:r>
            <a:endParaRPr lang="pl-PL" sz="800" dirty="0"/>
          </a:p>
          <a:p>
            <a:pPr algn="ctr"/>
            <a:r>
              <a:rPr lang="pl-PL" sz="800" dirty="0" err="1"/>
              <a:t>bfs_queue</a:t>
            </a:r>
            <a:r>
              <a:rPr lang="pl-PL" sz="800" dirty="0"/>
              <a:t> ← pusta kolejka</a:t>
            </a:r>
          </a:p>
          <a:p>
            <a:pPr algn="ctr"/>
            <a:r>
              <a:rPr lang="pl-PL" sz="800" dirty="0"/>
              <a:t>Zakolejkuj parę (</a:t>
            </a:r>
            <a:r>
              <a:rPr lang="pl-PL" sz="800" dirty="0" err="1"/>
              <a:t>root</a:t>
            </a:r>
            <a:r>
              <a:rPr lang="pl-PL" sz="800" dirty="0"/>
              <a:t>, „”) w </a:t>
            </a:r>
            <a:r>
              <a:rPr lang="pl-PL" sz="800" dirty="0" err="1"/>
              <a:t>bfs_queue</a:t>
            </a:r>
            <a:endParaRPr lang="pl-PL" sz="800" dirty="0"/>
          </a:p>
          <a:p>
            <a:pPr algn="ctr"/>
            <a:r>
              <a:rPr lang="pl-PL" sz="800" dirty="0" err="1"/>
              <a:t>coding_table</a:t>
            </a:r>
            <a:r>
              <a:rPr lang="pl-PL" sz="800" dirty="0"/>
              <a:t> ← pusty słownik</a:t>
            </a:r>
          </a:p>
        </p:txBody>
      </p:sp>
      <p:sp>
        <p:nvSpPr>
          <p:cNvPr id="26" name="Decision 25">
            <a:extLst>
              <a:ext uri="{FF2B5EF4-FFF2-40B4-BE49-F238E27FC236}">
                <a16:creationId xmlns:a16="http://schemas.microsoft.com/office/drawing/2014/main" id="{9E4C2F9C-1F60-125E-4563-39D5621A75B9}"/>
              </a:ext>
            </a:extLst>
          </p:cNvPr>
          <p:cNvSpPr/>
          <p:nvPr/>
        </p:nvSpPr>
        <p:spPr>
          <a:xfrm>
            <a:off x="11271095" y="4511883"/>
            <a:ext cx="2317730" cy="4627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nie występuje</a:t>
            </a:r>
          </a:p>
        </p:txBody>
      </p:sp>
      <p:sp>
        <p:nvSpPr>
          <p:cNvPr id="29" name="Decision 28">
            <a:extLst>
              <a:ext uri="{FF2B5EF4-FFF2-40B4-BE49-F238E27FC236}">
                <a16:creationId xmlns:a16="http://schemas.microsoft.com/office/drawing/2014/main" id="{CADECA56-47DB-8A1A-DA3A-D57B4752BB9D}"/>
              </a:ext>
            </a:extLst>
          </p:cNvPr>
          <p:cNvSpPr/>
          <p:nvPr/>
        </p:nvSpPr>
        <p:spPr>
          <a:xfrm>
            <a:off x="5077735" y="10342630"/>
            <a:ext cx="2756023" cy="37154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długość(</a:t>
            </a:r>
            <a:r>
              <a:rPr lang="pl-PL" sz="800" dirty="0" err="1"/>
              <a:t>bfs_queue</a:t>
            </a:r>
            <a:r>
              <a:rPr lang="pl-PL" sz="800" dirty="0"/>
              <a:t>) &gt; 0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DEF9C91C-EABF-0F6C-B01B-7B82791841A3}"/>
              </a:ext>
            </a:extLst>
          </p:cNvPr>
          <p:cNvSpPr/>
          <p:nvPr/>
        </p:nvSpPr>
        <p:spPr>
          <a:xfrm>
            <a:off x="8271363" y="10879323"/>
            <a:ext cx="2415430" cy="44835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pair</a:t>
            </a:r>
            <a:r>
              <a:rPr lang="pl-PL" sz="800" dirty="0"/>
              <a:t> ← Zdejmij element z kolejki </a:t>
            </a:r>
            <a:r>
              <a:rPr lang="pl-PL" sz="800" dirty="0" err="1"/>
              <a:t>bfs_queue</a:t>
            </a:r>
            <a:endParaRPr lang="pl-PL" sz="800" dirty="0"/>
          </a:p>
          <a:p>
            <a:pPr algn="ctr"/>
            <a:r>
              <a:rPr lang="pl-PL" sz="800" dirty="0" err="1"/>
              <a:t>node</a:t>
            </a:r>
            <a:r>
              <a:rPr lang="pl-PL" sz="800" dirty="0"/>
              <a:t> ← </a:t>
            </a:r>
            <a:r>
              <a:rPr lang="pl-PL" sz="800" dirty="0" err="1"/>
              <a:t>pair</a:t>
            </a:r>
            <a:r>
              <a:rPr lang="pl-PL" sz="800" dirty="0"/>
              <a:t>[0]</a:t>
            </a:r>
          </a:p>
          <a:p>
            <a:pPr algn="ctr"/>
            <a:r>
              <a:rPr lang="pl-PL" sz="800" dirty="0" err="1"/>
              <a:t>code</a:t>
            </a:r>
            <a:r>
              <a:rPr lang="pl-PL" sz="800" dirty="0"/>
              <a:t> ← </a:t>
            </a:r>
            <a:r>
              <a:rPr lang="pl-PL" sz="800" dirty="0" err="1"/>
              <a:t>pair</a:t>
            </a:r>
            <a:r>
              <a:rPr lang="pl-PL" sz="800" dirty="0"/>
              <a:t>[1]</a:t>
            </a:r>
          </a:p>
        </p:txBody>
      </p:sp>
      <p:sp>
        <p:nvSpPr>
          <p:cNvPr id="33" name="Decision 32">
            <a:extLst>
              <a:ext uri="{FF2B5EF4-FFF2-40B4-BE49-F238E27FC236}">
                <a16:creationId xmlns:a16="http://schemas.microsoft.com/office/drawing/2014/main" id="{02DA2052-566C-AB00-1D52-DC714312C1E9}"/>
              </a:ext>
            </a:extLst>
          </p:cNvPr>
          <p:cNvSpPr/>
          <p:nvPr/>
        </p:nvSpPr>
        <p:spPr>
          <a:xfrm>
            <a:off x="8491958" y="11492808"/>
            <a:ext cx="1974240" cy="32373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node</a:t>
            </a:r>
            <a:r>
              <a:rPr lang="pl-PL" sz="800" dirty="0"/>
              <a:t>[1] &lt;&gt; brak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C066AD78-8610-1158-F1E9-7E9A43181FB3}"/>
              </a:ext>
            </a:extLst>
          </p:cNvPr>
          <p:cNvSpPr/>
          <p:nvPr/>
        </p:nvSpPr>
        <p:spPr>
          <a:xfrm>
            <a:off x="10504409" y="11981678"/>
            <a:ext cx="2675243" cy="2526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Zakolejkuj parę (</a:t>
            </a:r>
            <a:r>
              <a:rPr lang="pl-PL" sz="800" dirty="0" err="1"/>
              <a:t>node</a:t>
            </a:r>
            <a:r>
              <a:rPr lang="pl-PL" sz="800" dirty="0"/>
              <a:t>[1], </a:t>
            </a:r>
            <a:r>
              <a:rPr lang="pl-PL" sz="800" dirty="0" err="1"/>
              <a:t>code</a:t>
            </a:r>
            <a:r>
              <a:rPr lang="pl-PL" sz="800" dirty="0"/>
              <a:t> + „0”) w </a:t>
            </a:r>
            <a:r>
              <a:rPr lang="pl-PL" sz="800" dirty="0" err="1"/>
              <a:t>bfs_queue</a:t>
            </a:r>
            <a:endParaRPr lang="pl-PL" sz="800" dirty="0"/>
          </a:p>
        </p:txBody>
      </p:sp>
      <p:sp>
        <p:nvSpPr>
          <p:cNvPr id="39" name="Decision 38">
            <a:extLst>
              <a:ext uri="{FF2B5EF4-FFF2-40B4-BE49-F238E27FC236}">
                <a16:creationId xmlns:a16="http://schemas.microsoft.com/office/drawing/2014/main" id="{13EAF8B1-57F8-750F-CFE3-D9D11CE9E5CC}"/>
              </a:ext>
            </a:extLst>
          </p:cNvPr>
          <p:cNvSpPr/>
          <p:nvPr/>
        </p:nvSpPr>
        <p:spPr>
          <a:xfrm>
            <a:off x="8491958" y="12399490"/>
            <a:ext cx="1974240" cy="32373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node</a:t>
            </a:r>
            <a:r>
              <a:rPr lang="pl-PL" sz="800" dirty="0"/>
              <a:t>[2] &lt;&gt; brak</a:t>
            </a:r>
          </a:p>
        </p:txBody>
      </p:sp>
      <p:sp>
        <p:nvSpPr>
          <p:cNvPr id="40" name="Process 39">
            <a:extLst>
              <a:ext uri="{FF2B5EF4-FFF2-40B4-BE49-F238E27FC236}">
                <a16:creationId xmlns:a16="http://schemas.microsoft.com/office/drawing/2014/main" id="{4B4E05B5-AFA1-7373-3F28-CDA7448A44BF}"/>
              </a:ext>
            </a:extLst>
          </p:cNvPr>
          <p:cNvSpPr/>
          <p:nvPr/>
        </p:nvSpPr>
        <p:spPr>
          <a:xfrm>
            <a:off x="10504409" y="12888360"/>
            <a:ext cx="2675243" cy="2526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Zakolejkuj parę (</a:t>
            </a:r>
            <a:r>
              <a:rPr lang="pl-PL" sz="800" dirty="0" err="1"/>
              <a:t>node</a:t>
            </a:r>
            <a:r>
              <a:rPr lang="pl-PL" sz="800" dirty="0"/>
              <a:t>[2], </a:t>
            </a:r>
            <a:r>
              <a:rPr lang="pl-PL" sz="800" dirty="0" err="1"/>
              <a:t>code</a:t>
            </a:r>
            <a:r>
              <a:rPr lang="pl-PL" sz="800" dirty="0"/>
              <a:t> + „1”) w </a:t>
            </a:r>
            <a:r>
              <a:rPr lang="pl-PL" sz="800" dirty="0" err="1"/>
              <a:t>bfs_queue</a:t>
            </a:r>
            <a:endParaRPr lang="pl-PL" sz="800" dirty="0"/>
          </a:p>
        </p:txBody>
      </p:sp>
      <p:sp>
        <p:nvSpPr>
          <p:cNvPr id="41" name="Decision 40">
            <a:extLst>
              <a:ext uri="{FF2B5EF4-FFF2-40B4-BE49-F238E27FC236}">
                <a16:creationId xmlns:a16="http://schemas.microsoft.com/office/drawing/2014/main" id="{955585A3-2345-6F3E-20AD-FE7A4D66C14C}"/>
              </a:ext>
            </a:extLst>
          </p:cNvPr>
          <p:cNvSpPr/>
          <p:nvPr/>
        </p:nvSpPr>
        <p:spPr>
          <a:xfrm>
            <a:off x="8564689" y="13306180"/>
            <a:ext cx="1828803" cy="81974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node</a:t>
            </a:r>
            <a:r>
              <a:rPr lang="pl-PL" sz="800" dirty="0"/>
              <a:t>[1] = brak</a:t>
            </a:r>
          </a:p>
          <a:p>
            <a:pPr algn="ctr"/>
            <a:r>
              <a:rPr lang="pl-PL" sz="800" dirty="0"/>
              <a:t>oraz</a:t>
            </a:r>
          </a:p>
          <a:p>
            <a:pPr algn="ctr"/>
            <a:r>
              <a:rPr lang="pl-PL" sz="800" dirty="0" err="1"/>
              <a:t>node</a:t>
            </a:r>
            <a:r>
              <a:rPr lang="pl-PL" sz="800" dirty="0"/>
              <a:t>[2] = brak</a:t>
            </a:r>
          </a:p>
        </p:txBody>
      </p:sp>
      <p:sp>
        <p:nvSpPr>
          <p:cNvPr id="43" name="Process 42">
            <a:extLst>
              <a:ext uri="{FF2B5EF4-FFF2-40B4-BE49-F238E27FC236}">
                <a16:creationId xmlns:a16="http://schemas.microsoft.com/office/drawing/2014/main" id="{0DC097E5-B6CB-58A0-1BD2-AA6C363B54C1}"/>
              </a:ext>
            </a:extLst>
          </p:cNvPr>
          <p:cNvSpPr/>
          <p:nvPr/>
        </p:nvSpPr>
        <p:spPr>
          <a:xfrm>
            <a:off x="10504406" y="14291055"/>
            <a:ext cx="1828803" cy="2526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coding_table</a:t>
            </a:r>
            <a:r>
              <a:rPr lang="pl-PL" sz="800" dirty="0"/>
              <a:t>[</a:t>
            </a:r>
            <a:r>
              <a:rPr lang="pl-PL" sz="800" dirty="0" err="1"/>
              <a:t>node</a:t>
            </a:r>
            <a:r>
              <a:rPr lang="pl-PL" sz="800" dirty="0"/>
              <a:t>[0]] ← </a:t>
            </a:r>
            <a:r>
              <a:rPr lang="pl-PL" sz="800" dirty="0" err="1"/>
              <a:t>code</a:t>
            </a:r>
            <a:endParaRPr lang="pl-PL" sz="800" dirty="0"/>
          </a:p>
        </p:txBody>
      </p:sp>
      <p:sp>
        <p:nvSpPr>
          <p:cNvPr id="45" name="Process 44">
            <a:extLst>
              <a:ext uri="{FF2B5EF4-FFF2-40B4-BE49-F238E27FC236}">
                <a16:creationId xmlns:a16="http://schemas.microsoft.com/office/drawing/2014/main" id="{287DE372-F4B7-3B53-E1B6-B1CF5ECCAB84}"/>
              </a:ext>
            </a:extLst>
          </p:cNvPr>
          <p:cNvSpPr/>
          <p:nvPr/>
        </p:nvSpPr>
        <p:spPr>
          <a:xfrm>
            <a:off x="3238418" y="14708868"/>
            <a:ext cx="1388650" cy="37154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encoded_message</a:t>
            </a:r>
            <a:r>
              <a:rPr lang="pl-PL" sz="800" dirty="0"/>
              <a:t> ← „”</a:t>
            </a:r>
          </a:p>
          <a:p>
            <a:pPr algn="ctr"/>
            <a:r>
              <a:rPr lang="pl-PL" sz="800" dirty="0"/>
              <a:t>mi ← 0</a:t>
            </a:r>
          </a:p>
        </p:txBody>
      </p:sp>
      <p:sp>
        <p:nvSpPr>
          <p:cNvPr id="47" name="Decision 46">
            <a:extLst>
              <a:ext uri="{FF2B5EF4-FFF2-40B4-BE49-F238E27FC236}">
                <a16:creationId xmlns:a16="http://schemas.microsoft.com/office/drawing/2014/main" id="{960D824D-9C34-DFA1-230E-EF1DDC688F07}"/>
              </a:ext>
            </a:extLst>
          </p:cNvPr>
          <p:cNvSpPr/>
          <p:nvPr/>
        </p:nvSpPr>
        <p:spPr>
          <a:xfrm>
            <a:off x="3317015" y="15245548"/>
            <a:ext cx="1231455" cy="32373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&lt; m</a:t>
            </a:r>
          </a:p>
        </p:txBody>
      </p:sp>
      <p:sp>
        <p:nvSpPr>
          <p:cNvPr id="48" name="Process 47">
            <a:extLst>
              <a:ext uri="{FF2B5EF4-FFF2-40B4-BE49-F238E27FC236}">
                <a16:creationId xmlns:a16="http://schemas.microsoft.com/office/drawing/2014/main" id="{D05806FE-3739-A635-63FA-3FA12E05DCA2}"/>
              </a:ext>
            </a:extLst>
          </p:cNvPr>
          <p:cNvSpPr/>
          <p:nvPr/>
        </p:nvSpPr>
        <p:spPr>
          <a:xfrm>
            <a:off x="4729889" y="15734422"/>
            <a:ext cx="3259448" cy="47752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</a:t>
            </a:r>
            <a:r>
              <a:rPr lang="pl-PL" sz="800" dirty="0"/>
              <a:t> ← </a:t>
            </a:r>
            <a:r>
              <a:rPr lang="pl-PL" sz="800" dirty="0" err="1"/>
              <a:t>message</a:t>
            </a:r>
            <a:r>
              <a:rPr lang="pl-PL" sz="800" dirty="0"/>
              <a:t>[mi]</a:t>
            </a:r>
          </a:p>
          <a:p>
            <a:pPr algn="ctr"/>
            <a:r>
              <a:rPr lang="pl-PL" sz="800" dirty="0" err="1"/>
              <a:t>encoded_message</a:t>
            </a:r>
            <a:r>
              <a:rPr lang="pl-PL" sz="800" dirty="0"/>
              <a:t> ← </a:t>
            </a:r>
            <a:r>
              <a:rPr lang="pl-PL" sz="800" dirty="0" err="1"/>
              <a:t>encoded_message</a:t>
            </a:r>
            <a:r>
              <a:rPr lang="pl-PL" sz="800" dirty="0"/>
              <a:t> + </a:t>
            </a:r>
            <a:r>
              <a:rPr lang="pl-PL" sz="800" dirty="0" err="1"/>
              <a:t>coding_table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</a:t>
            </a:r>
          </a:p>
          <a:p>
            <a:pPr algn="ctr"/>
            <a:r>
              <a:rPr lang="pl-PL" sz="800" dirty="0"/>
              <a:t>mi ← mi + 1</a:t>
            </a:r>
          </a:p>
        </p:txBody>
      </p:sp>
      <p:sp>
        <p:nvSpPr>
          <p:cNvPr id="49" name="Terminator 48">
            <a:extLst>
              <a:ext uri="{FF2B5EF4-FFF2-40B4-BE49-F238E27FC236}">
                <a16:creationId xmlns:a16="http://schemas.microsoft.com/office/drawing/2014/main" id="{320F95AE-8B64-5944-4B33-9F4155073974}"/>
              </a:ext>
            </a:extLst>
          </p:cNvPr>
          <p:cNvSpPr/>
          <p:nvPr/>
        </p:nvSpPr>
        <p:spPr>
          <a:xfrm>
            <a:off x="2724870" y="16768538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Stop</a:t>
            </a:r>
          </a:p>
        </p:txBody>
      </p:sp>
      <p:sp>
        <p:nvSpPr>
          <p:cNvPr id="50" name="Data 49">
            <a:extLst>
              <a:ext uri="{FF2B5EF4-FFF2-40B4-BE49-F238E27FC236}">
                <a16:creationId xmlns:a16="http://schemas.microsoft.com/office/drawing/2014/main" id="{94B1ADFD-1869-6DD2-0606-666B9086CF18}"/>
              </a:ext>
            </a:extLst>
          </p:cNvPr>
          <p:cNvSpPr/>
          <p:nvPr/>
        </p:nvSpPr>
        <p:spPr>
          <a:xfrm>
            <a:off x="1631741" y="16377083"/>
            <a:ext cx="2872063" cy="22631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Wypisz</a:t>
            </a:r>
            <a:r>
              <a:rPr lang="en-US" sz="800" dirty="0"/>
              <a:t> </a:t>
            </a:r>
            <a:r>
              <a:rPr lang="en-US" sz="800" i="1" dirty="0" err="1"/>
              <a:t>encoded_message</a:t>
            </a:r>
            <a:endParaRPr lang="en-US" sz="800" dirty="0"/>
          </a:p>
        </p:txBody>
      </p:sp>
      <p:sp>
        <p:nvSpPr>
          <p:cNvPr id="51" name="Process 50">
            <a:extLst>
              <a:ext uri="{FF2B5EF4-FFF2-40B4-BE49-F238E27FC236}">
                <a16:creationId xmlns:a16="http://schemas.microsoft.com/office/drawing/2014/main" id="{E1623E60-8627-52A1-15C8-99208E0776E8}"/>
              </a:ext>
            </a:extLst>
          </p:cNvPr>
          <p:cNvSpPr/>
          <p:nvPr/>
        </p:nvSpPr>
        <p:spPr>
          <a:xfrm>
            <a:off x="7755180" y="6060265"/>
            <a:ext cx="2317730" cy="46279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letters</a:t>
            </a:r>
            <a:r>
              <a:rPr lang="pl-PL" sz="800" dirty="0"/>
              <a:t> ← Klucze w słowniku </a:t>
            </a:r>
            <a:r>
              <a:rPr lang="pl-PL" sz="800" dirty="0" err="1"/>
              <a:t>occurrences</a:t>
            </a:r>
            <a:endParaRPr lang="pl-PL" sz="800" dirty="0"/>
          </a:p>
          <a:p>
            <a:pPr algn="ctr"/>
            <a:r>
              <a:rPr lang="pl-PL" sz="800" dirty="0"/>
              <a:t>li ← 0</a:t>
            </a:r>
          </a:p>
          <a:p>
            <a:pPr algn="ctr"/>
            <a:r>
              <a:rPr lang="pl-PL" sz="800" dirty="0"/>
              <a:t>l ← długość(</a:t>
            </a:r>
            <a:r>
              <a:rPr lang="pl-PL" sz="800" dirty="0" err="1"/>
              <a:t>letters</a:t>
            </a:r>
            <a:r>
              <a:rPr lang="pl-PL" sz="800" dirty="0"/>
              <a:t>)</a:t>
            </a:r>
          </a:p>
        </p:txBody>
      </p:sp>
      <p:sp>
        <p:nvSpPr>
          <p:cNvPr id="53" name="Decision 52">
            <a:extLst>
              <a:ext uri="{FF2B5EF4-FFF2-40B4-BE49-F238E27FC236}">
                <a16:creationId xmlns:a16="http://schemas.microsoft.com/office/drawing/2014/main" id="{2AA092EA-3532-4C5E-1CB6-F79BE38A8AA4}"/>
              </a:ext>
            </a:extLst>
          </p:cNvPr>
          <p:cNvSpPr/>
          <p:nvPr/>
        </p:nvSpPr>
        <p:spPr>
          <a:xfrm>
            <a:off x="8394935" y="6688194"/>
            <a:ext cx="1038243" cy="29507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li &lt; l</a:t>
            </a:r>
          </a:p>
        </p:txBody>
      </p:sp>
      <p:sp>
        <p:nvSpPr>
          <p:cNvPr id="54" name="Process 53">
            <a:extLst>
              <a:ext uri="{FF2B5EF4-FFF2-40B4-BE49-F238E27FC236}">
                <a16:creationId xmlns:a16="http://schemas.microsoft.com/office/drawing/2014/main" id="{2C0C2564-B56C-24A0-DA6C-4745B9771A08}"/>
              </a:ext>
            </a:extLst>
          </p:cNvPr>
          <p:cNvSpPr/>
          <p:nvPr/>
        </p:nvSpPr>
        <p:spPr>
          <a:xfrm>
            <a:off x="9726429" y="6957810"/>
            <a:ext cx="3407173" cy="6491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</a:t>
            </a:r>
            <a:r>
              <a:rPr lang="pl-PL" sz="800" dirty="0"/>
              <a:t> ← </a:t>
            </a:r>
            <a:r>
              <a:rPr lang="pl-PL" sz="800" dirty="0" err="1"/>
              <a:t>letters</a:t>
            </a:r>
            <a:r>
              <a:rPr lang="pl-PL" sz="800" dirty="0"/>
              <a:t>[li]</a:t>
            </a:r>
          </a:p>
          <a:p>
            <a:pPr algn="ctr"/>
            <a:r>
              <a:rPr lang="pl-PL" sz="800" dirty="0" err="1"/>
              <a:t>count</a:t>
            </a:r>
            <a:r>
              <a:rPr lang="pl-PL" sz="800" dirty="0"/>
              <a:t> ← </a:t>
            </a:r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</a:t>
            </a:r>
          </a:p>
          <a:p>
            <a:pPr algn="ctr"/>
            <a:r>
              <a:rPr lang="pl-PL" sz="800" dirty="0"/>
              <a:t>Zakolejkuj trójkę (</a:t>
            </a:r>
            <a:r>
              <a:rPr lang="pl-PL" sz="800" dirty="0" err="1"/>
              <a:t>letter</a:t>
            </a:r>
            <a:r>
              <a:rPr lang="pl-PL" sz="800" dirty="0"/>
              <a:t>, brak brak) o wadze –</a:t>
            </a:r>
            <a:r>
              <a:rPr lang="pl-PL" sz="800" dirty="0" err="1"/>
              <a:t>count</a:t>
            </a:r>
            <a:r>
              <a:rPr lang="pl-PL" sz="800" dirty="0"/>
              <a:t> w </a:t>
            </a:r>
            <a:r>
              <a:rPr lang="pl-PL" sz="800" dirty="0" err="1"/>
              <a:t>symbols</a:t>
            </a:r>
            <a:endParaRPr lang="pl-PL" sz="800" dirty="0"/>
          </a:p>
          <a:p>
            <a:pPr algn="ctr"/>
            <a:r>
              <a:rPr lang="pl-PL" sz="800" dirty="0"/>
              <a:t>li ← li + 1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BC18F6C-7C78-25AC-AC85-1DC63FB87B6E}"/>
              </a:ext>
            </a:extLst>
          </p:cNvPr>
          <p:cNvCxnSpPr>
            <a:cxnSpLocks/>
          </p:cNvCxnSpPr>
          <p:nvPr/>
        </p:nvCxnSpPr>
        <p:spPr>
          <a:xfrm>
            <a:off x="9914005" y="2486940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45EC443-A06B-16C1-AFE4-BA66B97881E4}"/>
              </a:ext>
            </a:extLst>
          </p:cNvPr>
          <p:cNvCxnSpPr>
            <a:cxnSpLocks/>
          </p:cNvCxnSpPr>
          <p:nvPr/>
        </p:nvCxnSpPr>
        <p:spPr>
          <a:xfrm flipH="1">
            <a:off x="9914005" y="2878395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F5A1D49-1075-AED5-09C7-6A39C9A7E139}"/>
              </a:ext>
            </a:extLst>
          </p:cNvPr>
          <p:cNvCxnSpPr>
            <a:cxnSpLocks/>
          </p:cNvCxnSpPr>
          <p:nvPr/>
        </p:nvCxnSpPr>
        <p:spPr>
          <a:xfrm>
            <a:off x="9907240" y="3464853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8A20A31A-B503-8928-F729-F998E38C6C9F}"/>
              </a:ext>
            </a:extLst>
          </p:cNvPr>
          <p:cNvCxnSpPr>
            <a:stCxn id="11" idx="3"/>
            <a:endCxn id="18" idx="0"/>
          </p:cNvCxnSpPr>
          <p:nvPr/>
        </p:nvCxnSpPr>
        <p:spPr>
          <a:xfrm>
            <a:off x="10449413" y="3792640"/>
            <a:ext cx="1980545" cy="3277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7C331B7-1099-7E15-20CA-CEA6D3F9CF83}"/>
              </a:ext>
            </a:extLst>
          </p:cNvPr>
          <p:cNvCxnSpPr>
            <a:stCxn id="18" idx="2"/>
            <a:endCxn id="26" idx="0"/>
          </p:cNvCxnSpPr>
          <p:nvPr/>
        </p:nvCxnSpPr>
        <p:spPr>
          <a:xfrm>
            <a:off x="12429960" y="4346745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AE6F0FB1-BB36-5316-3CD9-3908ECD0F3F3}"/>
              </a:ext>
            </a:extLst>
          </p:cNvPr>
          <p:cNvCxnSpPr>
            <a:stCxn id="26" idx="3"/>
            <a:endCxn id="17" idx="0"/>
          </p:cNvCxnSpPr>
          <p:nvPr/>
        </p:nvCxnSpPr>
        <p:spPr>
          <a:xfrm>
            <a:off x="13588835" y="4743281"/>
            <a:ext cx="859703" cy="396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CC787BEE-35E9-5300-E530-7C3658CF162B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rot="5400000">
            <a:off x="13356673" y="4508186"/>
            <a:ext cx="165140" cy="20185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9C73DB27-F341-41DB-464C-DAA9E6EBBCBD}"/>
              </a:ext>
            </a:extLst>
          </p:cNvPr>
          <p:cNvCxnSpPr>
            <a:stCxn id="26" idx="1"/>
            <a:endCxn id="19" idx="0"/>
          </p:cNvCxnSpPr>
          <p:nvPr/>
        </p:nvCxnSpPr>
        <p:spPr>
          <a:xfrm rot="10800000" flipH="1" flipV="1">
            <a:off x="11271099" y="4743289"/>
            <a:ext cx="1158865" cy="856755"/>
          </a:xfrm>
          <a:prstGeom prst="bentConnector4">
            <a:avLst>
              <a:gd name="adj1" fmla="val -19726"/>
              <a:gd name="adj2" fmla="val 635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92705FC7-514C-B664-7D33-1183BBC23D69}"/>
              </a:ext>
            </a:extLst>
          </p:cNvPr>
          <p:cNvCxnSpPr>
            <a:stCxn id="19" idx="2"/>
            <a:endCxn id="11" idx="0"/>
          </p:cNvCxnSpPr>
          <p:nvPr/>
        </p:nvCxnSpPr>
        <p:spPr>
          <a:xfrm rot="5400000" flipH="1">
            <a:off x="10039424" y="3504575"/>
            <a:ext cx="2265123" cy="2515955"/>
          </a:xfrm>
          <a:prstGeom prst="bentConnector5">
            <a:avLst>
              <a:gd name="adj1" fmla="val -10092"/>
              <a:gd name="adj2" fmla="val -122292"/>
              <a:gd name="adj3" fmla="val 1052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1FA9416-E03D-FA6E-2EDA-38D8F1B66B67}"/>
              </a:ext>
            </a:extLst>
          </p:cNvPr>
          <p:cNvCxnSpPr>
            <a:stCxn id="51" idx="2"/>
            <a:endCxn id="53" idx="0"/>
          </p:cNvCxnSpPr>
          <p:nvPr/>
        </p:nvCxnSpPr>
        <p:spPr>
          <a:xfrm>
            <a:off x="8914045" y="6523050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0424930-FF85-7BD3-5D16-C4F797D7294C}"/>
              </a:ext>
            </a:extLst>
          </p:cNvPr>
          <p:cNvCxnSpPr>
            <a:stCxn id="53" idx="3"/>
            <a:endCxn id="54" idx="0"/>
          </p:cNvCxnSpPr>
          <p:nvPr/>
        </p:nvCxnSpPr>
        <p:spPr>
          <a:xfrm>
            <a:off x="9433177" y="6835728"/>
            <a:ext cx="1996833" cy="1220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F12BB88A-16E8-E239-A800-F67837665A30}"/>
              </a:ext>
            </a:extLst>
          </p:cNvPr>
          <p:cNvCxnSpPr>
            <a:stCxn id="54" idx="2"/>
            <a:endCxn id="53" idx="0"/>
          </p:cNvCxnSpPr>
          <p:nvPr/>
        </p:nvCxnSpPr>
        <p:spPr>
          <a:xfrm rot="5400000" flipH="1">
            <a:off x="9712623" y="5889619"/>
            <a:ext cx="918800" cy="2515955"/>
          </a:xfrm>
          <a:prstGeom prst="bentConnector5">
            <a:avLst>
              <a:gd name="adj1" fmla="val -11948"/>
              <a:gd name="adj2" fmla="val -73891"/>
              <a:gd name="adj3" fmla="val 1125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8E60B90D-72F8-5F47-F05E-140A43033E41}"/>
              </a:ext>
            </a:extLst>
          </p:cNvPr>
          <p:cNvCxnSpPr>
            <a:stCxn id="16" idx="3"/>
            <a:endCxn id="23" idx="0"/>
          </p:cNvCxnSpPr>
          <p:nvPr/>
        </p:nvCxnSpPr>
        <p:spPr>
          <a:xfrm>
            <a:off x="9433178" y="8148500"/>
            <a:ext cx="1225085" cy="3509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CB4B7137-7157-F0E6-3D20-A48AE4CEF836}"/>
              </a:ext>
            </a:extLst>
          </p:cNvPr>
          <p:cNvCxnSpPr>
            <a:stCxn id="53" idx="1"/>
            <a:endCxn id="16" idx="0"/>
          </p:cNvCxnSpPr>
          <p:nvPr/>
        </p:nvCxnSpPr>
        <p:spPr>
          <a:xfrm rot="10800000" flipV="1">
            <a:off x="8142301" y="6835728"/>
            <a:ext cx="252628" cy="11270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2E7D447-DFEF-5C9F-4B28-43B6D90A376B}"/>
              </a:ext>
            </a:extLst>
          </p:cNvPr>
          <p:cNvCxnSpPr>
            <a:stCxn id="23" idx="2"/>
            <a:endCxn id="16" idx="0"/>
          </p:cNvCxnSpPr>
          <p:nvPr/>
        </p:nvCxnSpPr>
        <p:spPr>
          <a:xfrm rot="5400000" flipH="1">
            <a:off x="8699978" y="7405070"/>
            <a:ext cx="1400615" cy="2515955"/>
          </a:xfrm>
          <a:prstGeom prst="bentConnector5">
            <a:avLst>
              <a:gd name="adj1" fmla="val -16321"/>
              <a:gd name="adj2" fmla="val -104282"/>
              <a:gd name="adj3" fmla="val 1089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3CA9ADF4-CB7C-7545-5CF4-9342E8A8BEFF}"/>
              </a:ext>
            </a:extLst>
          </p:cNvPr>
          <p:cNvCxnSpPr>
            <a:stCxn id="16" idx="1"/>
            <a:endCxn id="25" idx="0"/>
          </p:cNvCxnSpPr>
          <p:nvPr/>
        </p:nvCxnSpPr>
        <p:spPr>
          <a:xfrm rot="10800000" flipV="1">
            <a:off x="6455740" y="8148502"/>
            <a:ext cx="395690" cy="13799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021E749-0875-D239-E3B4-7AB388F9CC5E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>
            <a:off x="6455738" y="10177490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CA14306D-62C8-ADAF-B468-7BE1051CA98E}"/>
              </a:ext>
            </a:extLst>
          </p:cNvPr>
          <p:cNvCxnSpPr>
            <a:stCxn id="29" idx="3"/>
            <a:endCxn id="31" idx="0"/>
          </p:cNvCxnSpPr>
          <p:nvPr/>
        </p:nvCxnSpPr>
        <p:spPr>
          <a:xfrm>
            <a:off x="7833754" y="10528400"/>
            <a:ext cx="1645328" cy="3509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28A94C9-E72F-3F33-4D8B-BCEB6DE244D5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9479078" y="11327668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>
            <a:extLst>
              <a:ext uri="{FF2B5EF4-FFF2-40B4-BE49-F238E27FC236}">
                <a16:creationId xmlns:a16="http://schemas.microsoft.com/office/drawing/2014/main" id="{3AE44A22-2864-AABF-1E96-5B8F8CDBD336}"/>
              </a:ext>
            </a:extLst>
          </p:cNvPr>
          <p:cNvCxnSpPr>
            <a:stCxn id="33" idx="3"/>
            <a:endCxn id="35" idx="0"/>
          </p:cNvCxnSpPr>
          <p:nvPr/>
        </p:nvCxnSpPr>
        <p:spPr>
          <a:xfrm>
            <a:off x="10466198" y="11654683"/>
            <a:ext cx="1375820" cy="3270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8F0CCADE-C4F5-7D44-2FBC-D932E05F8409}"/>
              </a:ext>
            </a:extLst>
          </p:cNvPr>
          <p:cNvCxnSpPr>
            <a:stCxn id="39" idx="3"/>
            <a:endCxn id="40" idx="0"/>
          </p:cNvCxnSpPr>
          <p:nvPr/>
        </p:nvCxnSpPr>
        <p:spPr>
          <a:xfrm>
            <a:off x="10466201" y="12561365"/>
            <a:ext cx="1375818" cy="3270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EAF31363-4F96-A408-9269-6DB30AF15E35}"/>
              </a:ext>
            </a:extLst>
          </p:cNvPr>
          <p:cNvCxnSpPr>
            <a:stCxn id="41" idx="3"/>
            <a:endCxn id="43" idx="0"/>
          </p:cNvCxnSpPr>
          <p:nvPr/>
        </p:nvCxnSpPr>
        <p:spPr>
          <a:xfrm>
            <a:off x="10393488" y="13716059"/>
            <a:ext cx="1025315" cy="5750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37E524C9-3773-13C9-202E-50E1178A3D51}"/>
              </a:ext>
            </a:extLst>
          </p:cNvPr>
          <p:cNvCxnSpPr>
            <a:stCxn id="39" idx="1"/>
            <a:endCxn id="41" idx="0"/>
          </p:cNvCxnSpPr>
          <p:nvPr/>
        </p:nvCxnSpPr>
        <p:spPr>
          <a:xfrm rot="10800000" flipH="1" flipV="1">
            <a:off x="8491958" y="12561365"/>
            <a:ext cx="987120" cy="744815"/>
          </a:xfrm>
          <a:prstGeom prst="bentConnector4">
            <a:avLst>
              <a:gd name="adj1" fmla="val -23158"/>
              <a:gd name="adj2" fmla="val 608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6FE9D97F-B75A-F61B-E6BC-A78A2E6FB2E6}"/>
              </a:ext>
            </a:extLst>
          </p:cNvPr>
          <p:cNvCxnSpPr>
            <a:stCxn id="33" idx="1"/>
            <a:endCxn id="39" idx="0"/>
          </p:cNvCxnSpPr>
          <p:nvPr/>
        </p:nvCxnSpPr>
        <p:spPr>
          <a:xfrm rot="10800000" flipH="1" flipV="1">
            <a:off x="8491958" y="11654683"/>
            <a:ext cx="987120" cy="744815"/>
          </a:xfrm>
          <a:prstGeom prst="bentConnector4">
            <a:avLst>
              <a:gd name="adj1" fmla="val -23158"/>
              <a:gd name="adj2" fmla="val 608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8AE4056E-B4F0-F006-CFC6-0E8FFA366336}"/>
              </a:ext>
            </a:extLst>
          </p:cNvPr>
          <p:cNvCxnSpPr>
            <a:cxnSpLocks/>
            <a:stCxn id="11" idx="1"/>
            <a:endCxn id="51" idx="0"/>
          </p:cNvCxnSpPr>
          <p:nvPr/>
        </p:nvCxnSpPr>
        <p:spPr>
          <a:xfrm rot="10800000" flipV="1">
            <a:off x="8914051" y="3792640"/>
            <a:ext cx="464548" cy="22676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CBA0A245-475C-A57C-2CCE-E1D8E917AE30}"/>
              </a:ext>
            </a:extLst>
          </p:cNvPr>
          <p:cNvCxnSpPr>
            <a:stCxn id="35" idx="2"/>
            <a:endCxn id="39" idx="0"/>
          </p:cNvCxnSpPr>
          <p:nvPr/>
        </p:nvCxnSpPr>
        <p:spPr>
          <a:xfrm rot="5400000">
            <a:off x="10577978" y="11135450"/>
            <a:ext cx="165140" cy="23629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3BB22288-5681-A3DC-89C3-78A6903FF019}"/>
              </a:ext>
            </a:extLst>
          </p:cNvPr>
          <p:cNvCxnSpPr>
            <a:stCxn id="40" idx="2"/>
            <a:endCxn id="41" idx="0"/>
          </p:cNvCxnSpPr>
          <p:nvPr/>
        </p:nvCxnSpPr>
        <p:spPr>
          <a:xfrm rot="5400000">
            <a:off x="10577978" y="12042134"/>
            <a:ext cx="165140" cy="236293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D2759095-B212-5153-0563-B868E6B38E79}"/>
              </a:ext>
            </a:extLst>
          </p:cNvPr>
          <p:cNvCxnSpPr>
            <a:stCxn id="43" idx="2"/>
            <a:endCxn id="29" idx="0"/>
          </p:cNvCxnSpPr>
          <p:nvPr/>
        </p:nvCxnSpPr>
        <p:spPr>
          <a:xfrm rot="5400000" flipH="1">
            <a:off x="6836722" y="9961657"/>
            <a:ext cx="4201095" cy="4963055"/>
          </a:xfrm>
          <a:prstGeom prst="bentConnector5">
            <a:avLst>
              <a:gd name="adj1" fmla="val -1964"/>
              <a:gd name="adj2" fmla="val -42825"/>
              <a:gd name="adj3" fmla="val 1022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E8200AB5-97C0-3FE1-228B-42422F7E3118}"/>
              </a:ext>
            </a:extLst>
          </p:cNvPr>
          <p:cNvCxnSpPr>
            <a:cxnSpLocks/>
            <a:stCxn id="41" idx="1"/>
          </p:cNvCxnSpPr>
          <p:nvPr/>
        </p:nvCxnSpPr>
        <p:spPr>
          <a:xfrm rot="10800000" flipH="1" flipV="1">
            <a:off x="8564689" y="13716053"/>
            <a:ext cx="4480456" cy="910552"/>
          </a:xfrm>
          <a:prstGeom prst="bentConnector3">
            <a:avLst>
              <a:gd name="adj1" fmla="val -510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67CA1FD5-EDE1-6D6B-1C25-798DAEE7FC18}"/>
              </a:ext>
            </a:extLst>
          </p:cNvPr>
          <p:cNvCxnSpPr>
            <a:stCxn id="29" idx="1"/>
            <a:endCxn id="45" idx="0"/>
          </p:cNvCxnSpPr>
          <p:nvPr/>
        </p:nvCxnSpPr>
        <p:spPr>
          <a:xfrm rot="10800000" flipV="1">
            <a:off x="3932743" y="10528403"/>
            <a:ext cx="1144985" cy="41804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EE13D460-53EF-DC8C-80CD-9A714630C774}"/>
              </a:ext>
            </a:extLst>
          </p:cNvPr>
          <p:cNvCxnSpPr>
            <a:stCxn id="47" idx="3"/>
            <a:endCxn id="48" idx="0"/>
          </p:cNvCxnSpPr>
          <p:nvPr/>
        </p:nvCxnSpPr>
        <p:spPr>
          <a:xfrm>
            <a:off x="4548470" y="15407413"/>
            <a:ext cx="1811140" cy="3270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>
            <a:extLst>
              <a:ext uri="{FF2B5EF4-FFF2-40B4-BE49-F238E27FC236}">
                <a16:creationId xmlns:a16="http://schemas.microsoft.com/office/drawing/2014/main" id="{87D5C911-4C66-9C47-EF21-16C269FE0427}"/>
              </a:ext>
            </a:extLst>
          </p:cNvPr>
          <p:cNvCxnSpPr>
            <a:stCxn id="48" idx="2"/>
            <a:endCxn id="47" idx="0"/>
          </p:cNvCxnSpPr>
          <p:nvPr/>
        </p:nvCxnSpPr>
        <p:spPr>
          <a:xfrm rot="5400000" flipH="1">
            <a:off x="4662982" y="14515317"/>
            <a:ext cx="966395" cy="2426865"/>
          </a:xfrm>
          <a:prstGeom prst="bentConnector5">
            <a:avLst>
              <a:gd name="adj1" fmla="val -14449"/>
              <a:gd name="adj2" fmla="val -75138"/>
              <a:gd name="adj3" fmla="val 1108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649697-8576-730F-8556-DAEC140CED94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>
            <a:off x="3932743" y="15080408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3EDF24FE-2E97-776B-46E9-06F98209031B}"/>
              </a:ext>
            </a:extLst>
          </p:cNvPr>
          <p:cNvCxnSpPr>
            <a:stCxn id="47" idx="1"/>
            <a:endCxn id="50" idx="1"/>
          </p:cNvCxnSpPr>
          <p:nvPr/>
        </p:nvCxnSpPr>
        <p:spPr>
          <a:xfrm rot="10800000" flipV="1">
            <a:off x="3067773" y="15407413"/>
            <a:ext cx="249245" cy="9696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67F3233-0CB9-773C-B3FE-E73BC234F4DF}"/>
              </a:ext>
            </a:extLst>
          </p:cNvPr>
          <p:cNvCxnSpPr>
            <a:stCxn id="50" idx="4"/>
            <a:endCxn id="49" idx="0"/>
          </p:cNvCxnSpPr>
          <p:nvPr/>
        </p:nvCxnSpPr>
        <p:spPr>
          <a:xfrm flipH="1">
            <a:off x="3067770" y="16603398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B60D1B-34EC-F180-049F-8DB0B8A4B305}"/>
              </a:ext>
            </a:extLst>
          </p:cNvPr>
          <p:cNvSpPr txBox="1"/>
          <p:nvPr/>
        </p:nvSpPr>
        <p:spPr>
          <a:xfrm>
            <a:off x="10426431" y="352563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E6FA2-3097-87E7-45F8-6898B78FC6B8}"/>
              </a:ext>
            </a:extLst>
          </p:cNvPr>
          <p:cNvSpPr txBox="1"/>
          <p:nvPr/>
        </p:nvSpPr>
        <p:spPr>
          <a:xfrm>
            <a:off x="9057602" y="351455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073317-69C3-9C84-3A5C-7ED6FE4FBAC7}"/>
              </a:ext>
            </a:extLst>
          </p:cNvPr>
          <p:cNvSpPr txBox="1"/>
          <p:nvPr/>
        </p:nvSpPr>
        <p:spPr>
          <a:xfrm>
            <a:off x="13552016" y="447328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B4855-BDDA-B3E1-105C-9D528C6EA942}"/>
              </a:ext>
            </a:extLst>
          </p:cNvPr>
          <p:cNvSpPr txBox="1"/>
          <p:nvPr/>
        </p:nvSpPr>
        <p:spPr>
          <a:xfrm>
            <a:off x="10952904" y="4462206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246D25-A691-9FCD-27A9-65B35955C8FD}"/>
              </a:ext>
            </a:extLst>
          </p:cNvPr>
          <p:cNvSpPr txBox="1"/>
          <p:nvPr/>
        </p:nvSpPr>
        <p:spPr>
          <a:xfrm>
            <a:off x="8076700" y="656255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E794C8-2DF6-96C2-0246-E77B688096D4}"/>
              </a:ext>
            </a:extLst>
          </p:cNvPr>
          <p:cNvSpPr txBox="1"/>
          <p:nvPr/>
        </p:nvSpPr>
        <p:spPr>
          <a:xfrm>
            <a:off x="9401195" y="657918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56928-AB4F-8C8D-713F-8BA573281AA4}"/>
              </a:ext>
            </a:extLst>
          </p:cNvPr>
          <p:cNvSpPr txBox="1"/>
          <p:nvPr/>
        </p:nvSpPr>
        <p:spPr>
          <a:xfrm>
            <a:off x="9329152" y="7864882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8BC6C-83B1-E879-F3C2-22E74F0230AD}"/>
              </a:ext>
            </a:extLst>
          </p:cNvPr>
          <p:cNvSpPr txBox="1"/>
          <p:nvPr/>
        </p:nvSpPr>
        <p:spPr>
          <a:xfrm>
            <a:off x="6491740" y="785934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13053-2491-F3BF-D1AB-5E2202ED38FC}"/>
              </a:ext>
            </a:extLst>
          </p:cNvPr>
          <p:cNvSpPr txBox="1"/>
          <p:nvPr/>
        </p:nvSpPr>
        <p:spPr>
          <a:xfrm>
            <a:off x="7821778" y="1025340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707C3E-D19E-388A-FC91-47E634F9917F}"/>
              </a:ext>
            </a:extLst>
          </p:cNvPr>
          <p:cNvSpPr txBox="1"/>
          <p:nvPr/>
        </p:nvSpPr>
        <p:spPr>
          <a:xfrm>
            <a:off x="4723900" y="1026448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096D36-1395-17E8-2A15-904CF8C0D9BD}"/>
              </a:ext>
            </a:extLst>
          </p:cNvPr>
          <p:cNvSpPr txBox="1"/>
          <p:nvPr/>
        </p:nvSpPr>
        <p:spPr>
          <a:xfrm>
            <a:off x="10437516" y="1138947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BE07FA-ACFE-3817-65AE-D3A745B2B977}"/>
              </a:ext>
            </a:extLst>
          </p:cNvPr>
          <p:cNvSpPr txBox="1"/>
          <p:nvPr/>
        </p:nvSpPr>
        <p:spPr>
          <a:xfrm>
            <a:off x="10426433" y="1230942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EAC252-D1E9-FFD0-7778-0C22160E8CAD}"/>
              </a:ext>
            </a:extLst>
          </p:cNvPr>
          <p:cNvSpPr txBox="1"/>
          <p:nvPr/>
        </p:nvSpPr>
        <p:spPr>
          <a:xfrm>
            <a:off x="10354389" y="13456576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34D8CD-BFD1-020B-0614-A730F8804F30}"/>
              </a:ext>
            </a:extLst>
          </p:cNvPr>
          <p:cNvSpPr txBox="1"/>
          <p:nvPr/>
        </p:nvSpPr>
        <p:spPr>
          <a:xfrm>
            <a:off x="8204162" y="11383936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DD1B48-79AA-17D0-7A8C-302EF490ECAE}"/>
              </a:ext>
            </a:extLst>
          </p:cNvPr>
          <p:cNvSpPr txBox="1"/>
          <p:nvPr/>
        </p:nvSpPr>
        <p:spPr>
          <a:xfrm>
            <a:off x="8181995" y="12298336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615809-5657-2453-97CD-9874F0A96EBD}"/>
              </a:ext>
            </a:extLst>
          </p:cNvPr>
          <p:cNvSpPr txBox="1"/>
          <p:nvPr/>
        </p:nvSpPr>
        <p:spPr>
          <a:xfrm>
            <a:off x="8213364" y="1343986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4448BB-DF75-04A4-CFB2-21BC882BB2D2}"/>
              </a:ext>
            </a:extLst>
          </p:cNvPr>
          <p:cNvSpPr txBox="1"/>
          <p:nvPr/>
        </p:nvSpPr>
        <p:spPr>
          <a:xfrm>
            <a:off x="2981888" y="15119031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06977E-5603-371C-9A15-FB99C063CB89}"/>
              </a:ext>
            </a:extLst>
          </p:cNvPr>
          <p:cNvSpPr txBox="1"/>
          <p:nvPr/>
        </p:nvSpPr>
        <p:spPr>
          <a:xfrm>
            <a:off x="4502229" y="15152372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DF57-2224-63A1-582E-E5337E0E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46EA8E-3207-F882-7EAB-2DAC3EFE6F29}"/>
              </a:ext>
            </a:extLst>
          </p:cNvPr>
          <p:cNvSpPr txBox="1"/>
          <p:nvPr/>
        </p:nvSpPr>
        <p:spPr>
          <a:xfrm>
            <a:off x="541114" y="504220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C5C05-92D7-11E3-F5EC-4E8767C35AED}"/>
              </a:ext>
            </a:extLst>
          </p:cNvPr>
          <p:cNvSpPr txBox="1"/>
          <p:nvPr/>
        </p:nvSpPr>
        <p:spPr>
          <a:xfrm>
            <a:off x="541117" y="844490"/>
            <a:ext cx="570887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Kodowanie </a:t>
            </a:r>
            <a:r>
              <a:rPr lang="pl-PL" sz="2700" dirty="0" err="1"/>
              <a:t>Huffmana</a:t>
            </a:r>
            <a:r>
              <a:rPr lang="pl-PL" sz="2700" dirty="0"/>
              <a:t> – dekodowanie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8ADA02BF-82F7-475B-AD03-7F5E69BD7B39}"/>
              </a:ext>
            </a:extLst>
          </p:cNvPr>
          <p:cNvSpPr/>
          <p:nvPr/>
        </p:nvSpPr>
        <p:spPr>
          <a:xfrm>
            <a:off x="4939730" y="2260625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</a:p>
        </p:txBody>
      </p:sp>
      <p:sp>
        <p:nvSpPr>
          <p:cNvPr id="11" name="Data 10">
            <a:extLst>
              <a:ext uri="{FF2B5EF4-FFF2-40B4-BE49-F238E27FC236}">
                <a16:creationId xmlns:a16="http://schemas.microsoft.com/office/drawing/2014/main" id="{8AA452C9-BCBD-8795-D1A7-E11DB86E48B8}"/>
              </a:ext>
            </a:extLst>
          </p:cNvPr>
          <p:cNvSpPr/>
          <p:nvPr/>
        </p:nvSpPr>
        <p:spPr>
          <a:xfrm>
            <a:off x="3490154" y="2689494"/>
            <a:ext cx="3584953" cy="30711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Wczytaj</a:t>
            </a:r>
            <a:r>
              <a:rPr lang="en-US" sz="800" dirty="0"/>
              <a:t> </a:t>
            </a:r>
            <a:r>
              <a:rPr lang="en-US" sz="800" dirty="0" err="1"/>
              <a:t>wiadomość</a:t>
            </a:r>
            <a:r>
              <a:rPr lang="en-US" sz="800" dirty="0"/>
              <a:t> </a:t>
            </a:r>
            <a:r>
              <a:rPr lang="en-US" sz="800" i="1" dirty="0" err="1"/>
              <a:t>encoded_message</a:t>
            </a:r>
            <a:r>
              <a:rPr lang="en-US" sz="800" i="1" dirty="0"/>
              <a:t> </a:t>
            </a:r>
            <a:r>
              <a:rPr lang="en-US" sz="800" i="1" dirty="0" err="1"/>
              <a:t>i</a:t>
            </a:r>
            <a:r>
              <a:rPr lang="en-US" sz="800" i="1" dirty="0"/>
              <a:t> </a:t>
            </a:r>
            <a:r>
              <a:rPr lang="en-US" sz="800" i="1" dirty="0" err="1"/>
              <a:t>tablicę</a:t>
            </a:r>
            <a:r>
              <a:rPr lang="en-US" sz="800" i="1" dirty="0"/>
              <a:t> </a:t>
            </a:r>
            <a:r>
              <a:rPr lang="en-US" sz="800" i="1" dirty="0" err="1"/>
              <a:t>kodową</a:t>
            </a:r>
            <a:r>
              <a:rPr lang="en-US" sz="800" i="1" dirty="0"/>
              <a:t> </a:t>
            </a:r>
            <a:r>
              <a:rPr lang="en-US" sz="800" dirty="0" err="1"/>
              <a:t>code_table</a:t>
            </a:r>
            <a:endParaRPr lang="en-US" sz="800" dirty="0"/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54ACD419-6B24-B162-16C0-F9DA75F2E2D8}"/>
              </a:ext>
            </a:extLst>
          </p:cNvPr>
          <p:cNvSpPr/>
          <p:nvPr/>
        </p:nvSpPr>
        <p:spPr>
          <a:xfrm>
            <a:off x="4747221" y="3965278"/>
            <a:ext cx="1070820" cy="3252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&lt; m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E5541414-B506-F740-635D-2FA6AE8F518F}"/>
              </a:ext>
            </a:extLst>
          </p:cNvPr>
          <p:cNvSpPr/>
          <p:nvPr/>
        </p:nvSpPr>
        <p:spPr>
          <a:xfrm>
            <a:off x="4318119" y="3199167"/>
            <a:ext cx="1929023" cy="56355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decoded_message</a:t>
            </a:r>
            <a:r>
              <a:rPr lang="pl-PL" sz="800" dirty="0"/>
              <a:t> ← „”</a:t>
            </a:r>
          </a:p>
          <a:p>
            <a:pPr algn="ctr"/>
            <a:r>
              <a:rPr lang="pl-PL" sz="800" dirty="0" err="1"/>
              <a:t>current_sequence</a:t>
            </a:r>
            <a:r>
              <a:rPr lang="pl-PL" sz="800" dirty="0"/>
              <a:t> ← „”</a:t>
            </a:r>
          </a:p>
          <a:p>
            <a:pPr algn="ctr"/>
            <a:r>
              <a:rPr lang="pl-PL" sz="800" dirty="0"/>
              <a:t>mi ← 0</a:t>
            </a:r>
          </a:p>
          <a:p>
            <a:pPr algn="ctr"/>
            <a:r>
              <a:rPr lang="pl-PL" sz="800" dirty="0"/>
              <a:t>m ← długość(</a:t>
            </a:r>
            <a:r>
              <a:rPr lang="pl-PL" sz="800" dirty="0" err="1"/>
              <a:t>encoded_message</a:t>
            </a:r>
            <a:r>
              <a:rPr lang="pl-PL" sz="800" dirty="0"/>
              <a:t>)</a:t>
            </a:r>
          </a:p>
        </p:txBody>
      </p:sp>
      <p:sp>
        <p:nvSpPr>
          <p:cNvPr id="41" name="Process 40">
            <a:extLst>
              <a:ext uri="{FF2B5EF4-FFF2-40B4-BE49-F238E27FC236}">
                <a16:creationId xmlns:a16="http://schemas.microsoft.com/office/drawing/2014/main" id="{BC5DD329-7F7F-052C-A06C-F2423D510389}"/>
              </a:ext>
            </a:extLst>
          </p:cNvPr>
          <p:cNvSpPr/>
          <p:nvPr/>
        </p:nvSpPr>
        <p:spPr>
          <a:xfrm>
            <a:off x="6257577" y="4493129"/>
            <a:ext cx="3495640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current_sequence</a:t>
            </a:r>
            <a:r>
              <a:rPr lang="pl-PL" sz="800" dirty="0"/>
              <a:t> ← </a:t>
            </a:r>
            <a:r>
              <a:rPr lang="pl-PL" sz="800" dirty="0" err="1"/>
              <a:t>current_sequence</a:t>
            </a:r>
            <a:r>
              <a:rPr lang="pl-PL" sz="800" dirty="0"/>
              <a:t> + </a:t>
            </a:r>
            <a:r>
              <a:rPr lang="pl-PL" sz="800" dirty="0" err="1"/>
              <a:t>encoded_message</a:t>
            </a:r>
            <a:r>
              <a:rPr lang="pl-PL" sz="800" dirty="0"/>
              <a:t>[mi]</a:t>
            </a:r>
          </a:p>
        </p:txBody>
      </p:sp>
      <p:sp>
        <p:nvSpPr>
          <p:cNvPr id="43" name="Decision 42">
            <a:extLst>
              <a:ext uri="{FF2B5EF4-FFF2-40B4-BE49-F238E27FC236}">
                <a16:creationId xmlns:a16="http://schemas.microsoft.com/office/drawing/2014/main" id="{5E33A89F-DA7E-7191-19BA-CE480F037F24}"/>
              </a:ext>
            </a:extLst>
          </p:cNvPr>
          <p:cNvSpPr/>
          <p:nvPr/>
        </p:nvSpPr>
        <p:spPr>
          <a:xfrm>
            <a:off x="6175332" y="4921998"/>
            <a:ext cx="3660130" cy="40515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code_table</a:t>
            </a:r>
            <a:r>
              <a:rPr lang="pl-PL" sz="800" dirty="0"/>
              <a:t>[</a:t>
            </a:r>
            <a:r>
              <a:rPr lang="pl-PL" sz="800" dirty="0" err="1"/>
              <a:t>current_sequence</a:t>
            </a:r>
            <a:r>
              <a:rPr lang="pl-PL" sz="800" dirty="0"/>
              <a:t>] występuje</a:t>
            </a:r>
          </a:p>
        </p:txBody>
      </p:sp>
      <p:sp>
        <p:nvSpPr>
          <p:cNvPr id="44" name="Process 43">
            <a:extLst>
              <a:ext uri="{FF2B5EF4-FFF2-40B4-BE49-F238E27FC236}">
                <a16:creationId xmlns:a16="http://schemas.microsoft.com/office/drawing/2014/main" id="{914ABE86-CD1D-C946-3B57-E4B037EA570E}"/>
              </a:ext>
            </a:extLst>
          </p:cNvPr>
          <p:cNvSpPr/>
          <p:nvPr/>
        </p:nvSpPr>
        <p:spPr>
          <a:xfrm>
            <a:off x="8005397" y="5529711"/>
            <a:ext cx="3866540" cy="4051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decoded_message</a:t>
            </a:r>
            <a:r>
              <a:rPr lang="pl-PL" sz="800" dirty="0"/>
              <a:t> ← </a:t>
            </a:r>
            <a:r>
              <a:rPr lang="pl-PL" sz="800" dirty="0" err="1"/>
              <a:t>decoded_message</a:t>
            </a:r>
            <a:r>
              <a:rPr lang="pl-PL" sz="800" dirty="0"/>
              <a:t> + </a:t>
            </a:r>
            <a:r>
              <a:rPr lang="pl-PL" sz="800" dirty="0" err="1"/>
              <a:t>code_table</a:t>
            </a:r>
            <a:r>
              <a:rPr lang="pl-PL" sz="800" dirty="0"/>
              <a:t>[</a:t>
            </a:r>
            <a:r>
              <a:rPr lang="pl-PL" sz="800" dirty="0" err="1"/>
              <a:t>current_sequence</a:t>
            </a:r>
            <a:r>
              <a:rPr lang="pl-PL" sz="800" dirty="0"/>
              <a:t>]</a:t>
            </a:r>
          </a:p>
          <a:p>
            <a:pPr algn="ctr"/>
            <a:r>
              <a:rPr lang="pl-PL" sz="800" dirty="0" err="1"/>
              <a:t>current_sequence</a:t>
            </a:r>
            <a:r>
              <a:rPr lang="pl-PL" sz="800" dirty="0"/>
              <a:t> ← „”</a:t>
            </a:r>
          </a:p>
        </p:txBody>
      </p:sp>
      <p:sp>
        <p:nvSpPr>
          <p:cNvPr id="45" name="Process 44">
            <a:extLst>
              <a:ext uri="{FF2B5EF4-FFF2-40B4-BE49-F238E27FC236}">
                <a16:creationId xmlns:a16="http://schemas.microsoft.com/office/drawing/2014/main" id="{2F93E09E-123E-CAF4-C654-FDF9742BE051}"/>
              </a:ext>
            </a:extLst>
          </p:cNvPr>
          <p:cNvSpPr/>
          <p:nvPr/>
        </p:nvSpPr>
        <p:spPr>
          <a:xfrm>
            <a:off x="5533341" y="6137424"/>
            <a:ext cx="925113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← mi + 1</a:t>
            </a:r>
          </a:p>
        </p:txBody>
      </p:sp>
      <p:sp>
        <p:nvSpPr>
          <p:cNvPr id="46" name="Data 45">
            <a:extLst>
              <a:ext uri="{FF2B5EF4-FFF2-40B4-BE49-F238E27FC236}">
                <a16:creationId xmlns:a16="http://schemas.microsoft.com/office/drawing/2014/main" id="{8B8E1CD1-539A-46EC-08AF-8BBAAEE4FA68}"/>
              </a:ext>
            </a:extLst>
          </p:cNvPr>
          <p:cNvSpPr/>
          <p:nvPr/>
        </p:nvSpPr>
        <p:spPr>
          <a:xfrm>
            <a:off x="2020679" y="4493129"/>
            <a:ext cx="2504905" cy="22631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Wypisz</a:t>
            </a:r>
            <a:r>
              <a:rPr lang="en-US" sz="800" dirty="0"/>
              <a:t> </a:t>
            </a:r>
            <a:r>
              <a:rPr lang="en-US" sz="800" dirty="0" err="1"/>
              <a:t>decoded_message</a:t>
            </a:r>
            <a:endParaRPr lang="en-US" sz="800" dirty="0"/>
          </a:p>
        </p:txBody>
      </p:sp>
      <p:sp>
        <p:nvSpPr>
          <p:cNvPr id="47" name="Terminator 46">
            <a:extLst>
              <a:ext uri="{FF2B5EF4-FFF2-40B4-BE49-F238E27FC236}">
                <a16:creationId xmlns:a16="http://schemas.microsoft.com/office/drawing/2014/main" id="{8017547D-F511-D085-0252-E034A3AFD092}"/>
              </a:ext>
            </a:extLst>
          </p:cNvPr>
          <p:cNvSpPr/>
          <p:nvPr/>
        </p:nvSpPr>
        <p:spPr>
          <a:xfrm>
            <a:off x="2930235" y="4922000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Stop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56F65EE-D97F-E438-4ECD-B9EB4E87BBC2}"/>
              </a:ext>
            </a:extLst>
          </p:cNvPr>
          <p:cNvCxnSpPr>
            <a:stCxn id="8" idx="2"/>
            <a:endCxn id="11" idx="1"/>
          </p:cNvCxnSpPr>
          <p:nvPr/>
        </p:nvCxnSpPr>
        <p:spPr>
          <a:xfrm>
            <a:off x="5282630" y="2486939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9E2E677-CF49-6B0D-90EA-523A9C3532CF}"/>
              </a:ext>
            </a:extLst>
          </p:cNvPr>
          <p:cNvCxnSpPr>
            <a:stCxn id="11" idx="4"/>
            <a:endCxn id="35" idx="0"/>
          </p:cNvCxnSpPr>
          <p:nvPr/>
        </p:nvCxnSpPr>
        <p:spPr>
          <a:xfrm>
            <a:off x="5282630" y="2996612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53E45F8-56AD-7FCC-F404-D10BF3FAA4C1}"/>
              </a:ext>
            </a:extLst>
          </p:cNvPr>
          <p:cNvCxnSpPr>
            <a:stCxn id="35" idx="2"/>
            <a:endCxn id="17" idx="0"/>
          </p:cNvCxnSpPr>
          <p:nvPr/>
        </p:nvCxnSpPr>
        <p:spPr>
          <a:xfrm>
            <a:off x="5282631" y="3762723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E02270D0-539E-7DBA-DDDB-8E27DB4670AF}"/>
              </a:ext>
            </a:extLst>
          </p:cNvPr>
          <p:cNvCxnSpPr>
            <a:endCxn id="41" idx="0"/>
          </p:cNvCxnSpPr>
          <p:nvPr/>
        </p:nvCxnSpPr>
        <p:spPr>
          <a:xfrm>
            <a:off x="5818040" y="4117354"/>
            <a:ext cx="2187358" cy="3757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72F97BA5-B9EC-24BE-2734-BDD036B27A2C}"/>
              </a:ext>
            </a:extLst>
          </p:cNvPr>
          <p:cNvCxnSpPr>
            <a:stCxn id="43" idx="3"/>
            <a:endCxn id="44" idx="0"/>
          </p:cNvCxnSpPr>
          <p:nvPr/>
        </p:nvCxnSpPr>
        <p:spPr>
          <a:xfrm>
            <a:off x="9835463" y="5124577"/>
            <a:ext cx="103205" cy="4051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51B6DB7-28A8-3928-FECF-B20EB68BB236}"/>
              </a:ext>
            </a:extLst>
          </p:cNvPr>
          <p:cNvCxnSpPr>
            <a:stCxn id="41" idx="2"/>
            <a:endCxn id="43" idx="0"/>
          </p:cNvCxnSpPr>
          <p:nvPr/>
        </p:nvCxnSpPr>
        <p:spPr>
          <a:xfrm>
            <a:off x="8005398" y="4719443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4A453A5-D3C0-91BF-8A3E-A979DCB03DEB}"/>
              </a:ext>
            </a:extLst>
          </p:cNvPr>
          <p:cNvCxnSpPr>
            <a:stCxn id="43" idx="1"/>
            <a:endCxn id="45" idx="0"/>
          </p:cNvCxnSpPr>
          <p:nvPr/>
        </p:nvCxnSpPr>
        <p:spPr>
          <a:xfrm rot="10800000" flipV="1">
            <a:off x="5995898" y="5124576"/>
            <a:ext cx="179435" cy="10128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5698C213-5259-9F3E-EB64-539F733D45D8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rot="5400000">
            <a:off x="7866006" y="4064762"/>
            <a:ext cx="202555" cy="39427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879AE146-A473-3B3A-C50A-B378CB8BD18C}"/>
              </a:ext>
            </a:extLst>
          </p:cNvPr>
          <p:cNvCxnSpPr>
            <a:cxnSpLocks/>
            <a:stCxn id="45" idx="2"/>
            <a:endCxn id="17" idx="0"/>
          </p:cNvCxnSpPr>
          <p:nvPr/>
        </p:nvCxnSpPr>
        <p:spPr>
          <a:xfrm rot="5400000" flipH="1">
            <a:off x="4440035" y="4807875"/>
            <a:ext cx="2398460" cy="713268"/>
          </a:xfrm>
          <a:prstGeom prst="bentConnector5">
            <a:avLst>
              <a:gd name="adj1" fmla="val -5271"/>
              <a:gd name="adj2" fmla="val -851422"/>
              <a:gd name="adj3" fmla="val 1050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CBE6B193-6894-D34C-ABA9-07BBEFB3A285}"/>
              </a:ext>
            </a:extLst>
          </p:cNvPr>
          <p:cNvCxnSpPr>
            <a:cxnSpLocks/>
            <a:stCxn id="17" idx="1"/>
            <a:endCxn id="46" idx="1"/>
          </p:cNvCxnSpPr>
          <p:nvPr/>
        </p:nvCxnSpPr>
        <p:spPr>
          <a:xfrm rot="10800000" flipV="1">
            <a:off x="3273133" y="4127925"/>
            <a:ext cx="1474090" cy="3652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E7D466-1BE7-13D0-2CDB-B2F15E793EBD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>
            <a:off x="3273132" y="4719444"/>
            <a:ext cx="3" cy="20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B73500-F8B1-4F89-5B82-17C1D9130EEA}"/>
              </a:ext>
            </a:extLst>
          </p:cNvPr>
          <p:cNvSpPr txBox="1"/>
          <p:nvPr/>
        </p:nvSpPr>
        <p:spPr>
          <a:xfrm>
            <a:off x="5777863" y="382888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8D6353-54DD-1B0D-5C46-CC0A4D780F6D}"/>
              </a:ext>
            </a:extLst>
          </p:cNvPr>
          <p:cNvSpPr txBox="1"/>
          <p:nvPr/>
        </p:nvSpPr>
        <p:spPr>
          <a:xfrm>
            <a:off x="4398348" y="386555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ECA22-1104-CDFE-B642-3BB3D3607FF7}"/>
              </a:ext>
            </a:extLst>
          </p:cNvPr>
          <p:cNvSpPr txBox="1"/>
          <p:nvPr/>
        </p:nvSpPr>
        <p:spPr>
          <a:xfrm>
            <a:off x="9723637" y="484858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9B901-7DF1-3F5B-72E5-E8A2F959275F}"/>
              </a:ext>
            </a:extLst>
          </p:cNvPr>
          <p:cNvSpPr txBox="1"/>
          <p:nvPr/>
        </p:nvSpPr>
        <p:spPr>
          <a:xfrm>
            <a:off x="5894639" y="4852003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353374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465</Words>
  <Application>Microsoft Macintosh PowerPoint</Application>
  <PresentationFormat>Custom</PresentationFormat>
  <Paragraphs>90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6</cp:revision>
  <dcterms:created xsi:type="dcterms:W3CDTF">2025-11-30T19:03:59Z</dcterms:created>
  <dcterms:modified xsi:type="dcterms:W3CDTF">2025-12-08T00:00:43Z</dcterms:modified>
</cp:coreProperties>
</file>