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  <p:sldId id="258" r:id="rId3"/>
  </p:sldIdLst>
  <p:sldSz cx="22860000" cy="2286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93"/>
    <p:restoredTop sz="94673"/>
  </p:normalViewPr>
  <p:slideViewPr>
    <p:cSldViewPr snapToGrid="0">
      <p:cViewPr>
        <p:scale>
          <a:sx n="223" d="100"/>
          <a:sy n="223" d="100"/>
        </p:scale>
        <p:origin x="144" y="-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3741211"/>
            <a:ext cx="19431000" cy="7958668"/>
          </a:xfrm>
        </p:spPr>
        <p:txBody>
          <a:bodyPr anchor="b"/>
          <a:lstStyle>
            <a:lvl1pPr algn="ctr"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12006796"/>
            <a:ext cx="17145000" cy="5519208"/>
          </a:xfrm>
        </p:spPr>
        <p:txBody>
          <a:bodyPr/>
          <a:lstStyle>
            <a:lvl1pPr marL="0" indent="0" algn="ctr">
              <a:buNone/>
              <a:defRPr sz="6000"/>
            </a:lvl1pPr>
            <a:lvl2pPr marL="1143000" indent="0" algn="ctr">
              <a:buNone/>
              <a:defRPr sz="5000"/>
            </a:lvl2pPr>
            <a:lvl3pPr marL="2286000" indent="0" algn="ctr">
              <a:buNone/>
              <a:defRPr sz="4500"/>
            </a:lvl3pPr>
            <a:lvl4pPr marL="3429000" indent="0" algn="ctr">
              <a:buNone/>
              <a:defRPr sz="4000"/>
            </a:lvl4pPr>
            <a:lvl5pPr marL="4572000" indent="0" algn="ctr">
              <a:buNone/>
              <a:defRPr sz="4000"/>
            </a:lvl5pPr>
            <a:lvl6pPr marL="5715000" indent="0" algn="ctr">
              <a:buNone/>
              <a:defRPr sz="4000"/>
            </a:lvl6pPr>
            <a:lvl7pPr marL="6858000" indent="0" algn="ctr">
              <a:buNone/>
              <a:defRPr sz="4000"/>
            </a:lvl7pPr>
            <a:lvl8pPr marL="8001000" indent="0" algn="ctr">
              <a:buNone/>
              <a:defRPr sz="4000"/>
            </a:lvl8pPr>
            <a:lvl9pPr marL="9144000" indent="0" algn="ctr"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723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375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0" y="5699139"/>
            <a:ext cx="19716750" cy="9509123"/>
          </a:xfrm>
        </p:spPr>
        <p:txBody>
          <a:bodyPr anchor="b"/>
          <a:lstStyle>
            <a:lvl1pPr>
              <a:defRPr sz="1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0" y="15298221"/>
            <a:ext cx="19716750" cy="5000623"/>
          </a:xfrm>
        </p:spPr>
        <p:txBody>
          <a:bodyPr/>
          <a:lstStyle>
            <a:lvl1pPr marL="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1pPr>
            <a:lvl2pPr marL="1143000" indent="0">
              <a:buNone/>
              <a:defRPr sz="5000">
                <a:solidFill>
                  <a:schemeClr val="tx1">
                    <a:tint val="82000"/>
                  </a:schemeClr>
                </a:solidFill>
              </a:defRPr>
            </a:lvl2pPr>
            <a:lvl3pPr marL="228600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3pPr>
            <a:lvl4pPr marL="3429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4pPr>
            <a:lvl5pPr marL="4572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5pPr>
            <a:lvl6pPr marL="5715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6pPr>
            <a:lvl7pPr marL="6858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7pPr>
            <a:lvl8pPr marL="8001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8pPr>
            <a:lvl9pPr marL="91440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236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6085418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6085418"/>
            <a:ext cx="9715500" cy="145044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839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2" y="1217088"/>
            <a:ext cx="19716750" cy="44185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5" y="5603884"/>
            <a:ext cx="9670850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5" y="8350250"/>
            <a:ext cx="9670850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89" y="5603884"/>
            <a:ext cx="9718478" cy="2746373"/>
          </a:xfrm>
        </p:spPr>
        <p:txBody>
          <a:bodyPr anchor="b"/>
          <a:lstStyle>
            <a:lvl1pPr marL="0" indent="0">
              <a:buNone/>
              <a:defRPr sz="6000" b="1"/>
            </a:lvl1pPr>
            <a:lvl2pPr marL="1143000" indent="0">
              <a:buNone/>
              <a:defRPr sz="5000" b="1"/>
            </a:lvl2pPr>
            <a:lvl3pPr marL="2286000" indent="0">
              <a:buNone/>
              <a:defRPr sz="4500" b="1"/>
            </a:lvl3pPr>
            <a:lvl4pPr marL="3429000" indent="0">
              <a:buNone/>
              <a:defRPr sz="4000" b="1"/>
            </a:lvl4pPr>
            <a:lvl5pPr marL="4572000" indent="0">
              <a:buNone/>
              <a:defRPr sz="4000" b="1"/>
            </a:lvl5pPr>
            <a:lvl6pPr marL="5715000" indent="0">
              <a:buNone/>
              <a:defRPr sz="4000" b="1"/>
            </a:lvl6pPr>
            <a:lvl7pPr marL="6858000" indent="0">
              <a:buNone/>
              <a:defRPr sz="4000" b="1"/>
            </a:lvl7pPr>
            <a:lvl8pPr marL="8001000" indent="0">
              <a:buNone/>
              <a:defRPr sz="4000" b="1"/>
            </a:lvl8pPr>
            <a:lvl9pPr marL="9144000" indent="0">
              <a:buNone/>
              <a:defRPr sz="4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89" y="8350250"/>
            <a:ext cx="9718478" cy="1228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9266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446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795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3291421"/>
            <a:ext cx="11572875" cy="16245418"/>
          </a:xfrm>
        </p:spPr>
        <p:txBody>
          <a:bodyPr/>
          <a:lstStyle>
            <a:lvl1pPr>
              <a:defRPr sz="8000"/>
            </a:lvl1pPr>
            <a:lvl2pPr>
              <a:defRPr sz="7000"/>
            </a:lvl2pPr>
            <a:lvl3pPr>
              <a:defRPr sz="6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6858003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892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1524000"/>
            <a:ext cx="7372945" cy="533400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3291421"/>
            <a:ext cx="11572875" cy="16245418"/>
          </a:xfrm>
        </p:spPr>
        <p:txBody>
          <a:bodyPr anchor="t"/>
          <a:lstStyle>
            <a:lvl1pPr marL="0" indent="0">
              <a:buNone/>
              <a:defRPr sz="8000"/>
            </a:lvl1pPr>
            <a:lvl2pPr marL="1143000" indent="0">
              <a:buNone/>
              <a:defRPr sz="7000"/>
            </a:lvl2pPr>
            <a:lvl3pPr marL="2286000" indent="0">
              <a:buNone/>
              <a:defRPr sz="6000"/>
            </a:lvl3pPr>
            <a:lvl4pPr marL="3429000" indent="0">
              <a:buNone/>
              <a:defRPr sz="5000"/>
            </a:lvl4pPr>
            <a:lvl5pPr marL="4572000" indent="0">
              <a:buNone/>
              <a:defRPr sz="5000"/>
            </a:lvl5pPr>
            <a:lvl6pPr marL="5715000" indent="0">
              <a:buNone/>
              <a:defRPr sz="5000"/>
            </a:lvl6pPr>
            <a:lvl7pPr marL="6858000" indent="0">
              <a:buNone/>
              <a:defRPr sz="5000"/>
            </a:lvl7pPr>
            <a:lvl8pPr marL="8001000" indent="0">
              <a:buNone/>
              <a:defRPr sz="5000"/>
            </a:lvl8pPr>
            <a:lvl9pPr marL="9144000" indent="0">
              <a:buNone/>
              <a:defRPr sz="5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6858003"/>
            <a:ext cx="7372945" cy="12705293"/>
          </a:xfrm>
        </p:spPr>
        <p:txBody>
          <a:bodyPr/>
          <a:lstStyle>
            <a:lvl1pPr marL="0" indent="0">
              <a:buNone/>
              <a:defRPr sz="4000"/>
            </a:lvl1pPr>
            <a:lvl2pPr marL="1143000" indent="0">
              <a:buNone/>
              <a:defRPr sz="3500"/>
            </a:lvl2pPr>
            <a:lvl3pPr marL="2286000" indent="0">
              <a:buNone/>
              <a:defRPr sz="3000"/>
            </a:lvl3pPr>
            <a:lvl4pPr marL="3429000" indent="0">
              <a:buNone/>
              <a:defRPr sz="2500"/>
            </a:lvl4pPr>
            <a:lvl5pPr marL="4572000" indent="0">
              <a:buNone/>
              <a:defRPr sz="2500"/>
            </a:lvl5pPr>
            <a:lvl6pPr marL="5715000" indent="0">
              <a:buNone/>
              <a:defRPr sz="2500"/>
            </a:lvl6pPr>
            <a:lvl7pPr marL="6858000" indent="0">
              <a:buNone/>
              <a:defRPr sz="2500"/>
            </a:lvl7pPr>
            <a:lvl8pPr marL="8001000" indent="0">
              <a:buNone/>
              <a:defRPr sz="2500"/>
            </a:lvl8pPr>
            <a:lvl9pPr marL="9144000" indent="0">
              <a:buNone/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79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833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3" y="1217083"/>
            <a:ext cx="4929188" cy="19372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33" y="1217083"/>
            <a:ext cx="14501813" cy="1937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589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1217088"/>
            <a:ext cx="19716750" cy="4418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6085418"/>
            <a:ext cx="19716750" cy="14504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21187846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7.12.2025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21187846"/>
            <a:ext cx="771525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21187846"/>
            <a:ext cx="5143500" cy="1217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829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286000" rtl="0" eaLnBrk="1" latinLnBrk="0" hangingPunct="1">
        <a:lnSpc>
          <a:spcPct val="90000"/>
        </a:lnSpc>
        <a:spcBef>
          <a:spcPct val="0"/>
        </a:spcBef>
        <a:buNone/>
        <a:defRPr sz="11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0" indent="-571500" algn="l" defTabSz="2286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70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50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0" indent="-571500" algn="l" defTabSz="2286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0" algn="l" defTabSz="2286000" rtl="0" eaLnBrk="1" latinLnBrk="0" hangingPunct="1">
        <a:defRPr sz="4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541113" y="504221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541119" y="844491"/>
            <a:ext cx="620958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Kodowanie </a:t>
            </a:r>
            <a:r>
              <a:rPr lang="pl-PL" sz="2700" dirty="0" err="1"/>
              <a:t>Shannona-Fano</a:t>
            </a:r>
            <a:r>
              <a:rPr lang="pl-PL" sz="2700" dirty="0"/>
              <a:t> – kodowanie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4907392D-7EC6-4DEE-84AF-487C8A007ABA}"/>
              </a:ext>
            </a:extLst>
          </p:cNvPr>
          <p:cNvSpPr/>
          <p:nvPr/>
        </p:nvSpPr>
        <p:spPr>
          <a:xfrm>
            <a:off x="9425620" y="2817599"/>
            <a:ext cx="685800" cy="2263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5D13F780-078B-93BB-4278-6DE7D2A2DFA4}"/>
              </a:ext>
            </a:extLst>
          </p:cNvPr>
          <p:cNvSpPr/>
          <p:nvPr/>
        </p:nvSpPr>
        <p:spPr>
          <a:xfrm>
            <a:off x="8332493" y="3209054"/>
            <a:ext cx="2872063" cy="22631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Wczytaj</a:t>
            </a:r>
            <a:r>
              <a:rPr lang="en-US" sz="800" dirty="0"/>
              <a:t> </a:t>
            </a:r>
            <a:r>
              <a:rPr lang="en-US" sz="800" dirty="0" err="1"/>
              <a:t>wiadomość</a:t>
            </a:r>
            <a:r>
              <a:rPr lang="en-US" sz="800" dirty="0"/>
              <a:t> </a:t>
            </a:r>
            <a:r>
              <a:rPr lang="en-US" sz="800" i="1" dirty="0"/>
              <a:t>message</a:t>
            </a:r>
            <a:endParaRPr lang="en-US" sz="800" dirty="0"/>
          </a:p>
        </p:txBody>
      </p:sp>
      <p:sp>
        <p:nvSpPr>
          <p:cNvPr id="8" name="Process 7">
            <a:extLst>
              <a:ext uri="{FF2B5EF4-FFF2-40B4-BE49-F238E27FC236}">
                <a16:creationId xmlns:a16="http://schemas.microsoft.com/office/drawing/2014/main" id="{F0C291A3-8A55-71A7-E032-B1713FC3A384}"/>
              </a:ext>
            </a:extLst>
          </p:cNvPr>
          <p:cNvSpPr/>
          <p:nvPr/>
        </p:nvSpPr>
        <p:spPr>
          <a:xfrm>
            <a:off x="8945442" y="3600509"/>
            <a:ext cx="1646155" cy="421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occurrences</a:t>
            </a:r>
            <a:r>
              <a:rPr lang="pl-PL" sz="800" dirty="0"/>
              <a:t> ← pusty słownik</a:t>
            </a:r>
          </a:p>
          <a:p>
            <a:pPr algn="ctr"/>
            <a:r>
              <a:rPr lang="pl-PL" sz="800" dirty="0"/>
              <a:t>mi ← 0</a:t>
            </a:r>
          </a:p>
          <a:p>
            <a:pPr algn="ctr"/>
            <a:r>
              <a:rPr lang="pl-PL" sz="800" dirty="0"/>
              <a:t>m ← długość(</a:t>
            </a:r>
            <a:r>
              <a:rPr lang="pl-PL" sz="800" dirty="0" err="1"/>
              <a:t>message</a:t>
            </a:r>
            <a:r>
              <a:rPr lang="pl-PL" sz="800" dirty="0"/>
              <a:t>) </a:t>
            </a:r>
          </a:p>
        </p:txBody>
      </p:sp>
      <p:sp>
        <p:nvSpPr>
          <p:cNvPr id="11" name="Decision 10">
            <a:extLst>
              <a:ext uri="{FF2B5EF4-FFF2-40B4-BE49-F238E27FC236}">
                <a16:creationId xmlns:a16="http://schemas.microsoft.com/office/drawing/2014/main" id="{B5BFDDE6-2869-A43A-C6EA-636E756F4864}"/>
              </a:ext>
            </a:extLst>
          </p:cNvPr>
          <p:cNvSpPr/>
          <p:nvPr/>
        </p:nvSpPr>
        <p:spPr>
          <a:xfrm>
            <a:off x="9233112" y="4186967"/>
            <a:ext cx="1070820" cy="32529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mi &lt; m</a:t>
            </a:r>
          </a:p>
        </p:txBody>
      </p:sp>
      <p:sp>
        <p:nvSpPr>
          <p:cNvPr id="17" name="Process 16">
            <a:extLst>
              <a:ext uri="{FF2B5EF4-FFF2-40B4-BE49-F238E27FC236}">
                <a16:creationId xmlns:a16="http://schemas.microsoft.com/office/drawing/2014/main" id="{177913B8-42EA-0E4F-7411-8D5A14180D70}"/>
              </a:ext>
            </a:extLst>
          </p:cNvPr>
          <p:cNvSpPr/>
          <p:nvPr/>
        </p:nvSpPr>
        <p:spPr>
          <a:xfrm>
            <a:off x="13443346" y="5696798"/>
            <a:ext cx="1719405" cy="29507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 ← 0</a:t>
            </a:r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30ED61B0-859B-AD36-ABA0-B2FCE39238C3}"/>
              </a:ext>
            </a:extLst>
          </p:cNvPr>
          <p:cNvSpPr/>
          <p:nvPr/>
        </p:nvSpPr>
        <p:spPr>
          <a:xfrm>
            <a:off x="11612868" y="4677402"/>
            <a:ext cx="1343223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letter</a:t>
            </a:r>
            <a:r>
              <a:rPr lang="pl-PL" sz="800" dirty="0"/>
              <a:t> ← </a:t>
            </a:r>
            <a:r>
              <a:rPr lang="pl-PL" sz="800" dirty="0" err="1"/>
              <a:t>message</a:t>
            </a:r>
            <a:r>
              <a:rPr lang="pl-PL" sz="800" dirty="0"/>
              <a:t>[mi]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6AE30102-FBE2-0BF6-23CE-51E640858420}"/>
              </a:ext>
            </a:extLst>
          </p:cNvPr>
          <p:cNvSpPr/>
          <p:nvPr/>
        </p:nvSpPr>
        <p:spPr>
          <a:xfrm>
            <a:off x="11065103" y="6157015"/>
            <a:ext cx="2438755" cy="29507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 ← </a:t>
            </a:r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 + 1 </a:t>
            </a:r>
          </a:p>
          <a:p>
            <a:pPr algn="ctr"/>
            <a:r>
              <a:rPr lang="pl-PL" sz="800" dirty="0"/>
              <a:t>mi ← mi + 1</a:t>
            </a:r>
          </a:p>
        </p:txBody>
      </p:sp>
      <p:sp>
        <p:nvSpPr>
          <p:cNvPr id="26" name="Decision 25">
            <a:extLst>
              <a:ext uri="{FF2B5EF4-FFF2-40B4-BE49-F238E27FC236}">
                <a16:creationId xmlns:a16="http://schemas.microsoft.com/office/drawing/2014/main" id="{9E4C2F9C-1F60-125E-4563-39D5621A75B9}"/>
              </a:ext>
            </a:extLst>
          </p:cNvPr>
          <p:cNvSpPr/>
          <p:nvPr/>
        </p:nvSpPr>
        <p:spPr>
          <a:xfrm>
            <a:off x="11125612" y="5068857"/>
            <a:ext cx="2317730" cy="46279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 nie występuje</a:t>
            </a:r>
          </a:p>
        </p:txBody>
      </p:sp>
      <p:sp>
        <p:nvSpPr>
          <p:cNvPr id="45" name="Process 44">
            <a:extLst>
              <a:ext uri="{FF2B5EF4-FFF2-40B4-BE49-F238E27FC236}">
                <a16:creationId xmlns:a16="http://schemas.microsoft.com/office/drawing/2014/main" id="{287DE372-F4B7-3B53-E1B6-B1CF5ECCAB84}"/>
              </a:ext>
            </a:extLst>
          </p:cNvPr>
          <p:cNvSpPr/>
          <p:nvPr/>
        </p:nvSpPr>
        <p:spPr>
          <a:xfrm>
            <a:off x="2147790" y="18613823"/>
            <a:ext cx="1388650" cy="37154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encoded_message</a:t>
            </a:r>
            <a:r>
              <a:rPr lang="pl-PL" sz="800" dirty="0"/>
              <a:t> ← „”</a:t>
            </a:r>
          </a:p>
          <a:p>
            <a:pPr algn="ctr"/>
            <a:r>
              <a:rPr lang="pl-PL" sz="800" dirty="0"/>
              <a:t>mi ← 0</a:t>
            </a:r>
          </a:p>
        </p:txBody>
      </p:sp>
      <p:sp>
        <p:nvSpPr>
          <p:cNvPr id="47" name="Decision 46">
            <a:extLst>
              <a:ext uri="{FF2B5EF4-FFF2-40B4-BE49-F238E27FC236}">
                <a16:creationId xmlns:a16="http://schemas.microsoft.com/office/drawing/2014/main" id="{960D824D-9C34-DFA1-230E-EF1DDC688F07}"/>
              </a:ext>
            </a:extLst>
          </p:cNvPr>
          <p:cNvSpPr/>
          <p:nvPr/>
        </p:nvSpPr>
        <p:spPr>
          <a:xfrm>
            <a:off x="2226387" y="19150503"/>
            <a:ext cx="1231455" cy="32373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mi &lt; m</a:t>
            </a:r>
          </a:p>
        </p:txBody>
      </p:sp>
      <p:sp>
        <p:nvSpPr>
          <p:cNvPr id="48" name="Process 47">
            <a:extLst>
              <a:ext uri="{FF2B5EF4-FFF2-40B4-BE49-F238E27FC236}">
                <a16:creationId xmlns:a16="http://schemas.microsoft.com/office/drawing/2014/main" id="{D05806FE-3739-A635-63FA-3FA12E05DCA2}"/>
              </a:ext>
            </a:extLst>
          </p:cNvPr>
          <p:cNvSpPr/>
          <p:nvPr/>
        </p:nvSpPr>
        <p:spPr>
          <a:xfrm>
            <a:off x="3639261" y="19639377"/>
            <a:ext cx="3259448" cy="47752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letter</a:t>
            </a:r>
            <a:r>
              <a:rPr lang="pl-PL" sz="800" dirty="0"/>
              <a:t> ← </a:t>
            </a:r>
            <a:r>
              <a:rPr lang="pl-PL" sz="800" dirty="0" err="1"/>
              <a:t>message</a:t>
            </a:r>
            <a:r>
              <a:rPr lang="pl-PL" sz="800" dirty="0"/>
              <a:t>[mi]</a:t>
            </a:r>
          </a:p>
          <a:p>
            <a:pPr algn="ctr"/>
            <a:r>
              <a:rPr lang="pl-PL" sz="800" dirty="0" err="1"/>
              <a:t>encoded_message</a:t>
            </a:r>
            <a:r>
              <a:rPr lang="pl-PL" sz="800" dirty="0"/>
              <a:t> ← </a:t>
            </a:r>
            <a:r>
              <a:rPr lang="pl-PL" sz="800" dirty="0" err="1"/>
              <a:t>encoded_message</a:t>
            </a:r>
            <a:r>
              <a:rPr lang="pl-PL" sz="800" dirty="0"/>
              <a:t> + </a:t>
            </a:r>
            <a:r>
              <a:rPr lang="pl-PL" sz="800" dirty="0" err="1"/>
              <a:t>coding_table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</a:t>
            </a:r>
          </a:p>
          <a:p>
            <a:pPr algn="ctr"/>
            <a:r>
              <a:rPr lang="pl-PL" sz="800" dirty="0"/>
              <a:t>mi ← mi + 1</a:t>
            </a:r>
          </a:p>
        </p:txBody>
      </p:sp>
      <p:sp>
        <p:nvSpPr>
          <p:cNvPr id="49" name="Terminator 48">
            <a:extLst>
              <a:ext uri="{FF2B5EF4-FFF2-40B4-BE49-F238E27FC236}">
                <a16:creationId xmlns:a16="http://schemas.microsoft.com/office/drawing/2014/main" id="{320F95AE-8B64-5944-4B33-9F4155073974}"/>
              </a:ext>
            </a:extLst>
          </p:cNvPr>
          <p:cNvSpPr/>
          <p:nvPr/>
        </p:nvSpPr>
        <p:spPr>
          <a:xfrm>
            <a:off x="1634242" y="20673493"/>
            <a:ext cx="685800" cy="2263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Stop</a:t>
            </a:r>
          </a:p>
        </p:txBody>
      </p:sp>
      <p:sp>
        <p:nvSpPr>
          <p:cNvPr id="50" name="Data 49">
            <a:extLst>
              <a:ext uri="{FF2B5EF4-FFF2-40B4-BE49-F238E27FC236}">
                <a16:creationId xmlns:a16="http://schemas.microsoft.com/office/drawing/2014/main" id="{94B1ADFD-1869-6DD2-0606-666B9086CF18}"/>
              </a:ext>
            </a:extLst>
          </p:cNvPr>
          <p:cNvSpPr/>
          <p:nvPr/>
        </p:nvSpPr>
        <p:spPr>
          <a:xfrm>
            <a:off x="541113" y="20282038"/>
            <a:ext cx="2872063" cy="22631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Wypisz</a:t>
            </a:r>
            <a:r>
              <a:rPr lang="en-US" sz="800" dirty="0"/>
              <a:t> </a:t>
            </a:r>
            <a:r>
              <a:rPr lang="en-US" sz="800" i="1" dirty="0" err="1"/>
              <a:t>encoded_message</a:t>
            </a:r>
            <a:endParaRPr lang="en-US" sz="8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BC18F6C-7C78-25AC-AC85-1DC63FB87B6E}"/>
              </a:ext>
            </a:extLst>
          </p:cNvPr>
          <p:cNvCxnSpPr>
            <a:cxnSpLocks/>
          </p:cNvCxnSpPr>
          <p:nvPr/>
        </p:nvCxnSpPr>
        <p:spPr>
          <a:xfrm>
            <a:off x="9768522" y="3043914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45EC443-A06B-16C1-AFE4-BA66B97881E4}"/>
              </a:ext>
            </a:extLst>
          </p:cNvPr>
          <p:cNvCxnSpPr>
            <a:cxnSpLocks/>
          </p:cNvCxnSpPr>
          <p:nvPr/>
        </p:nvCxnSpPr>
        <p:spPr>
          <a:xfrm flipH="1">
            <a:off x="9768522" y="3435369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F5A1D49-1075-AED5-09C7-6A39C9A7E139}"/>
              </a:ext>
            </a:extLst>
          </p:cNvPr>
          <p:cNvCxnSpPr>
            <a:cxnSpLocks/>
          </p:cNvCxnSpPr>
          <p:nvPr/>
        </p:nvCxnSpPr>
        <p:spPr>
          <a:xfrm>
            <a:off x="9761757" y="4021827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8A20A31A-B503-8928-F729-F998E38C6C9F}"/>
              </a:ext>
            </a:extLst>
          </p:cNvPr>
          <p:cNvCxnSpPr>
            <a:stCxn id="11" idx="3"/>
            <a:endCxn id="18" idx="0"/>
          </p:cNvCxnSpPr>
          <p:nvPr/>
        </p:nvCxnSpPr>
        <p:spPr>
          <a:xfrm>
            <a:off x="10303930" y="4349614"/>
            <a:ext cx="1980545" cy="3277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7C331B7-1099-7E15-20CA-CEA6D3F9CF83}"/>
              </a:ext>
            </a:extLst>
          </p:cNvPr>
          <p:cNvCxnSpPr>
            <a:stCxn id="18" idx="2"/>
            <a:endCxn id="26" idx="0"/>
          </p:cNvCxnSpPr>
          <p:nvPr/>
        </p:nvCxnSpPr>
        <p:spPr>
          <a:xfrm>
            <a:off x="12284477" y="4903719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AE6F0FB1-BB36-5316-3CD9-3908ECD0F3F3}"/>
              </a:ext>
            </a:extLst>
          </p:cNvPr>
          <p:cNvCxnSpPr>
            <a:stCxn id="26" idx="3"/>
            <a:endCxn id="17" idx="0"/>
          </p:cNvCxnSpPr>
          <p:nvPr/>
        </p:nvCxnSpPr>
        <p:spPr>
          <a:xfrm>
            <a:off x="13443352" y="5300255"/>
            <a:ext cx="859703" cy="3965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CC787BEE-35E9-5300-E530-7C3658CF162B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rot="5400000">
            <a:off x="13211190" y="5065160"/>
            <a:ext cx="165140" cy="201856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9C73DB27-F341-41DB-464C-DAA9E6EBBCBD}"/>
              </a:ext>
            </a:extLst>
          </p:cNvPr>
          <p:cNvCxnSpPr>
            <a:stCxn id="26" idx="1"/>
            <a:endCxn id="19" idx="0"/>
          </p:cNvCxnSpPr>
          <p:nvPr/>
        </p:nvCxnSpPr>
        <p:spPr>
          <a:xfrm rot="10800000" flipH="1" flipV="1">
            <a:off x="11125616" y="5300263"/>
            <a:ext cx="1158865" cy="856755"/>
          </a:xfrm>
          <a:prstGeom prst="bentConnector4">
            <a:avLst>
              <a:gd name="adj1" fmla="val -19726"/>
              <a:gd name="adj2" fmla="val 635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92705FC7-514C-B664-7D33-1183BBC23D69}"/>
              </a:ext>
            </a:extLst>
          </p:cNvPr>
          <p:cNvCxnSpPr>
            <a:stCxn id="19" idx="2"/>
            <a:endCxn id="11" idx="0"/>
          </p:cNvCxnSpPr>
          <p:nvPr/>
        </p:nvCxnSpPr>
        <p:spPr>
          <a:xfrm rot="5400000" flipH="1">
            <a:off x="9893941" y="4061549"/>
            <a:ext cx="2265123" cy="2515955"/>
          </a:xfrm>
          <a:prstGeom prst="bentConnector5">
            <a:avLst>
              <a:gd name="adj1" fmla="val -10092"/>
              <a:gd name="adj2" fmla="val -122292"/>
              <a:gd name="adj3" fmla="val 1052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EE13D460-53EF-DC8C-80CD-9A714630C774}"/>
              </a:ext>
            </a:extLst>
          </p:cNvPr>
          <p:cNvCxnSpPr>
            <a:stCxn id="47" idx="3"/>
            <a:endCxn id="48" idx="0"/>
          </p:cNvCxnSpPr>
          <p:nvPr/>
        </p:nvCxnSpPr>
        <p:spPr>
          <a:xfrm>
            <a:off x="3457842" y="19312368"/>
            <a:ext cx="1811140" cy="3270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Elbow Connector 165">
            <a:extLst>
              <a:ext uri="{FF2B5EF4-FFF2-40B4-BE49-F238E27FC236}">
                <a16:creationId xmlns:a16="http://schemas.microsoft.com/office/drawing/2014/main" id="{87D5C911-4C66-9C47-EF21-16C269FE0427}"/>
              </a:ext>
            </a:extLst>
          </p:cNvPr>
          <p:cNvCxnSpPr>
            <a:stCxn id="48" idx="2"/>
            <a:endCxn id="47" idx="0"/>
          </p:cNvCxnSpPr>
          <p:nvPr/>
        </p:nvCxnSpPr>
        <p:spPr>
          <a:xfrm rot="5400000" flipH="1">
            <a:off x="3572354" y="18420272"/>
            <a:ext cx="966395" cy="2426865"/>
          </a:xfrm>
          <a:prstGeom prst="bentConnector5">
            <a:avLst>
              <a:gd name="adj1" fmla="val -14449"/>
              <a:gd name="adj2" fmla="val -75138"/>
              <a:gd name="adj3" fmla="val 11086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45649697-8576-730F-8556-DAEC140CED94}"/>
              </a:ext>
            </a:extLst>
          </p:cNvPr>
          <p:cNvCxnSpPr>
            <a:stCxn id="45" idx="2"/>
            <a:endCxn id="47" idx="0"/>
          </p:cNvCxnSpPr>
          <p:nvPr/>
        </p:nvCxnSpPr>
        <p:spPr>
          <a:xfrm>
            <a:off x="2842115" y="18985363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Elbow Connector 174">
            <a:extLst>
              <a:ext uri="{FF2B5EF4-FFF2-40B4-BE49-F238E27FC236}">
                <a16:creationId xmlns:a16="http://schemas.microsoft.com/office/drawing/2014/main" id="{3EDF24FE-2E97-776B-46E9-06F98209031B}"/>
              </a:ext>
            </a:extLst>
          </p:cNvPr>
          <p:cNvCxnSpPr>
            <a:stCxn id="47" idx="1"/>
            <a:endCxn id="50" idx="1"/>
          </p:cNvCxnSpPr>
          <p:nvPr/>
        </p:nvCxnSpPr>
        <p:spPr>
          <a:xfrm rot="10800000" flipV="1">
            <a:off x="1977145" y="19312368"/>
            <a:ext cx="249245" cy="9696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067F3233-0CB9-773C-B3FE-E73BC234F4DF}"/>
              </a:ext>
            </a:extLst>
          </p:cNvPr>
          <p:cNvCxnSpPr>
            <a:stCxn id="50" idx="4"/>
            <a:endCxn id="49" idx="0"/>
          </p:cNvCxnSpPr>
          <p:nvPr/>
        </p:nvCxnSpPr>
        <p:spPr>
          <a:xfrm flipH="1">
            <a:off x="1977142" y="20508353"/>
            <a:ext cx="0" cy="16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rocess 2">
            <a:extLst>
              <a:ext uri="{FF2B5EF4-FFF2-40B4-BE49-F238E27FC236}">
                <a16:creationId xmlns:a16="http://schemas.microsoft.com/office/drawing/2014/main" id="{855E547A-B4E2-55A0-10DF-69BE19E8E26A}"/>
              </a:ext>
            </a:extLst>
          </p:cNvPr>
          <p:cNvSpPr/>
          <p:nvPr/>
        </p:nvSpPr>
        <p:spPr>
          <a:xfrm>
            <a:off x="7237753" y="7557871"/>
            <a:ext cx="1941037" cy="62285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letters</a:t>
            </a:r>
            <a:r>
              <a:rPr lang="pl-PL" sz="800" dirty="0"/>
              <a:t> ← klucze w słowniku </a:t>
            </a:r>
            <a:r>
              <a:rPr lang="pl-PL" sz="800" dirty="0" err="1"/>
              <a:t>occurrences</a:t>
            </a:r>
            <a:endParaRPr lang="pl-PL" sz="800" dirty="0"/>
          </a:p>
          <a:p>
            <a:pPr algn="ctr"/>
            <a:r>
              <a:rPr lang="pl-PL" sz="800" dirty="0"/>
              <a:t>l ← długość(</a:t>
            </a:r>
            <a:r>
              <a:rPr lang="pl-PL" sz="800" dirty="0" err="1"/>
              <a:t>letters</a:t>
            </a:r>
            <a:r>
              <a:rPr lang="pl-PL" sz="800" dirty="0"/>
              <a:t>)</a:t>
            </a:r>
          </a:p>
          <a:p>
            <a:pPr algn="ctr"/>
            <a:r>
              <a:rPr lang="pl-PL" sz="800" dirty="0" err="1"/>
              <a:t>sorted_letters</a:t>
            </a:r>
            <a:r>
              <a:rPr lang="pl-PL" sz="800" dirty="0"/>
              <a:t> ← pusta tablica długości l</a:t>
            </a:r>
          </a:p>
          <a:p>
            <a:pPr algn="ctr"/>
            <a:r>
              <a:rPr lang="pl-PL" sz="800" dirty="0"/>
              <a:t>li ← 0</a:t>
            </a:r>
          </a:p>
        </p:txBody>
      </p:sp>
      <p:sp>
        <p:nvSpPr>
          <p:cNvPr id="12" name="Decision 11">
            <a:extLst>
              <a:ext uri="{FF2B5EF4-FFF2-40B4-BE49-F238E27FC236}">
                <a16:creationId xmlns:a16="http://schemas.microsoft.com/office/drawing/2014/main" id="{E7F5CE31-0C0D-1527-EC7A-B2D1F28F8117}"/>
              </a:ext>
            </a:extLst>
          </p:cNvPr>
          <p:cNvSpPr/>
          <p:nvPr/>
        </p:nvSpPr>
        <p:spPr>
          <a:xfrm>
            <a:off x="7672861" y="8357956"/>
            <a:ext cx="1070820" cy="32529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li &lt; l</a:t>
            </a:r>
          </a:p>
        </p:txBody>
      </p:sp>
      <p:sp>
        <p:nvSpPr>
          <p:cNvPr id="13" name="Process 12">
            <a:extLst>
              <a:ext uri="{FF2B5EF4-FFF2-40B4-BE49-F238E27FC236}">
                <a16:creationId xmlns:a16="http://schemas.microsoft.com/office/drawing/2014/main" id="{3B5A398E-4954-461B-ACDF-FC2C858FFE93}"/>
              </a:ext>
            </a:extLst>
          </p:cNvPr>
          <p:cNvSpPr/>
          <p:nvPr/>
        </p:nvSpPr>
        <p:spPr>
          <a:xfrm>
            <a:off x="8739008" y="8860483"/>
            <a:ext cx="1941037" cy="54536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letter</a:t>
            </a:r>
            <a:r>
              <a:rPr lang="pl-PL" sz="800" dirty="0"/>
              <a:t> ← </a:t>
            </a:r>
            <a:r>
              <a:rPr lang="pl-PL" sz="800" dirty="0" err="1"/>
              <a:t>letters</a:t>
            </a:r>
            <a:r>
              <a:rPr lang="pl-PL" sz="800" dirty="0"/>
              <a:t>[li]</a:t>
            </a:r>
          </a:p>
          <a:p>
            <a:pPr algn="ctr"/>
            <a:r>
              <a:rPr lang="pl-PL" sz="800" dirty="0" err="1"/>
              <a:t>count</a:t>
            </a:r>
            <a:r>
              <a:rPr lang="pl-PL" sz="800" dirty="0"/>
              <a:t> ← </a:t>
            </a:r>
            <a:r>
              <a:rPr lang="pl-PL" sz="800" dirty="0" err="1"/>
              <a:t>occurrences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</a:t>
            </a:r>
          </a:p>
          <a:p>
            <a:pPr algn="ctr"/>
            <a:r>
              <a:rPr lang="pl-PL" sz="800" dirty="0" err="1"/>
              <a:t>sorted_letters</a:t>
            </a:r>
            <a:r>
              <a:rPr lang="pl-PL" sz="800" dirty="0"/>
              <a:t>[li] ← (</a:t>
            </a:r>
            <a:r>
              <a:rPr lang="pl-PL" sz="800" dirty="0" err="1"/>
              <a:t>letter</a:t>
            </a:r>
            <a:r>
              <a:rPr lang="pl-PL" sz="800" dirty="0"/>
              <a:t>, </a:t>
            </a:r>
            <a:r>
              <a:rPr lang="pl-PL" sz="800" dirty="0" err="1"/>
              <a:t>count</a:t>
            </a:r>
            <a:r>
              <a:rPr lang="pl-PL" sz="800" dirty="0"/>
              <a:t>)</a:t>
            </a:r>
          </a:p>
          <a:p>
            <a:pPr algn="ctr"/>
            <a:r>
              <a:rPr lang="pl-PL" sz="800" dirty="0"/>
              <a:t>li ← li + 1</a:t>
            </a:r>
          </a:p>
        </p:txBody>
      </p:sp>
      <p:sp>
        <p:nvSpPr>
          <p:cNvPr id="20" name="Process 19">
            <a:extLst>
              <a:ext uri="{FF2B5EF4-FFF2-40B4-BE49-F238E27FC236}">
                <a16:creationId xmlns:a16="http://schemas.microsoft.com/office/drawing/2014/main" id="{AFAE9DC1-4972-4CDE-C10F-B4ABC5B64F2B}"/>
              </a:ext>
            </a:extLst>
          </p:cNvPr>
          <p:cNvSpPr/>
          <p:nvPr/>
        </p:nvSpPr>
        <p:spPr>
          <a:xfrm>
            <a:off x="6998083" y="9567980"/>
            <a:ext cx="2420377" cy="68078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Posortuj tablicę </a:t>
            </a:r>
            <a:r>
              <a:rPr lang="pl-PL" sz="800" dirty="0" err="1"/>
              <a:t>sorted_letters</a:t>
            </a:r>
            <a:r>
              <a:rPr lang="pl-PL" sz="800" dirty="0"/>
              <a:t> względem ilości wystąpień malejąco</a:t>
            </a:r>
          </a:p>
          <a:p>
            <a:pPr algn="ctr"/>
            <a:r>
              <a:rPr lang="pl-PL" sz="800" dirty="0" err="1"/>
              <a:t>tree_queue</a:t>
            </a:r>
            <a:r>
              <a:rPr lang="pl-PL" sz="800" dirty="0"/>
              <a:t> ← pusta kolejka</a:t>
            </a:r>
          </a:p>
          <a:p>
            <a:pPr algn="ctr"/>
            <a:r>
              <a:rPr lang="pl-PL" sz="800" dirty="0"/>
              <a:t>Zakolejkuj parę (</a:t>
            </a:r>
            <a:r>
              <a:rPr lang="pl-PL" sz="800" dirty="0" err="1"/>
              <a:t>sorted_letters</a:t>
            </a:r>
            <a:r>
              <a:rPr lang="pl-PL" sz="800" dirty="0"/>
              <a:t>, „”) w </a:t>
            </a:r>
            <a:r>
              <a:rPr lang="pl-PL" sz="800" dirty="0" err="1"/>
              <a:t>tree_queue</a:t>
            </a:r>
            <a:endParaRPr lang="pl-PL" sz="800" dirty="0"/>
          </a:p>
          <a:p>
            <a:pPr algn="ctr"/>
            <a:r>
              <a:rPr lang="pl-PL" sz="800" dirty="0" err="1"/>
              <a:t>coding_table</a:t>
            </a:r>
            <a:r>
              <a:rPr lang="pl-PL" sz="800" dirty="0"/>
              <a:t> ← pusty słownik</a:t>
            </a:r>
          </a:p>
        </p:txBody>
      </p:sp>
      <p:sp>
        <p:nvSpPr>
          <p:cNvPr id="22" name="Decision 21">
            <a:extLst>
              <a:ext uri="{FF2B5EF4-FFF2-40B4-BE49-F238E27FC236}">
                <a16:creationId xmlns:a16="http://schemas.microsoft.com/office/drawing/2014/main" id="{DADDC366-7F33-45DE-A0DF-0A99186BF304}"/>
              </a:ext>
            </a:extLst>
          </p:cNvPr>
          <p:cNvSpPr/>
          <p:nvPr/>
        </p:nvSpPr>
        <p:spPr>
          <a:xfrm>
            <a:off x="6901146" y="10425999"/>
            <a:ext cx="2614251" cy="3318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długość(</a:t>
            </a:r>
            <a:r>
              <a:rPr lang="pl-PL" sz="800" dirty="0" err="1"/>
              <a:t>tree_queue</a:t>
            </a:r>
            <a:r>
              <a:rPr lang="pl-PL" sz="800" dirty="0"/>
              <a:t>) &gt; 0</a:t>
            </a:r>
          </a:p>
        </p:txBody>
      </p:sp>
      <p:sp>
        <p:nvSpPr>
          <p:cNvPr id="24" name="Process 23">
            <a:extLst>
              <a:ext uri="{FF2B5EF4-FFF2-40B4-BE49-F238E27FC236}">
                <a16:creationId xmlns:a16="http://schemas.microsoft.com/office/drawing/2014/main" id="{EBF89943-9CCC-683A-D752-3E88168042B5}"/>
              </a:ext>
            </a:extLst>
          </p:cNvPr>
          <p:cNvSpPr/>
          <p:nvPr/>
        </p:nvSpPr>
        <p:spPr>
          <a:xfrm>
            <a:off x="10138350" y="10935097"/>
            <a:ext cx="1941037" cy="46279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node</a:t>
            </a:r>
            <a:r>
              <a:rPr lang="pl-PL" sz="800" dirty="0"/>
              <a:t> ← Zdejmij parę z kolejki </a:t>
            </a:r>
            <a:r>
              <a:rPr lang="pl-PL" sz="800" dirty="0" err="1"/>
              <a:t>tree_queue</a:t>
            </a:r>
            <a:endParaRPr lang="pl-PL" sz="800" dirty="0"/>
          </a:p>
          <a:p>
            <a:pPr algn="ctr"/>
            <a:r>
              <a:rPr lang="pl-PL" sz="800" dirty="0" err="1"/>
              <a:t>symbols</a:t>
            </a:r>
            <a:r>
              <a:rPr lang="pl-PL" sz="800" dirty="0"/>
              <a:t> ← </a:t>
            </a:r>
            <a:r>
              <a:rPr lang="pl-PL" sz="800" dirty="0" err="1"/>
              <a:t>node</a:t>
            </a:r>
            <a:r>
              <a:rPr lang="pl-PL" sz="800" dirty="0"/>
              <a:t>[0]</a:t>
            </a:r>
          </a:p>
          <a:p>
            <a:pPr algn="ctr"/>
            <a:r>
              <a:rPr lang="pl-PL" sz="800" dirty="0" err="1"/>
              <a:t>prefix</a:t>
            </a:r>
            <a:r>
              <a:rPr lang="pl-PL" sz="800" dirty="0"/>
              <a:t> ← </a:t>
            </a:r>
            <a:r>
              <a:rPr lang="pl-PL" sz="800" dirty="0" err="1"/>
              <a:t>node</a:t>
            </a:r>
            <a:r>
              <a:rPr lang="pl-PL" sz="800" dirty="0"/>
              <a:t>[1]</a:t>
            </a:r>
          </a:p>
        </p:txBody>
      </p:sp>
      <p:sp>
        <p:nvSpPr>
          <p:cNvPr id="28" name="Decision 27">
            <a:extLst>
              <a:ext uri="{FF2B5EF4-FFF2-40B4-BE49-F238E27FC236}">
                <a16:creationId xmlns:a16="http://schemas.microsoft.com/office/drawing/2014/main" id="{228B49C0-384C-6312-22A7-167C44523932}"/>
              </a:ext>
            </a:extLst>
          </p:cNvPr>
          <p:cNvSpPr/>
          <p:nvPr/>
        </p:nvSpPr>
        <p:spPr>
          <a:xfrm>
            <a:off x="9801743" y="11575122"/>
            <a:ext cx="2614251" cy="3318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długość(</a:t>
            </a:r>
            <a:r>
              <a:rPr lang="pl-PL" sz="800" dirty="0" err="1"/>
              <a:t>symbols</a:t>
            </a:r>
            <a:r>
              <a:rPr lang="pl-PL" sz="800" dirty="0"/>
              <a:t>) &lt; 2</a:t>
            </a:r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5AF82A72-DAF9-4DF0-8D97-17AA8891B706}"/>
              </a:ext>
            </a:extLst>
          </p:cNvPr>
          <p:cNvSpPr/>
          <p:nvPr/>
        </p:nvSpPr>
        <p:spPr>
          <a:xfrm>
            <a:off x="11938030" y="12084220"/>
            <a:ext cx="1439227" cy="29507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letter</a:t>
            </a:r>
            <a:r>
              <a:rPr lang="pl-PL" sz="800" dirty="0"/>
              <a:t> ← </a:t>
            </a:r>
            <a:r>
              <a:rPr lang="pl-PL" sz="800" dirty="0" err="1"/>
              <a:t>symbols</a:t>
            </a:r>
            <a:r>
              <a:rPr lang="pl-PL" sz="800" dirty="0"/>
              <a:t>[0]</a:t>
            </a:r>
          </a:p>
          <a:p>
            <a:pPr algn="ctr"/>
            <a:r>
              <a:rPr lang="pl-PL" sz="800" dirty="0" err="1"/>
              <a:t>coding_table</a:t>
            </a:r>
            <a:r>
              <a:rPr lang="pl-PL" sz="800" dirty="0"/>
              <a:t>[</a:t>
            </a:r>
            <a:r>
              <a:rPr lang="pl-PL" sz="800" dirty="0" err="1"/>
              <a:t>letter</a:t>
            </a:r>
            <a:r>
              <a:rPr lang="pl-PL" sz="800" dirty="0"/>
              <a:t>] ← </a:t>
            </a:r>
            <a:r>
              <a:rPr lang="pl-PL" sz="800" dirty="0" err="1"/>
              <a:t>prefix</a:t>
            </a:r>
            <a:endParaRPr lang="pl-PL" sz="800" dirty="0"/>
          </a:p>
        </p:txBody>
      </p:sp>
      <p:sp>
        <p:nvSpPr>
          <p:cNvPr id="34" name="Process 33">
            <a:extLst>
              <a:ext uri="{FF2B5EF4-FFF2-40B4-BE49-F238E27FC236}">
                <a16:creationId xmlns:a16="http://schemas.microsoft.com/office/drawing/2014/main" id="{A07C500F-55F1-7241-483C-C7D03E2E9323}"/>
              </a:ext>
            </a:extLst>
          </p:cNvPr>
          <p:cNvSpPr/>
          <p:nvPr/>
        </p:nvSpPr>
        <p:spPr>
          <a:xfrm>
            <a:off x="8845376" y="12556531"/>
            <a:ext cx="1439227" cy="50201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weight_left</a:t>
            </a:r>
            <a:r>
              <a:rPr lang="pl-PL" sz="800" dirty="0"/>
              <a:t> ← 0</a:t>
            </a:r>
          </a:p>
          <a:p>
            <a:pPr algn="ctr"/>
            <a:r>
              <a:rPr lang="pl-PL" sz="800" dirty="0" err="1"/>
              <a:t>weight_right</a:t>
            </a:r>
            <a:r>
              <a:rPr lang="pl-PL" sz="800" dirty="0"/>
              <a:t> ← 0</a:t>
            </a:r>
          </a:p>
          <a:p>
            <a:pPr algn="ctr"/>
            <a:r>
              <a:rPr lang="pl-PL" sz="800" dirty="0"/>
              <a:t>s ← długość(</a:t>
            </a:r>
            <a:r>
              <a:rPr lang="pl-PL" sz="800" dirty="0" err="1"/>
              <a:t>symbols</a:t>
            </a:r>
            <a:r>
              <a:rPr lang="pl-PL" sz="800" dirty="0"/>
              <a:t>)</a:t>
            </a:r>
          </a:p>
          <a:p>
            <a:pPr algn="ctr"/>
            <a:r>
              <a:rPr lang="pl-PL" sz="800" dirty="0"/>
              <a:t>si ← 0</a:t>
            </a:r>
          </a:p>
        </p:txBody>
      </p:sp>
      <p:sp>
        <p:nvSpPr>
          <p:cNvPr id="37" name="Decision 36">
            <a:extLst>
              <a:ext uri="{FF2B5EF4-FFF2-40B4-BE49-F238E27FC236}">
                <a16:creationId xmlns:a16="http://schemas.microsoft.com/office/drawing/2014/main" id="{35D64615-2F3A-E37F-0B9D-EFF4B9D96EBF}"/>
              </a:ext>
            </a:extLst>
          </p:cNvPr>
          <p:cNvSpPr/>
          <p:nvPr/>
        </p:nvSpPr>
        <p:spPr>
          <a:xfrm>
            <a:off x="9119942" y="13235777"/>
            <a:ext cx="890094" cy="3318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si &lt; s</a:t>
            </a:r>
          </a:p>
        </p:txBody>
      </p:sp>
      <p:sp>
        <p:nvSpPr>
          <p:cNvPr id="42" name="Process 41">
            <a:extLst>
              <a:ext uri="{FF2B5EF4-FFF2-40B4-BE49-F238E27FC236}">
                <a16:creationId xmlns:a16="http://schemas.microsoft.com/office/drawing/2014/main" id="{A861CAB3-4702-DBC1-6136-193C47C473A1}"/>
              </a:ext>
            </a:extLst>
          </p:cNvPr>
          <p:cNvSpPr/>
          <p:nvPr/>
        </p:nvSpPr>
        <p:spPr>
          <a:xfrm>
            <a:off x="9768525" y="13744875"/>
            <a:ext cx="1897060" cy="422651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symbol ← </a:t>
            </a:r>
            <a:r>
              <a:rPr lang="pl-PL" sz="800" dirty="0" err="1"/>
              <a:t>symbols</a:t>
            </a:r>
            <a:r>
              <a:rPr lang="pl-PL" sz="800" dirty="0"/>
              <a:t>[si]</a:t>
            </a:r>
          </a:p>
          <a:p>
            <a:pPr algn="ctr"/>
            <a:r>
              <a:rPr lang="pl-PL" sz="800" dirty="0" err="1"/>
              <a:t>weight_right</a:t>
            </a:r>
            <a:r>
              <a:rPr lang="pl-PL" sz="800" dirty="0"/>
              <a:t> ← </a:t>
            </a:r>
            <a:r>
              <a:rPr lang="pl-PL" sz="800" dirty="0" err="1"/>
              <a:t>weight_right</a:t>
            </a:r>
            <a:r>
              <a:rPr lang="pl-PL" sz="800" dirty="0"/>
              <a:t> + symbol[1]</a:t>
            </a:r>
          </a:p>
          <a:p>
            <a:pPr algn="ctr"/>
            <a:r>
              <a:rPr lang="pl-PL" sz="800" dirty="0"/>
              <a:t>si ← si + 1</a:t>
            </a:r>
          </a:p>
        </p:txBody>
      </p:sp>
      <p:sp>
        <p:nvSpPr>
          <p:cNvPr id="46" name="Process 45">
            <a:extLst>
              <a:ext uri="{FF2B5EF4-FFF2-40B4-BE49-F238E27FC236}">
                <a16:creationId xmlns:a16="http://schemas.microsoft.com/office/drawing/2014/main" id="{1CFF6248-6289-5F7B-C898-1D7BB317E8D5}"/>
              </a:ext>
            </a:extLst>
          </p:cNvPr>
          <p:cNvSpPr/>
          <p:nvPr/>
        </p:nvSpPr>
        <p:spPr>
          <a:xfrm>
            <a:off x="8270300" y="14344758"/>
            <a:ext cx="1439227" cy="29507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splitter</a:t>
            </a:r>
            <a:r>
              <a:rPr lang="pl-PL" sz="800" dirty="0"/>
              <a:t> ← 0</a:t>
            </a:r>
          </a:p>
          <a:p>
            <a:pPr algn="ctr"/>
            <a:r>
              <a:rPr lang="pl-PL" sz="800" dirty="0"/>
              <a:t>si ← 0</a:t>
            </a:r>
          </a:p>
        </p:txBody>
      </p:sp>
      <p:sp>
        <p:nvSpPr>
          <p:cNvPr id="52" name="Decision 51">
            <a:extLst>
              <a:ext uri="{FF2B5EF4-FFF2-40B4-BE49-F238E27FC236}">
                <a16:creationId xmlns:a16="http://schemas.microsoft.com/office/drawing/2014/main" id="{26289EAF-255B-5DD4-3C6A-942B02B3CF8C}"/>
              </a:ext>
            </a:extLst>
          </p:cNvPr>
          <p:cNvSpPr/>
          <p:nvPr/>
        </p:nvSpPr>
        <p:spPr>
          <a:xfrm>
            <a:off x="8544866" y="14817069"/>
            <a:ext cx="890094" cy="3318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si &lt; s</a:t>
            </a:r>
          </a:p>
        </p:txBody>
      </p:sp>
      <p:sp>
        <p:nvSpPr>
          <p:cNvPr id="55" name="Process 54">
            <a:extLst>
              <a:ext uri="{FF2B5EF4-FFF2-40B4-BE49-F238E27FC236}">
                <a16:creationId xmlns:a16="http://schemas.microsoft.com/office/drawing/2014/main" id="{BE7BFF74-4903-F592-6CAA-01DDD1A58BDA}"/>
              </a:ext>
            </a:extLst>
          </p:cNvPr>
          <p:cNvSpPr/>
          <p:nvPr/>
        </p:nvSpPr>
        <p:spPr>
          <a:xfrm>
            <a:off x="11665585" y="15326167"/>
            <a:ext cx="1345910" cy="2950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symbol ← </a:t>
            </a:r>
            <a:r>
              <a:rPr lang="pl-PL" sz="800" dirty="0" err="1"/>
              <a:t>symbols</a:t>
            </a:r>
            <a:r>
              <a:rPr lang="pl-PL" sz="800" dirty="0"/>
              <a:t>[si]</a:t>
            </a:r>
          </a:p>
          <a:p>
            <a:pPr algn="ctr"/>
            <a:r>
              <a:rPr lang="pl-PL" sz="800" dirty="0" err="1"/>
              <a:t>letter_weight</a:t>
            </a:r>
            <a:r>
              <a:rPr lang="pl-PL" sz="800" dirty="0"/>
              <a:t> ← symbol[1]</a:t>
            </a:r>
          </a:p>
        </p:txBody>
      </p:sp>
      <p:sp>
        <p:nvSpPr>
          <p:cNvPr id="56" name="Decision 55">
            <a:extLst>
              <a:ext uri="{FF2B5EF4-FFF2-40B4-BE49-F238E27FC236}">
                <a16:creationId xmlns:a16="http://schemas.microsoft.com/office/drawing/2014/main" id="{4A133D08-AFE5-0611-5D9E-916EB2FBEB9E}"/>
              </a:ext>
            </a:extLst>
          </p:cNvPr>
          <p:cNvSpPr/>
          <p:nvPr/>
        </p:nvSpPr>
        <p:spPr>
          <a:xfrm>
            <a:off x="10247676" y="15798479"/>
            <a:ext cx="4181729" cy="48334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|weight_right-weight_left-2*</a:t>
            </a:r>
            <a:r>
              <a:rPr lang="pl-PL" sz="800" dirty="0" err="1"/>
              <a:t>letter_weight</a:t>
            </a:r>
            <a:r>
              <a:rPr lang="pl-PL" sz="800" dirty="0"/>
              <a:t>| &lt;= |</a:t>
            </a:r>
            <a:r>
              <a:rPr lang="pl-PL" sz="800" dirty="0" err="1"/>
              <a:t>weight_right-weight_left</a:t>
            </a:r>
            <a:r>
              <a:rPr lang="pl-PL" sz="800" dirty="0"/>
              <a:t>|</a:t>
            </a:r>
          </a:p>
        </p:txBody>
      </p:sp>
      <p:sp>
        <p:nvSpPr>
          <p:cNvPr id="58" name="Process 57">
            <a:extLst>
              <a:ext uri="{FF2B5EF4-FFF2-40B4-BE49-F238E27FC236}">
                <a16:creationId xmlns:a16="http://schemas.microsoft.com/office/drawing/2014/main" id="{F0DB6179-DF05-A99E-DE61-CF2720E2B62F}"/>
              </a:ext>
            </a:extLst>
          </p:cNvPr>
          <p:cNvSpPr/>
          <p:nvPr/>
        </p:nvSpPr>
        <p:spPr>
          <a:xfrm>
            <a:off x="13424384" y="16459054"/>
            <a:ext cx="2255137" cy="421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weight_left</a:t>
            </a:r>
            <a:r>
              <a:rPr lang="pl-PL" sz="800" dirty="0"/>
              <a:t> ← </a:t>
            </a:r>
            <a:r>
              <a:rPr lang="pl-PL" sz="800" dirty="0" err="1"/>
              <a:t>weight_left</a:t>
            </a:r>
            <a:r>
              <a:rPr lang="pl-PL" sz="800" dirty="0"/>
              <a:t> + </a:t>
            </a:r>
            <a:r>
              <a:rPr lang="pl-PL" sz="800" dirty="0" err="1"/>
              <a:t>letter_weight</a:t>
            </a:r>
            <a:endParaRPr lang="pl-PL" sz="800" dirty="0"/>
          </a:p>
          <a:p>
            <a:pPr algn="ctr"/>
            <a:r>
              <a:rPr lang="pl-PL" sz="800" dirty="0" err="1"/>
              <a:t>weight_right</a:t>
            </a:r>
            <a:r>
              <a:rPr lang="pl-PL" sz="800" dirty="0"/>
              <a:t> ← </a:t>
            </a:r>
            <a:r>
              <a:rPr lang="pl-PL" sz="800" dirty="0" err="1"/>
              <a:t>weight_right</a:t>
            </a:r>
            <a:r>
              <a:rPr lang="pl-PL" sz="800" dirty="0"/>
              <a:t> – </a:t>
            </a:r>
            <a:r>
              <a:rPr lang="pl-PL" sz="800" dirty="0" err="1"/>
              <a:t>letter_weight</a:t>
            </a:r>
            <a:endParaRPr lang="pl-PL" sz="800" dirty="0"/>
          </a:p>
          <a:p>
            <a:pPr algn="ctr"/>
            <a:r>
              <a:rPr lang="pl-PL" sz="800" dirty="0" err="1"/>
              <a:t>splitter</a:t>
            </a:r>
            <a:r>
              <a:rPr lang="pl-PL" sz="800" dirty="0"/>
              <a:t> ← </a:t>
            </a:r>
            <a:r>
              <a:rPr lang="pl-PL" sz="800" dirty="0" err="1"/>
              <a:t>splitter</a:t>
            </a:r>
            <a:r>
              <a:rPr lang="pl-PL" sz="800" dirty="0"/>
              <a:t> + 1</a:t>
            </a:r>
          </a:p>
        </p:txBody>
      </p:sp>
      <p:sp>
        <p:nvSpPr>
          <p:cNvPr id="60" name="Process 59">
            <a:extLst>
              <a:ext uri="{FF2B5EF4-FFF2-40B4-BE49-F238E27FC236}">
                <a16:creationId xmlns:a16="http://schemas.microsoft.com/office/drawing/2014/main" id="{70B1AB4F-9CF1-7550-8EE8-A66ACEEB65EE}"/>
              </a:ext>
            </a:extLst>
          </p:cNvPr>
          <p:cNvSpPr/>
          <p:nvPr/>
        </p:nvSpPr>
        <p:spPr>
          <a:xfrm>
            <a:off x="11704183" y="17136233"/>
            <a:ext cx="1064075" cy="20767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si ← si + 1</a:t>
            </a:r>
          </a:p>
        </p:txBody>
      </p:sp>
      <p:sp>
        <p:nvSpPr>
          <p:cNvPr id="62" name="Process 61">
            <a:extLst>
              <a:ext uri="{FF2B5EF4-FFF2-40B4-BE49-F238E27FC236}">
                <a16:creationId xmlns:a16="http://schemas.microsoft.com/office/drawing/2014/main" id="{E1FD67C0-9C44-0E1A-73C9-874D5A72E385}"/>
              </a:ext>
            </a:extLst>
          </p:cNvPr>
          <p:cNvSpPr/>
          <p:nvPr/>
        </p:nvSpPr>
        <p:spPr>
          <a:xfrm>
            <a:off x="5640718" y="16170582"/>
            <a:ext cx="3318180" cy="63191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left_letters</a:t>
            </a:r>
            <a:r>
              <a:rPr lang="pl-PL" sz="800" dirty="0"/>
              <a:t> ← elementy z tablicy </a:t>
            </a:r>
            <a:r>
              <a:rPr lang="pl-PL" sz="800" dirty="0" err="1"/>
              <a:t>symbols</a:t>
            </a:r>
            <a:r>
              <a:rPr lang="pl-PL" sz="800" dirty="0"/>
              <a:t> na pozycjach start…splitter-1</a:t>
            </a:r>
          </a:p>
          <a:p>
            <a:pPr algn="ctr"/>
            <a:r>
              <a:rPr lang="pl-PL" sz="800" dirty="0" err="1"/>
              <a:t>right_letters</a:t>
            </a:r>
            <a:r>
              <a:rPr lang="pl-PL" sz="800" dirty="0"/>
              <a:t> ← elementy z tablicy </a:t>
            </a:r>
            <a:r>
              <a:rPr lang="pl-PL" sz="800" dirty="0" err="1"/>
              <a:t>symbols</a:t>
            </a:r>
            <a:r>
              <a:rPr lang="pl-PL" sz="800" dirty="0"/>
              <a:t> na pozycjach </a:t>
            </a:r>
            <a:r>
              <a:rPr lang="pl-PL" sz="800" dirty="0" err="1"/>
              <a:t>splitter</a:t>
            </a:r>
            <a:r>
              <a:rPr lang="pl-PL" sz="800" dirty="0"/>
              <a:t>…end-1</a:t>
            </a:r>
          </a:p>
          <a:p>
            <a:pPr algn="ctr"/>
            <a:r>
              <a:rPr lang="pl-PL" sz="800" dirty="0"/>
              <a:t>Zakolejkuj parę (</a:t>
            </a:r>
            <a:r>
              <a:rPr lang="pl-PL" sz="800" dirty="0" err="1"/>
              <a:t>left_letters</a:t>
            </a:r>
            <a:r>
              <a:rPr lang="pl-PL" sz="800" dirty="0"/>
              <a:t>, prefix+”0”) w </a:t>
            </a:r>
            <a:r>
              <a:rPr lang="pl-PL" sz="800" dirty="0" err="1"/>
              <a:t>tree_queue</a:t>
            </a:r>
            <a:endParaRPr lang="pl-PL" sz="800" dirty="0"/>
          </a:p>
          <a:p>
            <a:pPr algn="ctr"/>
            <a:r>
              <a:rPr lang="pl-PL" sz="800" dirty="0"/>
              <a:t>Zakolejkuj parę (</a:t>
            </a:r>
            <a:r>
              <a:rPr lang="pl-PL" sz="800" dirty="0" err="1"/>
              <a:t>right_letters</a:t>
            </a:r>
            <a:r>
              <a:rPr lang="pl-PL" sz="800" dirty="0"/>
              <a:t>, prefix+”1”) w </a:t>
            </a:r>
            <a:r>
              <a:rPr lang="pl-PL" sz="800" dirty="0" err="1"/>
              <a:t>tree_queue</a:t>
            </a:r>
            <a:endParaRPr lang="pl-PL" sz="800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87F204B-B0E5-6770-330C-3DC43A51E1A6}"/>
              </a:ext>
            </a:extLst>
          </p:cNvPr>
          <p:cNvCxnSpPr>
            <a:stCxn id="3" idx="2"/>
            <a:endCxn id="12" idx="0"/>
          </p:cNvCxnSpPr>
          <p:nvPr/>
        </p:nvCxnSpPr>
        <p:spPr>
          <a:xfrm flipH="1">
            <a:off x="8208271" y="8180724"/>
            <a:ext cx="1" cy="177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BD51D9AB-CA36-3A1C-5031-0280EDB5A693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8743681" y="8520604"/>
            <a:ext cx="965846" cy="3398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EEE3999D-99B9-93F3-FEBB-D140A911EEAA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rot="5400000" flipH="1">
            <a:off x="8434953" y="8131274"/>
            <a:ext cx="1047891" cy="1501256"/>
          </a:xfrm>
          <a:prstGeom prst="bentConnector5">
            <a:avLst>
              <a:gd name="adj1" fmla="val -21815"/>
              <a:gd name="adj2" fmla="val -79559"/>
              <a:gd name="adj3" fmla="val 1119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4A3A2DC5-7BF5-8A94-CABA-EEF522F7A5CB}"/>
              </a:ext>
            </a:extLst>
          </p:cNvPr>
          <p:cNvCxnSpPr>
            <a:stCxn id="12" idx="1"/>
            <a:endCxn id="20" idx="0"/>
          </p:cNvCxnSpPr>
          <p:nvPr/>
        </p:nvCxnSpPr>
        <p:spPr>
          <a:xfrm rot="10800000" flipH="1" flipV="1">
            <a:off x="7672860" y="8520604"/>
            <a:ext cx="535411" cy="1047376"/>
          </a:xfrm>
          <a:prstGeom prst="bentConnector4">
            <a:avLst>
              <a:gd name="adj1" fmla="val -42696"/>
              <a:gd name="adj2" fmla="val 577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6F52B79-33F1-D273-9019-BC18A8047B3E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8208272" y="10248767"/>
            <a:ext cx="0" cy="177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50615338-59FC-C03B-77F3-AE12D9411191}"/>
              </a:ext>
            </a:extLst>
          </p:cNvPr>
          <p:cNvCxnSpPr>
            <a:stCxn id="22" idx="3"/>
            <a:endCxn id="24" idx="0"/>
          </p:cNvCxnSpPr>
          <p:nvPr/>
        </p:nvCxnSpPr>
        <p:spPr>
          <a:xfrm>
            <a:off x="9515397" y="10591932"/>
            <a:ext cx="1593472" cy="3431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29F4C16-8C04-B684-976F-F1520426362E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11108869" y="11397890"/>
            <a:ext cx="0" cy="177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EE4B5E13-1647-ACEC-8760-706E714D9E37}"/>
              </a:ext>
            </a:extLst>
          </p:cNvPr>
          <p:cNvCxnSpPr>
            <a:stCxn id="28" idx="3"/>
            <a:endCxn id="30" idx="0"/>
          </p:cNvCxnSpPr>
          <p:nvPr/>
        </p:nvCxnSpPr>
        <p:spPr>
          <a:xfrm>
            <a:off x="12415994" y="11741055"/>
            <a:ext cx="241650" cy="3431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A4EA88B0-6044-8257-ACA5-77F8D169F139}"/>
              </a:ext>
            </a:extLst>
          </p:cNvPr>
          <p:cNvCxnSpPr>
            <a:stCxn id="30" idx="2"/>
            <a:endCxn id="22" idx="0"/>
          </p:cNvCxnSpPr>
          <p:nvPr/>
        </p:nvCxnSpPr>
        <p:spPr>
          <a:xfrm rot="5400000" flipH="1">
            <a:off x="9456308" y="9177963"/>
            <a:ext cx="1953300" cy="4449372"/>
          </a:xfrm>
          <a:prstGeom prst="bentConnector5">
            <a:avLst>
              <a:gd name="adj1" fmla="val -11703"/>
              <a:gd name="adj2" fmla="val -21650"/>
              <a:gd name="adj3" fmla="val 1058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41423768-1AA1-1A71-99F1-50610A76FC38}"/>
              </a:ext>
            </a:extLst>
          </p:cNvPr>
          <p:cNvCxnSpPr>
            <a:cxnSpLocks/>
            <a:stCxn id="28" idx="1"/>
            <a:endCxn id="34" idx="0"/>
          </p:cNvCxnSpPr>
          <p:nvPr/>
        </p:nvCxnSpPr>
        <p:spPr>
          <a:xfrm rot="10800000" flipV="1">
            <a:off x="9564991" y="11741055"/>
            <a:ext cx="236753" cy="8154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F71D252-6A0F-9A0F-DCCA-BD17282AF952}"/>
              </a:ext>
            </a:extLst>
          </p:cNvPr>
          <p:cNvCxnSpPr>
            <a:stCxn id="34" idx="2"/>
            <a:endCxn id="37" idx="0"/>
          </p:cNvCxnSpPr>
          <p:nvPr/>
        </p:nvCxnSpPr>
        <p:spPr>
          <a:xfrm flipH="1">
            <a:off x="9564989" y="13058545"/>
            <a:ext cx="1" cy="177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8B8B6CF1-79FD-E366-8DA4-7236EE7144B4}"/>
              </a:ext>
            </a:extLst>
          </p:cNvPr>
          <p:cNvCxnSpPr>
            <a:stCxn id="37" idx="3"/>
            <a:endCxn id="42" idx="0"/>
          </p:cNvCxnSpPr>
          <p:nvPr/>
        </p:nvCxnSpPr>
        <p:spPr>
          <a:xfrm>
            <a:off x="10010036" y="13401710"/>
            <a:ext cx="707019" cy="3431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0B96862D-A03C-0D7D-8755-0AFC76465279}"/>
              </a:ext>
            </a:extLst>
          </p:cNvPr>
          <p:cNvCxnSpPr>
            <a:cxnSpLocks/>
            <a:stCxn id="42" idx="2"/>
            <a:endCxn id="37" idx="0"/>
          </p:cNvCxnSpPr>
          <p:nvPr/>
        </p:nvCxnSpPr>
        <p:spPr>
          <a:xfrm rot="5400000" flipH="1">
            <a:off x="9675147" y="13125619"/>
            <a:ext cx="931749" cy="1152066"/>
          </a:xfrm>
          <a:prstGeom prst="bentConnector5">
            <a:avLst>
              <a:gd name="adj1" fmla="val -24535"/>
              <a:gd name="adj2" fmla="val -97505"/>
              <a:gd name="adj3" fmla="val 1117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DA650A80-D0B1-2A4E-F411-96F1F6908373}"/>
              </a:ext>
            </a:extLst>
          </p:cNvPr>
          <p:cNvCxnSpPr>
            <a:stCxn id="37" idx="1"/>
            <a:endCxn id="46" idx="0"/>
          </p:cNvCxnSpPr>
          <p:nvPr/>
        </p:nvCxnSpPr>
        <p:spPr>
          <a:xfrm rot="10800000" flipV="1">
            <a:off x="8989914" y="13401710"/>
            <a:ext cx="130028" cy="9430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D41053A6-1324-0CF0-8E0A-C92CA56EEC2D}"/>
              </a:ext>
            </a:extLst>
          </p:cNvPr>
          <p:cNvCxnSpPr>
            <a:stCxn id="52" idx="3"/>
            <a:endCxn id="55" idx="0"/>
          </p:cNvCxnSpPr>
          <p:nvPr/>
        </p:nvCxnSpPr>
        <p:spPr>
          <a:xfrm>
            <a:off x="9434960" y="14983002"/>
            <a:ext cx="2903580" cy="3431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7B12FF17-2EE1-9098-5F57-36724F50AA8E}"/>
              </a:ext>
            </a:extLst>
          </p:cNvPr>
          <p:cNvCxnSpPr>
            <a:stCxn id="46" idx="2"/>
            <a:endCxn id="52" idx="0"/>
          </p:cNvCxnSpPr>
          <p:nvPr/>
        </p:nvCxnSpPr>
        <p:spPr>
          <a:xfrm flipH="1">
            <a:off x="8989913" y="14639837"/>
            <a:ext cx="1" cy="177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7886F23-DBCC-3C96-062F-2D19310FF53D}"/>
              </a:ext>
            </a:extLst>
          </p:cNvPr>
          <p:cNvCxnSpPr>
            <a:stCxn id="55" idx="2"/>
            <a:endCxn id="56" idx="0"/>
          </p:cNvCxnSpPr>
          <p:nvPr/>
        </p:nvCxnSpPr>
        <p:spPr>
          <a:xfrm>
            <a:off x="12338540" y="15621247"/>
            <a:ext cx="1" cy="177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E33B6C7F-480C-F6C0-91FC-AC05DEDFE361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>
            <a:off x="14429405" y="16040151"/>
            <a:ext cx="122548" cy="4189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B914C95E-2460-8176-41F0-89C9EB407FF3}"/>
              </a:ext>
            </a:extLst>
          </p:cNvPr>
          <p:cNvCxnSpPr>
            <a:cxnSpLocks/>
            <a:stCxn id="56" idx="1"/>
            <a:endCxn id="60" idx="0"/>
          </p:cNvCxnSpPr>
          <p:nvPr/>
        </p:nvCxnSpPr>
        <p:spPr>
          <a:xfrm rot="10800000" flipH="1" flipV="1">
            <a:off x="10247675" y="16040151"/>
            <a:ext cx="1988545" cy="1096082"/>
          </a:xfrm>
          <a:prstGeom prst="bentConnector4">
            <a:avLst>
              <a:gd name="adj1" fmla="val -11496"/>
              <a:gd name="adj2" fmla="val 610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Elbow Connector 144">
            <a:extLst>
              <a:ext uri="{FF2B5EF4-FFF2-40B4-BE49-F238E27FC236}">
                <a16:creationId xmlns:a16="http://schemas.microsoft.com/office/drawing/2014/main" id="{0913D3E2-C982-0BF9-202B-FAE2E02B19C6}"/>
              </a:ext>
            </a:extLst>
          </p:cNvPr>
          <p:cNvCxnSpPr>
            <a:stCxn id="58" idx="2"/>
            <a:endCxn id="60" idx="0"/>
          </p:cNvCxnSpPr>
          <p:nvPr/>
        </p:nvCxnSpPr>
        <p:spPr>
          <a:xfrm rot="5400000">
            <a:off x="13266155" y="15850435"/>
            <a:ext cx="255864" cy="23157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Elbow Connector 146">
            <a:extLst>
              <a:ext uri="{FF2B5EF4-FFF2-40B4-BE49-F238E27FC236}">
                <a16:creationId xmlns:a16="http://schemas.microsoft.com/office/drawing/2014/main" id="{60808BF8-F1B8-46F8-D4EE-799675D2F9D1}"/>
              </a:ext>
            </a:extLst>
          </p:cNvPr>
          <p:cNvCxnSpPr>
            <a:cxnSpLocks/>
            <a:stCxn id="60" idx="2"/>
            <a:endCxn id="52" idx="0"/>
          </p:cNvCxnSpPr>
          <p:nvPr/>
        </p:nvCxnSpPr>
        <p:spPr>
          <a:xfrm rot="5400000" flipH="1">
            <a:off x="9349646" y="14457336"/>
            <a:ext cx="2526841" cy="3246308"/>
          </a:xfrm>
          <a:prstGeom prst="bentConnector5">
            <a:avLst>
              <a:gd name="adj1" fmla="val -9047"/>
              <a:gd name="adj2" fmla="val -110985"/>
              <a:gd name="adj3" fmla="val 1049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Elbow Connector 159">
            <a:extLst>
              <a:ext uri="{FF2B5EF4-FFF2-40B4-BE49-F238E27FC236}">
                <a16:creationId xmlns:a16="http://schemas.microsoft.com/office/drawing/2014/main" id="{762983DD-A664-F54A-0321-B5B0C6C0015B}"/>
              </a:ext>
            </a:extLst>
          </p:cNvPr>
          <p:cNvCxnSpPr>
            <a:stCxn id="52" idx="1"/>
            <a:endCxn id="62" idx="0"/>
          </p:cNvCxnSpPr>
          <p:nvPr/>
        </p:nvCxnSpPr>
        <p:spPr>
          <a:xfrm rot="10800000" flipV="1">
            <a:off x="7299808" y="14983002"/>
            <a:ext cx="1245058" cy="11875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62">
            <a:extLst>
              <a:ext uri="{FF2B5EF4-FFF2-40B4-BE49-F238E27FC236}">
                <a16:creationId xmlns:a16="http://schemas.microsoft.com/office/drawing/2014/main" id="{4CCEF6EF-2BDD-1ED5-D641-B576EBB8FE1F}"/>
              </a:ext>
            </a:extLst>
          </p:cNvPr>
          <p:cNvCxnSpPr>
            <a:stCxn id="62" idx="2"/>
            <a:endCxn id="22" idx="0"/>
          </p:cNvCxnSpPr>
          <p:nvPr/>
        </p:nvCxnSpPr>
        <p:spPr>
          <a:xfrm rot="5400000" flipH="1" flipV="1">
            <a:off x="4565792" y="13160015"/>
            <a:ext cx="6376496" cy="908464"/>
          </a:xfrm>
          <a:prstGeom prst="bentConnector5">
            <a:avLst>
              <a:gd name="adj1" fmla="val -18259"/>
              <a:gd name="adj2" fmla="val 1076614"/>
              <a:gd name="adj3" fmla="val 1017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>
            <a:extLst>
              <a:ext uri="{FF2B5EF4-FFF2-40B4-BE49-F238E27FC236}">
                <a16:creationId xmlns:a16="http://schemas.microsoft.com/office/drawing/2014/main" id="{9DB6D607-0AE1-DBE9-2241-5A5005429BD3}"/>
              </a:ext>
            </a:extLst>
          </p:cNvPr>
          <p:cNvCxnSpPr>
            <a:stCxn id="11" idx="1"/>
            <a:endCxn id="3" idx="0"/>
          </p:cNvCxnSpPr>
          <p:nvPr/>
        </p:nvCxnSpPr>
        <p:spPr>
          <a:xfrm rot="10800000" flipV="1">
            <a:off x="8208272" y="4349615"/>
            <a:ext cx="1024840" cy="32082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Elbow Connector 172">
            <a:extLst>
              <a:ext uri="{FF2B5EF4-FFF2-40B4-BE49-F238E27FC236}">
                <a16:creationId xmlns:a16="http://schemas.microsoft.com/office/drawing/2014/main" id="{0EF05A46-6E97-8EAF-CEB4-1454AB500EBD}"/>
              </a:ext>
            </a:extLst>
          </p:cNvPr>
          <p:cNvCxnSpPr>
            <a:cxnSpLocks/>
            <a:stCxn id="22" idx="1"/>
            <a:endCxn id="45" idx="0"/>
          </p:cNvCxnSpPr>
          <p:nvPr/>
        </p:nvCxnSpPr>
        <p:spPr>
          <a:xfrm rot="10800000" flipV="1">
            <a:off x="2842116" y="10591931"/>
            <a:ext cx="4059031" cy="80218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B0FFF048-B4C3-F91F-A55D-DDE3875A7FC8}"/>
              </a:ext>
            </a:extLst>
          </p:cNvPr>
          <p:cNvSpPr txBox="1"/>
          <p:nvPr/>
        </p:nvSpPr>
        <p:spPr>
          <a:xfrm>
            <a:off x="10239137" y="407489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64745D4-CFAE-874E-8141-05079E603017}"/>
              </a:ext>
            </a:extLst>
          </p:cNvPr>
          <p:cNvSpPr txBox="1"/>
          <p:nvPr/>
        </p:nvSpPr>
        <p:spPr>
          <a:xfrm>
            <a:off x="13401710" y="5017516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0345CDC-40F4-1EA8-C946-0C44411FA5E9}"/>
              </a:ext>
            </a:extLst>
          </p:cNvPr>
          <p:cNvSpPr txBox="1"/>
          <p:nvPr/>
        </p:nvSpPr>
        <p:spPr>
          <a:xfrm>
            <a:off x="10786645" y="5009652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C3B1B2C-AAAF-69AB-CDF0-F34B9D18DCFF}"/>
              </a:ext>
            </a:extLst>
          </p:cNvPr>
          <p:cNvSpPr txBox="1"/>
          <p:nvPr/>
        </p:nvSpPr>
        <p:spPr>
          <a:xfrm>
            <a:off x="8839858" y="4053956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EE65826-C8F6-C78E-D6E0-C0F7ED2E454A}"/>
              </a:ext>
            </a:extLst>
          </p:cNvPr>
          <p:cNvSpPr txBox="1"/>
          <p:nvPr/>
        </p:nvSpPr>
        <p:spPr>
          <a:xfrm>
            <a:off x="8664010" y="8257533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E7B9A53-AC7E-F2FA-4D5C-C20A64746540}"/>
              </a:ext>
            </a:extLst>
          </p:cNvPr>
          <p:cNvSpPr txBox="1"/>
          <p:nvPr/>
        </p:nvSpPr>
        <p:spPr>
          <a:xfrm>
            <a:off x="7388617" y="8224799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138B769-59B9-2D32-C2CC-ED46818C62B7}"/>
              </a:ext>
            </a:extLst>
          </p:cNvPr>
          <p:cNvSpPr txBox="1"/>
          <p:nvPr/>
        </p:nvSpPr>
        <p:spPr>
          <a:xfrm>
            <a:off x="12236220" y="11448424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552231D-335A-F5BD-E56A-8E17B21D1FA1}"/>
              </a:ext>
            </a:extLst>
          </p:cNvPr>
          <p:cNvSpPr txBox="1"/>
          <p:nvPr/>
        </p:nvSpPr>
        <p:spPr>
          <a:xfrm>
            <a:off x="9454524" y="10316408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F23EAD2-7108-7156-F73E-09FB90C021FE}"/>
              </a:ext>
            </a:extLst>
          </p:cNvPr>
          <p:cNvSpPr txBox="1"/>
          <p:nvPr/>
        </p:nvSpPr>
        <p:spPr>
          <a:xfrm>
            <a:off x="6527311" y="10307272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063B1A3-D6EA-95BE-6E52-AC24322B1378}"/>
              </a:ext>
            </a:extLst>
          </p:cNvPr>
          <p:cNvSpPr txBox="1"/>
          <p:nvPr/>
        </p:nvSpPr>
        <p:spPr>
          <a:xfrm>
            <a:off x="9469422" y="11418927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88739DB7-EE20-AA78-75BA-CC8DFB95382A}"/>
              </a:ext>
            </a:extLst>
          </p:cNvPr>
          <p:cNvSpPr txBox="1"/>
          <p:nvPr/>
        </p:nvSpPr>
        <p:spPr>
          <a:xfrm>
            <a:off x="9947270" y="13135639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264BC1C6-CEC2-B5D8-59B9-40AB50A70E76}"/>
              </a:ext>
            </a:extLst>
          </p:cNvPr>
          <p:cNvSpPr txBox="1"/>
          <p:nvPr/>
        </p:nvSpPr>
        <p:spPr>
          <a:xfrm>
            <a:off x="8796896" y="13153337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DDFD6E1C-8631-8FFD-2A5B-01974752C079}"/>
              </a:ext>
            </a:extLst>
          </p:cNvPr>
          <p:cNvSpPr txBox="1"/>
          <p:nvPr/>
        </p:nvSpPr>
        <p:spPr>
          <a:xfrm>
            <a:off x="9374343" y="14705993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06F3174-3A5E-CD7B-6F74-7A8E1610718D}"/>
              </a:ext>
            </a:extLst>
          </p:cNvPr>
          <p:cNvSpPr txBox="1"/>
          <p:nvPr/>
        </p:nvSpPr>
        <p:spPr>
          <a:xfrm>
            <a:off x="8153175" y="14723691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ABE488C-48EB-31A6-0274-C485F9EF2FB1}"/>
              </a:ext>
            </a:extLst>
          </p:cNvPr>
          <p:cNvSpPr txBox="1"/>
          <p:nvPr/>
        </p:nvSpPr>
        <p:spPr>
          <a:xfrm>
            <a:off x="14324986" y="15765427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E72BE12B-8BCE-7206-4FE5-657A0CB0BD01}"/>
              </a:ext>
            </a:extLst>
          </p:cNvPr>
          <p:cNvSpPr txBox="1"/>
          <p:nvPr/>
        </p:nvSpPr>
        <p:spPr>
          <a:xfrm>
            <a:off x="9905498" y="15754079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06FDFFC-E1EE-8CEB-F522-229E29D4FEC1}"/>
              </a:ext>
            </a:extLst>
          </p:cNvPr>
          <p:cNvSpPr txBox="1"/>
          <p:nvPr/>
        </p:nvSpPr>
        <p:spPr>
          <a:xfrm>
            <a:off x="1917772" y="19028221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678E88B-AE9D-8665-38D5-C181C2950E92}"/>
              </a:ext>
            </a:extLst>
          </p:cNvPr>
          <p:cNvSpPr txBox="1"/>
          <p:nvPr/>
        </p:nvSpPr>
        <p:spPr>
          <a:xfrm>
            <a:off x="3433693" y="19059717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59D5BCA-2316-4427-FF40-58502A7500C2}"/>
              </a:ext>
            </a:extLst>
          </p:cNvPr>
          <p:cNvSpPr txBox="1"/>
          <p:nvPr/>
        </p:nvSpPr>
        <p:spPr>
          <a:xfrm>
            <a:off x="-4022878" y="23381945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DF57-2224-63A1-582E-E5337E0E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46EA8E-3207-F882-7EAB-2DAC3EFE6F29}"/>
              </a:ext>
            </a:extLst>
          </p:cNvPr>
          <p:cNvSpPr txBox="1"/>
          <p:nvPr/>
        </p:nvSpPr>
        <p:spPr>
          <a:xfrm>
            <a:off x="541114" y="504220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4.3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C5C05-92D7-11E3-F5EC-4E8767C35AED}"/>
              </a:ext>
            </a:extLst>
          </p:cNvPr>
          <p:cNvSpPr txBox="1"/>
          <p:nvPr/>
        </p:nvSpPr>
        <p:spPr>
          <a:xfrm>
            <a:off x="541117" y="844490"/>
            <a:ext cx="658629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Kodowanie </a:t>
            </a:r>
            <a:r>
              <a:rPr lang="pl-PL" sz="2700" dirty="0" err="1"/>
              <a:t>Shannona-Fano</a:t>
            </a:r>
            <a:r>
              <a:rPr lang="pl-PL" sz="2700" dirty="0"/>
              <a:t> – dekodowanie</a:t>
            </a:r>
          </a:p>
        </p:txBody>
      </p:sp>
      <p:sp>
        <p:nvSpPr>
          <p:cNvPr id="8" name="Terminator 7">
            <a:extLst>
              <a:ext uri="{FF2B5EF4-FFF2-40B4-BE49-F238E27FC236}">
                <a16:creationId xmlns:a16="http://schemas.microsoft.com/office/drawing/2014/main" id="{8ADA02BF-82F7-475B-AD03-7F5E69BD7B39}"/>
              </a:ext>
            </a:extLst>
          </p:cNvPr>
          <p:cNvSpPr/>
          <p:nvPr/>
        </p:nvSpPr>
        <p:spPr>
          <a:xfrm>
            <a:off x="4939730" y="2260625"/>
            <a:ext cx="685800" cy="2263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Start</a:t>
            </a:r>
          </a:p>
        </p:txBody>
      </p:sp>
      <p:sp>
        <p:nvSpPr>
          <p:cNvPr id="11" name="Data 10">
            <a:extLst>
              <a:ext uri="{FF2B5EF4-FFF2-40B4-BE49-F238E27FC236}">
                <a16:creationId xmlns:a16="http://schemas.microsoft.com/office/drawing/2014/main" id="{8AA452C9-BCBD-8795-D1A7-E11DB86E48B8}"/>
              </a:ext>
            </a:extLst>
          </p:cNvPr>
          <p:cNvSpPr/>
          <p:nvPr/>
        </p:nvSpPr>
        <p:spPr>
          <a:xfrm>
            <a:off x="3490154" y="2689494"/>
            <a:ext cx="3584953" cy="30711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Wczytaj</a:t>
            </a:r>
            <a:r>
              <a:rPr lang="en-US" sz="800" dirty="0"/>
              <a:t> </a:t>
            </a:r>
            <a:r>
              <a:rPr lang="en-US" sz="800" dirty="0" err="1"/>
              <a:t>wiadomość</a:t>
            </a:r>
            <a:r>
              <a:rPr lang="en-US" sz="800" dirty="0"/>
              <a:t> </a:t>
            </a:r>
            <a:r>
              <a:rPr lang="en-US" sz="800" i="1" dirty="0" err="1"/>
              <a:t>encoded_message</a:t>
            </a:r>
            <a:r>
              <a:rPr lang="en-US" sz="800" i="1" dirty="0"/>
              <a:t> </a:t>
            </a:r>
            <a:r>
              <a:rPr lang="en-US" sz="800" i="1" dirty="0" err="1"/>
              <a:t>i</a:t>
            </a:r>
            <a:r>
              <a:rPr lang="en-US" sz="800" i="1" dirty="0"/>
              <a:t> </a:t>
            </a:r>
            <a:r>
              <a:rPr lang="en-US" sz="800" i="1" dirty="0" err="1"/>
              <a:t>tablicę</a:t>
            </a:r>
            <a:r>
              <a:rPr lang="en-US" sz="800" i="1" dirty="0"/>
              <a:t> </a:t>
            </a:r>
            <a:r>
              <a:rPr lang="en-US" sz="800" i="1" dirty="0" err="1"/>
              <a:t>kodową</a:t>
            </a:r>
            <a:r>
              <a:rPr lang="en-US" sz="800" i="1" dirty="0"/>
              <a:t> </a:t>
            </a:r>
            <a:r>
              <a:rPr lang="en-US" sz="800" dirty="0" err="1"/>
              <a:t>code_table</a:t>
            </a:r>
            <a:endParaRPr lang="en-US" sz="800" dirty="0"/>
          </a:p>
        </p:txBody>
      </p:sp>
      <p:sp>
        <p:nvSpPr>
          <p:cNvPr id="17" name="Decision 16">
            <a:extLst>
              <a:ext uri="{FF2B5EF4-FFF2-40B4-BE49-F238E27FC236}">
                <a16:creationId xmlns:a16="http://schemas.microsoft.com/office/drawing/2014/main" id="{54ACD419-6B24-B162-16C0-F9DA75F2E2D8}"/>
              </a:ext>
            </a:extLst>
          </p:cNvPr>
          <p:cNvSpPr/>
          <p:nvPr/>
        </p:nvSpPr>
        <p:spPr>
          <a:xfrm>
            <a:off x="4747221" y="3965278"/>
            <a:ext cx="1070820" cy="32529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mi &lt; m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E5541414-B506-F740-635D-2FA6AE8F518F}"/>
              </a:ext>
            </a:extLst>
          </p:cNvPr>
          <p:cNvSpPr/>
          <p:nvPr/>
        </p:nvSpPr>
        <p:spPr>
          <a:xfrm>
            <a:off x="4318119" y="3199167"/>
            <a:ext cx="1929023" cy="56355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decoded_message</a:t>
            </a:r>
            <a:r>
              <a:rPr lang="pl-PL" sz="800" dirty="0"/>
              <a:t> ← „”</a:t>
            </a:r>
          </a:p>
          <a:p>
            <a:pPr algn="ctr"/>
            <a:r>
              <a:rPr lang="pl-PL" sz="800" dirty="0" err="1"/>
              <a:t>current_sequence</a:t>
            </a:r>
            <a:r>
              <a:rPr lang="pl-PL" sz="800" dirty="0"/>
              <a:t> ← „”</a:t>
            </a:r>
          </a:p>
          <a:p>
            <a:pPr algn="ctr"/>
            <a:r>
              <a:rPr lang="pl-PL" sz="800" dirty="0"/>
              <a:t>mi ← 0</a:t>
            </a:r>
          </a:p>
          <a:p>
            <a:pPr algn="ctr"/>
            <a:r>
              <a:rPr lang="pl-PL" sz="800" dirty="0"/>
              <a:t>m ← długość(</a:t>
            </a:r>
            <a:r>
              <a:rPr lang="pl-PL" sz="800" dirty="0" err="1"/>
              <a:t>encoded_message</a:t>
            </a:r>
            <a:r>
              <a:rPr lang="pl-PL" sz="800" dirty="0"/>
              <a:t>)</a:t>
            </a:r>
          </a:p>
        </p:txBody>
      </p:sp>
      <p:sp>
        <p:nvSpPr>
          <p:cNvPr id="41" name="Process 40">
            <a:extLst>
              <a:ext uri="{FF2B5EF4-FFF2-40B4-BE49-F238E27FC236}">
                <a16:creationId xmlns:a16="http://schemas.microsoft.com/office/drawing/2014/main" id="{BC5DD329-7F7F-052C-A06C-F2423D510389}"/>
              </a:ext>
            </a:extLst>
          </p:cNvPr>
          <p:cNvSpPr/>
          <p:nvPr/>
        </p:nvSpPr>
        <p:spPr>
          <a:xfrm>
            <a:off x="6257577" y="4493129"/>
            <a:ext cx="3495640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current_sequence</a:t>
            </a:r>
            <a:r>
              <a:rPr lang="pl-PL" sz="800" dirty="0"/>
              <a:t> ← </a:t>
            </a:r>
            <a:r>
              <a:rPr lang="pl-PL" sz="800" dirty="0" err="1"/>
              <a:t>current_sequence</a:t>
            </a:r>
            <a:r>
              <a:rPr lang="pl-PL" sz="800" dirty="0"/>
              <a:t> + </a:t>
            </a:r>
            <a:r>
              <a:rPr lang="pl-PL" sz="800" dirty="0" err="1"/>
              <a:t>encoded_message</a:t>
            </a:r>
            <a:r>
              <a:rPr lang="pl-PL" sz="800" dirty="0"/>
              <a:t>[mi]</a:t>
            </a:r>
          </a:p>
        </p:txBody>
      </p:sp>
      <p:sp>
        <p:nvSpPr>
          <p:cNvPr id="43" name="Decision 42">
            <a:extLst>
              <a:ext uri="{FF2B5EF4-FFF2-40B4-BE49-F238E27FC236}">
                <a16:creationId xmlns:a16="http://schemas.microsoft.com/office/drawing/2014/main" id="{5E33A89F-DA7E-7191-19BA-CE480F037F24}"/>
              </a:ext>
            </a:extLst>
          </p:cNvPr>
          <p:cNvSpPr/>
          <p:nvPr/>
        </p:nvSpPr>
        <p:spPr>
          <a:xfrm>
            <a:off x="6175332" y="4921998"/>
            <a:ext cx="3660130" cy="40515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code_table</a:t>
            </a:r>
            <a:r>
              <a:rPr lang="pl-PL" sz="800" dirty="0"/>
              <a:t>[</a:t>
            </a:r>
            <a:r>
              <a:rPr lang="pl-PL" sz="800" dirty="0" err="1"/>
              <a:t>current_sequence</a:t>
            </a:r>
            <a:r>
              <a:rPr lang="pl-PL" sz="800" dirty="0"/>
              <a:t>] występuje</a:t>
            </a:r>
          </a:p>
        </p:txBody>
      </p:sp>
      <p:sp>
        <p:nvSpPr>
          <p:cNvPr id="44" name="Process 43">
            <a:extLst>
              <a:ext uri="{FF2B5EF4-FFF2-40B4-BE49-F238E27FC236}">
                <a16:creationId xmlns:a16="http://schemas.microsoft.com/office/drawing/2014/main" id="{914ABE86-CD1D-C946-3B57-E4B037EA570E}"/>
              </a:ext>
            </a:extLst>
          </p:cNvPr>
          <p:cNvSpPr/>
          <p:nvPr/>
        </p:nvSpPr>
        <p:spPr>
          <a:xfrm>
            <a:off x="8005397" y="5529711"/>
            <a:ext cx="3866540" cy="4051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 err="1"/>
              <a:t>decoded_message</a:t>
            </a:r>
            <a:r>
              <a:rPr lang="pl-PL" sz="800" dirty="0"/>
              <a:t> ← </a:t>
            </a:r>
            <a:r>
              <a:rPr lang="pl-PL" sz="800" dirty="0" err="1"/>
              <a:t>decoded_message</a:t>
            </a:r>
            <a:r>
              <a:rPr lang="pl-PL" sz="800" dirty="0"/>
              <a:t> + </a:t>
            </a:r>
            <a:r>
              <a:rPr lang="pl-PL" sz="800" dirty="0" err="1"/>
              <a:t>code_table</a:t>
            </a:r>
            <a:r>
              <a:rPr lang="pl-PL" sz="800" dirty="0"/>
              <a:t>[</a:t>
            </a:r>
            <a:r>
              <a:rPr lang="pl-PL" sz="800" dirty="0" err="1"/>
              <a:t>current_sequence</a:t>
            </a:r>
            <a:r>
              <a:rPr lang="pl-PL" sz="800" dirty="0"/>
              <a:t>]</a:t>
            </a:r>
          </a:p>
          <a:p>
            <a:pPr algn="ctr"/>
            <a:r>
              <a:rPr lang="pl-PL" sz="800" dirty="0" err="1"/>
              <a:t>current_sequence</a:t>
            </a:r>
            <a:r>
              <a:rPr lang="pl-PL" sz="800" dirty="0"/>
              <a:t> ← „”</a:t>
            </a:r>
          </a:p>
        </p:txBody>
      </p:sp>
      <p:sp>
        <p:nvSpPr>
          <p:cNvPr id="45" name="Process 44">
            <a:extLst>
              <a:ext uri="{FF2B5EF4-FFF2-40B4-BE49-F238E27FC236}">
                <a16:creationId xmlns:a16="http://schemas.microsoft.com/office/drawing/2014/main" id="{2F93E09E-123E-CAF4-C654-FDF9742BE051}"/>
              </a:ext>
            </a:extLst>
          </p:cNvPr>
          <p:cNvSpPr/>
          <p:nvPr/>
        </p:nvSpPr>
        <p:spPr>
          <a:xfrm>
            <a:off x="5533341" y="6137424"/>
            <a:ext cx="925113" cy="22631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800" dirty="0"/>
              <a:t>mi ← mi + 1</a:t>
            </a:r>
          </a:p>
        </p:txBody>
      </p:sp>
      <p:sp>
        <p:nvSpPr>
          <p:cNvPr id="46" name="Data 45">
            <a:extLst>
              <a:ext uri="{FF2B5EF4-FFF2-40B4-BE49-F238E27FC236}">
                <a16:creationId xmlns:a16="http://schemas.microsoft.com/office/drawing/2014/main" id="{8B8E1CD1-539A-46EC-08AF-8BBAAEE4FA68}"/>
              </a:ext>
            </a:extLst>
          </p:cNvPr>
          <p:cNvSpPr/>
          <p:nvPr/>
        </p:nvSpPr>
        <p:spPr>
          <a:xfrm>
            <a:off x="2020679" y="4493129"/>
            <a:ext cx="2504905" cy="22631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 err="1"/>
              <a:t>Wypisz</a:t>
            </a:r>
            <a:r>
              <a:rPr lang="en-US" sz="800" dirty="0"/>
              <a:t> </a:t>
            </a:r>
            <a:r>
              <a:rPr lang="en-US" sz="800" dirty="0" err="1"/>
              <a:t>decoded_message</a:t>
            </a:r>
            <a:endParaRPr lang="en-US" sz="800" dirty="0"/>
          </a:p>
        </p:txBody>
      </p:sp>
      <p:sp>
        <p:nvSpPr>
          <p:cNvPr id="47" name="Terminator 46">
            <a:extLst>
              <a:ext uri="{FF2B5EF4-FFF2-40B4-BE49-F238E27FC236}">
                <a16:creationId xmlns:a16="http://schemas.microsoft.com/office/drawing/2014/main" id="{8017547D-F511-D085-0252-E034A3AFD092}"/>
              </a:ext>
            </a:extLst>
          </p:cNvPr>
          <p:cNvSpPr/>
          <p:nvPr/>
        </p:nvSpPr>
        <p:spPr>
          <a:xfrm>
            <a:off x="2930235" y="4922000"/>
            <a:ext cx="685800" cy="22631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Stop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56F65EE-D97F-E438-4ECD-B9EB4E87BBC2}"/>
              </a:ext>
            </a:extLst>
          </p:cNvPr>
          <p:cNvCxnSpPr>
            <a:stCxn id="8" idx="2"/>
            <a:endCxn id="11" idx="1"/>
          </p:cNvCxnSpPr>
          <p:nvPr/>
        </p:nvCxnSpPr>
        <p:spPr>
          <a:xfrm>
            <a:off x="5282630" y="2486939"/>
            <a:ext cx="0" cy="202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9E2E677-CF49-6B0D-90EA-523A9C3532CF}"/>
              </a:ext>
            </a:extLst>
          </p:cNvPr>
          <p:cNvCxnSpPr>
            <a:stCxn id="11" idx="4"/>
            <a:endCxn id="35" idx="0"/>
          </p:cNvCxnSpPr>
          <p:nvPr/>
        </p:nvCxnSpPr>
        <p:spPr>
          <a:xfrm>
            <a:off x="5282630" y="2996612"/>
            <a:ext cx="0" cy="202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53E45F8-56AD-7FCC-F404-D10BF3FAA4C1}"/>
              </a:ext>
            </a:extLst>
          </p:cNvPr>
          <p:cNvCxnSpPr>
            <a:stCxn id="35" idx="2"/>
            <a:endCxn id="17" idx="0"/>
          </p:cNvCxnSpPr>
          <p:nvPr/>
        </p:nvCxnSpPr>
        <p:spPr>
          <a:xfrm>
            <a:off x="5282631" y="3762723"/>
            <a:ext cx="0" cy="202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E02270D0-539E-7DBA-DDDB-8E27DB4670AF}"/>
              </a:ext>
            </a:extLst>
          </p:cNvPr>
          <p:cNvCxnSpPr>
            <a:endCxn id="41" idx="0"/>
          </p:cNvCxnSpPr>
          <p:nvPr/>
        </p:nvCxnSpPr>
        <p:spPr>
          <a:xfrm>
            <a:off x="5818040" y="4117354"/>
            <a:ext cx="2187358" cy="3757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72F97BA5-B9EC-24BE-2734-BDD036B27A2C}"/>
              </a:ext>
            </a:extLst>
          </p:cNvPr>
          <p:cNvCxnSpPr>
            <a:stCxn id="43" idx="3"/>
            <a:endCxn id="44" idx="0"/>
          </p:cNvCxnSpPr>
          <p:nvPr/>
        </p:nvCxnSpPr>
        <p:spPr>
          <a:xfrm>
            <a:off x="9835463" y="5124577"/>
            <a:ext cx="103205" cy="40513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51B6DB7-28A8-3928-FECF-B20EB68BB236}"/>
              </a:ext>
            </a:extLst>
          </p:cNvPr>
          <p:cNvCxnSpPr>
            <a:stCxn id="41" idx="2"/>
            <a:endCxn id="43" idx="0"/>
          </p:cNvCxnSpPr>
          <p:nvPr/>
        </p:nvCxnSpPr>
        <p:spPr>
          <a:xfrm>
            <a:off x="8005398" y="4719443"/>
            <a:ext cx="0" cy="202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94A453A5-D3C0-91BF-8A3E-A979DCB03DEB}"/>
              </a:ext>
            </a:extLst>
          </p:cNvPr>
          <p:cNvCxnSpPr>
            <a:stCxn id="43" idx="1"/>
            <a:endCxn id="45" idx="0"/>
          </p:cNvCxnSpPr>
          <p:nvPr/>
        </p:nvCxnSpPr>
        <p:spPr>
          <a:xfrm rot="10800000" flipV="1">
            <a:off x="5995898" y="5124576"/>
            <a:ext cx="179435" cy="10128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5698C213-5259-9F3E-EB64-539F733D45D8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rot="5400000">
            <a:off x="7866006" y="4064762"/>
            <a:ext cx="202555" cy="39427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879AE146-A473-3B3A-C50A-B378CB8BD18C}"/>
              </a:ext>
            </a:extLst>
          </p:cNvPr>
          <p:cNvCxnSpPr>
            <a:cxnSpLocks/>
            <a:stCxn id="45" idx="2"/>
            <a:endCxn id="17" idx="0"/>
          </p:cNvCxnSpPr>
          <p:nvPr/>
        </p:nvCxnSpPr>
        <p:spPr>
          <a:xfrm rot="5400000" flipH="1">
            <a:off x="4440035" y="4807875"/>
            <a:ext cx="2398460" cy="713268"/>
          </a:xfrm>
          <a:prstGeom prst="bentConnector5">
            <a:avLst>
              <a:gd name="adj1" fmla="val -5271"/>
              <a:gd name="adj2" fmla="val -851422"/>
              <a:gd name="adj3" fmla="val 1050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CBE6B193-6894-D34C-ABA9-07BBEFB3A285}"/>
              </a:ext>
            </a:extLst>
          </p:cNvPr>
          <p:cNvCxnSpPr>
            <a:cxnSpLocks/>
            <a:stCxn id="17" idx="1"/>
            <a:endCxn id="46" idx="1"/>
          </p:cNvCxnSpPr>
          <p:nvPr/>
        </p:nvCxnSpPr>
        <p:spPr>
          <a:xfrm rot="10800000" flipV="1">
            <a:off x="3273133" y="4127925"/>
            <a:ext cx="1474090" cy="3652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6BF9A41-59C5-63D9-FF60-1BC2EA7F300F}"/>
              </a:ext>
            </a:extLst>
          </p:cNvPr>
          <p:cNvSpPr txBox="1"/>
          <p:nvPr/>
        </p:nvSpPr>
        <p:spPr>
          <a:xfrm>
            <a:off x="5777863" y="3828885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6EAC6-168E-4ED6-2AD3-1278373391DF}"/>
              </a:ext>
            </a:extLst>
          </p:cNvPr>
          <p:cNvSpPr txBox="1"/>
          <p:nvPr/>
        </p:nvSpPr>
        <p:spPr>
          <a:xfrm>
            <a:off x="4460016" y="3863068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E4D86-55E9-95B8-A757-B06B86295138}"/>
              </a:ext>
            </a:extLst>
          </p:cNvPr>
          <p:cNvSpPr txBox="1"/>
          <p:nvPr/>
        </p:nvSpPr>
        <p:spPr>
          <a:xfrm>
            <a:off x="5883051" y="4857478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4CEA9-C176-9AF6-D25E-69C928D48BB0}"/>
              </a:ext>
            </a:extLst>
          </p:cNvPr>
          <p:cNvSpPr txBox="1"/>
          <p:nvPr/>
        </p:nvSpPr>
        <p:spPr>
          <a:xfrm>
            <a:off x="9709783" y="4840440"/>
            <a:ext cx="479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67F826-BDB4-D629-2110-8BEA82FB8078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>
            <a:off x="3273132" y="4719444"/>
            <a:ext cx="3" cy="202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74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434</TotalTime>
  <Words>532</Words>
  <Application>Microsoft Macintosh PowerPoint</Application>
  <PresentationFormat>Custom</PresentationFormat>
  <Paragraphs>102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6</cp:revision>
  <dcterms:created xsi:type="dcterms:W3CDTF">2025-11-30T19:03:59Z</dcterms:created>
  <dcterms:modified xsi:type="dcterms:W3CDTF">2025-12-07T23:58:32Z</dcterms:modified>
</cp:coreProperties>
</file>