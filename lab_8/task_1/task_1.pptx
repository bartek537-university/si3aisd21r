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6" r:id="rId1"/>
  </p:sldMasterIdLst>
  <p:sldIdLst>
    <p:sldId id="257" r:id="rId2"/>
  </p:sldIdLst>
  <p:sldSz cx="13716000" cy="1828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909"/>
    <p:restoredTop sz="94637"/>
  </p:normalViewPr>
  <p:slideViewPr>
    <p:cSldViewPr snapToGrid="0">
      <p:cViewPr>
        <p:scale>
          <a:sx n="128" d="100"/>
          <a:sy n="128" d="100"/>
        </p:scale>
        <p:origin x="2080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28700" y="2992968"/>
            <a:ext cx="11658600" cy="6366933"/>
          </a:xfrm>
        </p:spPr>
        <p:txBody>
          <a:bodyPr anchor="b"/>
          <a:lstStyle>
            <a:lvl1pPr algn="ctr">
              <a:defRPr sz="9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14500" y="9605435"/>
            <a:ext cx="10287000" cy="4415365"/>
          </a:xfrm>
        </p:spPr>
        <p:txBody>
          <a:bodyPr/>
          <a:lstStyle>
            <a:lvl1pPr marL="0" indent="0" algn="ctr">
              <a:buNone/>
              <a:defRPr sz="3600"/>
            </a:lvl1pPr>
            <a:lvl2pPr marL="685800" indent="0" algn="ctr">
              <a:buNone/>
              <a:defRPr sz="3000"/>
            </a:lvl2pPr>
            <a:lvl3pPr marL="1371600" indent="0" algn="ctr">
              <a:buNone/>
              <a:defRPr sz="2700"/>
            </a:lvl3pPr>
            <a:lvl4pPr marL="2057400" indent="0" algn="ctr">
              <a:buNone/>
              <a:defRPr sz="2400"/>
            </a:lvl4pPr>
            <a:lvl5pPr marL="2743200" indent="0" algn="ctr">
              <a:buNone/>
              <a:defRPr sz="2400"/>
            </a:lvl5pPr>
            <a:lvl6pPr marL="3429000" indent="0" algn="ctr">
              <a:buNone/>
              <a:defRPr sz="2400"/>
            </a:lvl6pPr>
            <a:lvl7pPr marL="4114800" indent="0" algn="ctr">
              <a:buNone/>
              <a:defRPr sz="2400"/>
            </a:lvl7pPr>
            <a:lvl8pPr marL="4800600" indent="0" algn="ctr">
              <a:buNone/>
              <a:defRPr sz="2400"/>
            </a:lvl8pPr>
            <a:lvl9pPr marL="5486400" indent="0" algn="ctr">
              <a:buNone/>
              <a:defRPr sz="24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20D1FC-2253-9541-B174-ECE369BAD33E}" type="datetimeFigureOut">
              <a:rPr lang="pl-PL" smtClean="0"/>
              <a:t>7.01.2026</a:t>
            </a:fld>
            <a:endParaRPr lang="pl-P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3955-F6F9-134B-AEA3-F38AFE87640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0795735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20D1FC-2253-9541-B174-ECE369BAD33E}" type="datetimeFigureOut">
              <a:rPr lang="pl-PL" smtClean="0"/>
              <a:t>7.01.2026</a:t>
            </a:fld>
            <a:endParaRPr lang="pl-P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3955-F6F9-134B-AEA3-F38AFE87640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1241578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5832" y="4559305"/>
            <a:ext cx="11830050" cy="7607299"/>
          </a:xfrm>
        </p:spPr>
        <p:txBody>
          <a:bodyPr anchor="b"/>
          <a:lstStyle>
            <a:lvl1pPr>
              <a:defRPr sz="9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35832" y="12238572"/>
            <a:ext cx="11830050" cy="4000499"/>
          </a:xfrm>
        </p:spPr>
        <p:txBody>
          <a:bodyPr/>
          <a:lstStyle>
            <a:lvl1pPr marL="0" indent="0">
              <a:buNone/>
              <a:defRPr sz="3600">
                <a:solidFill>
                  <a:schemeClr val="tx1">
                    <a:tint val="82000"/>
                  </a:schemeClr>
                </a:solidFill>
              </a:defRPr>
            </a:lvl1pPr>
            <a:lvl2pPr marL="685800" indent="0">
              <a:buNone/>
              <a:defRPr sz="3000">
                <a:solidFill>
                  <a:schemeClr val="tx1">
                    <a:tint val="82000"/>
                  </a:schemeClr>
                </a:solidFill>
              </a:defRPr>
            </a:lvl2pPr>
            <a:lvl3pPr marL="1371600" indent="0">
              <a:buNone/>
              <a:defRPr sz="2700">
                <a:solidFill>
                  <a:schemeClr val="tx1">
                    <a:tint val="82000"/>
                  </a:schemeClr>
                </a:solidFill>
              </a:defRPr>
            </a:lvl3pPr>
            <a:lvl4pPr marL="205740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4pPr>
            <a:lvl5pPr marL="274320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5pPr>
            <a:lvl6pPr marL="342900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6pPr>
            <a:lvl7pPr marL="411480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7pPr>
            <a:lvl8pPr marL="480060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8pPr>
            <a:lvl9pPr marL="548640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20D1FC-2253-9541-B174-ECE369BAD33E}" type="datetimeFigureOut">
              <a:rPr lang="pl-PL" smtClean="0"/>
              <a:t>7.01.2026</a:t>
            </a:fld>
            <a:endParaRPr lang="pl-P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3955-F6F9-134B-AEA3-F38AFE87640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8642530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42975" y="4868333"/>
            <a:ext cx="5829300" cy="116035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943725" y="4868333"/>
            <a:ext cx="5829300" cy="116035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20D1FC-2253-9541-B174-ECE369BAD33E}" type="datetimeFigureOut">
              <a:rPr lang="pl-PL" smtClean="0"/>
              <a:t>7.01.2026</a:t>
            </a:fld>
            <a:endParaRPr lang="pl-P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3955-F6F9-134B-AEA3-F38AFE87640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2115298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4761" y="973670"/>
            <a:ext cx="11830050" cy="353483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44763" y="4483101"/>
            <a:ext cx="5802510" cy="2197099"/>
          </a:xfrm>
        </p:spPr>
        <p:txBody>
          <a:bodyPr anchor="b"/>
          <a:lstStyle>
            <a:lvl1pPr marL="0" indent="0">
              <a:buNone/>
              <a:defRPr sz="3600" b="1"/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44763" y="6680200"/>
            <a:ext cx="5802510" cy="98255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943725" y="4483101"/>
            <a:ext cx="5831087" cy="2197099"/>
          </a:xfrm>
        </p:spPr>
        <p:txBody>
          <a:bodyPr anchor="b"/>
          <a:lstStyle>
            <a:lvl1pPr marL="0" indent="0">
              <a:buNone/>
              <a:defRPr sz="3600" b="1"/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943725" y="6680200"/>
            <a:ext cx="5831087" cy="98255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20D1FC-2253-9541-B174-ECE369BAD33E}" type="datetimeFigureOut">
              <a:rPr lang="pl-PL" smtClean="0"/>
              <a:t>7.01.2026</a:t>
            </a:fld>
            <a:endParaRPr lang="pl-P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3955-F6F9-134B-AEA3-F38AFE87640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6392360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20D1FC-2253-9541-B174-ECE369BAD33E}" type="datetimeFigureOut">
              <a:rPr lang="pl-PL" smtClean="0"/>
              <a:t>7.01.2026</a:t>
            </a:fld>
            <a:endParaRPr lang="pl-P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3955-F6F9-134B-AEA3-F38AFE87640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5996818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20D1FC-2253-9541-B174-ECE369BAD33E}" type="datetimeFigureOut">
              <a:rPr lang="pl-PL" smtClean="0"/>
              <a:t>7.01.2026</a:t>
            </a:fld>
            <a:endParaRPr lang="pl-P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3955-F6F9-134B-AEA3-F38AFE87640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5651579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4762" y="1219200"/>
            <a:ext cx="4423767" cy="4267200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31086" y="2633137"/>
            <a:ext cx="6943725" cy="12996333"/>
          </a:xfrm>
        </p:spPr>
        <p:txBody>
          <a:bodyPr/>
          <a:lstStyle>
            <a:lvl1pPr>
              <a:defRPr sz="4800"/>
            </a:lvl1pPr>
            <a:lvl2pPr>
              <a:defRPr sz="4200"/>
            </a:lvl2pPr>
            <a:lvl3pPr>
              <a:defRPr sz="3600"/>
            </a:lvl3pPr>
            <a:lvl4pPr>
              <a:defRPr sz="3000"/>
            </a:lvl4pPr>
            <a:lvl5pPr>
              <a:defRPr sz="3000"/>
            </a:lvl5pPr>
            <a:lvl6pPr>
              <a:defRPr sz="3000"/>
            </a:lvl6pPr>
            <a:lvl7pPr>
              <a:defRPr sz="3000"/>
            </a:lvl7pPr>
            <a:lvl8pPr>
              <a:defRPr sz="3000"/>
            </a:lvl8pPr>
            <a:lvl9pPr>
              <a:defRPr sz="3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44762" y="5486400"/>
            <a:ext cx="4423767" cy="10164235"/>
          </a:xfrm>
        </p:spPr>
        <p:txBody>
          <a:bodyPr/>
          <a:lstStyle>
            <a:lvl1pPr marL="0" indent="0">
              <a:buNone/>
              <a:defRPr sz="2400"/>
            </a:lvl1pPr>
            <a:lvl2pPr marL="685800" indent="0">
              <a:buNone/>
              <a:defRPr sz="2100"/>
            </a:lvl2pPr>
            <a:lvl3pPr marL="1371600" indent="0">
              <a:buNone/>
              <a:defRPr sz="1800"/>
            </a:lvl3pPr>
            <a:lvl4pPr marL="2057400" indent="0">
              <a:buNone/>
              <a:defRPr sz="1500"/>
            </a:lvl4pPr>
            <a:lvl5pPr marL="2743200" indent="0">
              <a:buNone/>
              <a:defRPr sz="1500"/>
            </a:lvl5pPr>
            <a:lvl6pPr marL="3429000" indent="0">
              <a:buNone/>
              <a:defRPr sz="1500"/>
            </a:lvl6pPr>
            <a:lvl7pPr marL="4114800" indent="0">
              <a:buNone/>
              <a:defRPr sz="1500"/>
            </a:lvl7pPr>
            <a:lvl8pPr marL="4800600" indent="0">
              <a:buNone/>
              <a:defRPr sz="1500"/>
            </a:lvl8pPr>
            <a:lvl9pPr marL="5486400" indent="0">
              <a:buNone/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20D1FC-2253-9541-B174-ECE369BAD33E}" type="datetimeFigureOut">
              <a:rPr lang="pl-PL" smtClean="0"/>
              <a:t>7.01.2026</a:t>
            </a:fld>
            <a:endParaRPr lang="pl-P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3955-F6F9-134B-AEA3-F38AFE87640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859349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4762" y="1219200"/>
            <a:ext cx="4423767" cy="4267200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831086" y="2633137"/>
            <a:ext cx="6943725" cy="12996333"/>
          </a:xfrm>
        </p:spPr>
        <p:txBody>
          <a:bodyPr anchor="t"/>
          <a:lstStyle>
            <a:lvl1pPr marL="0" indent="0">
              <a:buNone/>
              <a:defRPr sz="4800"/>
            </a:lvl1pPr>
            <a:lvl2pPr marL="685800" indent="0">
              <a:buNone/>
              <a:defRPr sz="4200"/>
            </a:lvl2pPr>
            <a:lvl3pPr marL="1371600" indent="0">
              <a:buNone/>
              <a:defRPr sz="3600"/>
            </a:lvl3pPr>
            <a:lvl4pPr marL="2057400" indent="0">
              <a:buNone/>
              <a:defRPr sz="3000"/>
            </a:lvl4pPr>
            <a:lvl5pPr marL="2743200" indent="0">
              <a:buNone/>
              <a:defRPr sz="3000"/>
            </a:lvl5pPr>
            <a:lvl6pPr marL="3429000" indent="0">
              <a:buNone/>
              <a:defRPr sz="3000"/>
            </a:lvl6pPr>
            <a:lvl7pPr marL="4114800" indent="0">
              <a:buNone/>
              <a:defRPr sz="3000"/>
            </a:lvl7pPr>
            <a:lvl8pPr marL="4800600" indent="0">
              <a:buNone/>
              <a:defRPr sz="3000"/>
            </a:lvl8pPr>
            <a:lvl9pPr marL="5486400" indent="0">
              <a:buNone/>
              <a:defRPr sz="3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44762" y="5486400"/>
            <a:ext cx="4423767" cy="10164235"/>
          </a:xfrm>
        </p:spPr>
        <p:txBody>
          <a:bodyPr/>
          <a:lstStyle>
            <a:lvl1pPr marL="0" indent="0">
              <a:buNone/>
              <a:defRPr sz="2400"/>
            </a:lvl1pPr>
            <a:lvl2pPr marL="685800" indent="0">
              <a:buNone/>
              <a:defRPr sz="2100"/>
            </a:lvl2pPr>
            <a:lvl3pPr marL="1371600" indent="0">
              <a:buNone/>
              <a:defRPr sz="1800"/>
            </a:lvl3pPr>
            <a:lvl4pPr marL="2057400" indent="0">
              <a:buNone/>
              <a:defRPr sz="1500"/>
            </a:lvl4pPr>
            <a:lvl5pPr marL="2743200" indent="0">
              <a:buNone/>
              <a:defRPr sz="1500"/>
            </a:lvl5pPr>
            <a:lvl6pPr marL="3429000" indent="0">
              <a:buNone/>
              <a:defRPr sz="1500"/>
            </a:lvl6pPr>
            <a:lvl7pPr marL="4114800" indent="0">
              <a:buNone/>
              <a:defRPr sz="1500"/>
            </a:lvl7pPr>
            <a:lvl8pPr marL="4800600" indent="0">
              <a:buNone/>
              <a:defRPr sz="1500"/>
            </a:lvl8pPr>
            <a:lvl9pPr marL="5486400" indent="0">
              <a:buNone/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20D1FC-2253-9541-B174-ECE369BAD33E}" type="datetimeFigureOut">
              <a:rPr lang="pl-PL" smtClean="0"/>
              <a:t>7.01.2026</a:t>
            </a:fld>
            <a:endParaRPr lang="pl-P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3955-F6F9-134B-AEA3-F38AFE87640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3963249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20D1FC-2253-9541-B174-ECE369BAD33E}" type="datetimeFigureOut">
              <a:rPr lang="pl-PL" smtClean="0"/>
              <a:t>7.01.2026</a:t>
            </a:fld>
            <a:endParaRPr lang="pl-P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3955-F6F9-134B-AEA3-F38AFE87640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6759644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815513" y="973666"/>
            <a:ext cx="2957513" cy="1549823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42976" y="973666"/>
            <a:ext cx="8701088" cy="1549823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20D1FC-2253-9541-B174-ECE369BAD33E}" type="datetimeFigureOut">
              <a:rPr lang="pl-PL" smtClean="0"/>
              <a:t>7.01.2026</a:t>
            </a:fld>
            <a:endParaRPr lang="pl-P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3955-F6F9-134B-AEA3-F38AFE87640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9187385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42975" y="973670"/>
            <a:ext cx="11830050" cy="35348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42975" y="4868333"/>
            <a:ext cx="11830050" cy="1160356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42975" y="16950271"/>
            <a:ext cx="3086100" cy="9736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620D1FC-2253-9541-B174-ECE369BAD33E}" type="datetimeFigureOut">
              <a:rPr lang="pl-PL" smtClean="0"/>
              <a:t>7.01.2026</a:t>
            </a:fld>
            <a:endParaRPr lang="pl-P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43425" y="16950271"/>
            <a:ext cx="4629150" cy="9736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l-P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686925" y="16950271"/>
            <a:ext cx="3086100" cy="9736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3B83955-F6F9-134B-AEA3-F38AFE87640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8817972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1371600" rtl="0" eaLnBrk="1" latinLnBrk="0" hangingPunct="1">
        <a:lnSpc>
          <a:spcPct val="90000"/>
        </a:lnSpc>
        <a:spcBef>
          <a:spcPct val="0"/>
        </a:spcBef>
        <a:buNone/>
        <a:defRPr sz="6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1371600" rtl="0" eaLnBrk="1" latinLnBrk="0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sz="4200" kern="1200">
          <a:solidFill>
            <a:schemeClr val="tx1"/>
          </a:solidFill>
          <a:latin typeface="+mn-lt"/>
          <a:ea typeface="+mn-ea"/>
          <a:cs typeface="+mn-cs"/>
        </a:defRPr>
      </a:lvl1pPr>
      <a:lvl2pPr marL="10287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7145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3000" kern="1200">
          <a:solidFill>
            <a:schemeClr val="tx1"/>
          </a:solidFill>
          <a:latin typeface="+mn-lt"/>
          <a:ea typeface="+mn-ea"/>
          <a:cs typeface="+mn-cs"/>
        </a:defRPr>
      </a:lvl3pPr>
      <a:lvl4pPr marL="24003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30861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7719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4577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51435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8293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3pPr>
      <a:lvl4pPr marL="20574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4290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1148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8006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4864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C41727B-FEF8-44B3-37B7-3FF4765D230B}"/>
              </a:ext>
            </a:extLst>
          </p:cNvPr>
          <p:cNvSpPr txBox="1"/>
          <p:nvPr/>
        </p:nvSpPr>
        <p:spPr>
          <a:xfrm>
            <a:off x="260179" y="321506"/>
            <a:ext cx="1292020" cy="3462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165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Zadanie 8.1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A008E97-840D-F703-3F7B-50A11CE6F3E5}"/>
              </a:ext>
            </a:extLst>
          </p:cNvPr>
          <p:cNvSpPr txBox="1"/>
          <p:nvPr/>
        </p:nvSpPr>
        <p:spPr>
          <a:xfrm>
            <a:off x="260182" y="661775"/>
            <a:ext cx="181511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dirty="0"/>
              <a:t>Algorytm genetyczny.</a:t>
            </a:r>
          </a:p>
        </p:txBody>
      </p:sp>
      <p:sp>
        <p:nvSpPr>
          <p:cNvPr id="6" name="Terminator 5">
            <a:extLst>
              <a:ext uri="{FF2B5EF4-FFF2-40B4-BE49-F238E27FC236}">
                <a16:creationId xmlns:a16="http://schemas.microsoft.com/office/drawing/2014/main" id="{E402C046-98F0-65EE-8D76-B5C679C100EC}"/>
              </a:ext>
            </a:extLst>
          </p:cNvPr>
          <p:cNvSpPr/>
          <p:nvPr/>
        </p:nvSpPr>
        <p:spPr>
          <a:xfrm>
            <a:off x="4462375" y="4768598"/>
            <a:ext cx="685800" cy="226314"/>
          </a:xfrm>
          <a:prstGeom prst="flowChartTerminator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900" dirty="0"/>
              <a:t>Start</a:t>
            </a:r>
          </a:p>
        </p:txBody>
      </p:sp>
      <p:sp>
        <p:nvSpPr>
          <p:cNvPr id="7" name="Data 6">
            <a:extLst>
              <a:ext uri="{FF2B5EF4-FFF2-40B4-BE49-F238E27FC236}">
                <a16:creationId xmlns:a16="http://schemas.microsoft.com/office/drawing/2014/main" id="{B8A4C49B-7550-489B-FB16-6D52D32C7784}"/>
              </a:ext>
            </a:extLst>
          </p:cNvPr>
          <p:cNvSpPr/>
          <p:nvPr/>
        </p:nvSpPr>
        <p:spPr>
          <a:xfrm>
            <a:off x="2682866" y="5245197"/>
            <a:ext cx="4244825" cy="641800"/>
          </a:xfrm>
          <a:prstGeom prst="flowChartInputOutpu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en-US" sz="900" dirty="0" err="1"/>
              <a:t>Wczytaj</a:t>
            </a:r>
            <a:r>
              <a:rPr lang="en-US" sz="900" dirty="0"/>
              <a:t> </a:t>
            </a:r>
            <a:r>
              <a:rPr lang="en-US" sz="900" dirty="0" err="1"/>
              <a:t>parametry</a:t>
            </a:r>
            <a:r>
              <a:rPr lang="en-US" sz="900" dirty="0"/>
              <a:t> </a:t>
            </a:r>
            <a:r>
              <a:rPr lang="en-US" sz="900" i="1" dirty="0" err="1"/>
              <a:t>population_size</a:t>
            </a:r>
            <a:r>
              <a:rPr lang="en-US" sz="900" dirty="0"/>
              <a:t>, </a:t>
            </a:r>
            <a:r>
              <a:rPr lang="en-US" sz="900" i="1" dirty="0" err="1"/>
              <a:t>iteration_count</a:t>
            </a:r>
            <a:r>
              <a:rPr lang="en-US" sz="900" dirty="0"/>
              <a:t>,</a:t>
            </a:r>
          </a:p>
          <a:p>
            <a:pPr algn="ctr"/>
            <a:r>
              <a:rPr lang="en-US" sz="900" i="1" dirty="0" err="1"/>
              <a:t>mutation_probability</a:t>
            </a:r>
            <a:r>
              <a:rPr lang="en-US" sz="900" dirty="0"/>
              <a:t> </a:t>
            </a:r>
            <a:r>
              <a:rPr lang="en-US" sz="900" dirty="0" err="1"/>
              <a:t>i</a:t>
            </a:r>
            <a:r>
              <a:rPr lang="en-US" sz="900" dirty="0"/>
              <a:t> </a:t>
            </a:r>
            <a:r>
              <a:rPr lang="en-US" sz="900" i="1" dirty="0" err="1"/>
              <a:t>crossover_probability</a:t>
            </a:r>
            <a:endParaRPr lang="en-US" sz="900" i="1" dirty="0"/>
          </a:p>
          <a:p>
            <a:pPr algn="ctr"/>
            <a:r>
              <a:rPr lang="en-US" sz="900" dirty="0" err="1"/>
              <a:t>oraz</a:t>
            </a:r>
            <a:r>
              <a:rPr lang="en-US" sz="900" dirty="0"/>
              <a:t> </a:t>
            </a:r>
            <a:r>
              <a:rPr lang="en-US" sz="900" dirty="0" err="1"/>
              <a:t>funkcję</a:t>
            </a:r>
            <a:r>
              <a:rPr lang="en-US" sz="900" dirty="0"/>
              <a:t> </a:t>
            </a:r>
            <a:r>
              <a:rPr lang="en-US" sz="900" dirty="0" err="1"/>
              <a:t>celu</a:t>
            </a:r>
            <a:r>
              <a:rPr lang="en-US" sz="900" dirty="0"/>
              <a:t> do </a:t>
            </a:r>
            <a:r>
              <a:rPr lang="en-US" sz="900" dirty="0" err="1"/>
              <a:t>minimalizacji</a:t>
            </a:r>
            <a:r>
              <a:rPr lang="en-US" sz="900" dirty="0"/>
              <a:t> </a:t>
            </a:r>
            <a:r>
              <a:rPr lang="en-US" sz="900" i="1" dirty="0" err="1"/>
              <a:t>cost_function</a:t>
            </a:r>
            <a:br>
              <a:rPr lang="en-US" sz="900" i="1" dirty="0"/>
            </a:br>
            <a:r>
              <a:rPr lang="en-US" sz="900" dirty="0" err="1"/>
              <a:t>i</a:t>
            </a:r>
            <a:r>
              <a:rPr lang="en-US" sz="900" dirty="0"/>
              <a:t> </a:t>
            </a:r>
            <a:r>
              <a:rPr lang="en-US" sz="900" i="1" dirty="0" err="1"/>
              <a:t>badany</a:t>
            </a:r>
            <a:r>
              <a:rPr lang="en-US" sz="900" i="1" dirty="0"/>
              <a:t> </a:t>
            </a:r>
            <a:r>
              <a:rPr lang="en-US" sz="900" i="1" dirty="0" err="1"/>
              <a:t>obszar</a:t>
            </a:r>
            <a:r>
              <a:rPr lang="en-US" sz="900" i="1" dirty="0"/>
              <a:t> </a:t>
            </a:r>
            <a:r>
              <a:rPr lang="en-US" sz="900" dirty="0"/>
              <a:t>domain</a:t>
            </a:r>
          </a:p>
        </p:txBody>
      </p:sp>
      <p:sp>
        <p:nvSpPr>
          <p:cNvPr id="11" name="Process 10">
            <a:extLst>
              <a:ext uri="{FF2B5EF4-FFF2-40B4-BE49-F238E27FC236}">
                <a16:creationId xmlns:a16="http://schemas.microsoft.com/office/drawing/2014/main" id="{857AD6E5-352F-8CCC-60B3-468DFF87EDD0}"/>
              </a:ext>
            </a:extLst>
          </p:cNvPr>
          <p:cNvSpPr/>
          <p:nvPr/>
        </p:nvSpPr>
        <p:spPr>
          <a:xfrm>
            <a:off x="4129041" y="6137282"/>
            <a:ext cx="1352468" cy="325296"/>
          </a:xfrm>
          <a:prstGeom prst="flowChart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l-PL" sz="900" i="1" dirty="0" err="1"/>
              <a:t>population</a:t>
            </a:r>
            <a:r>
              <a:rPr lang="pl-PL" sz="900" dirty="0"/>
              <a:t> ← pusta lista</a:t>
            </a:r>
          </a:p>
          <a:p>
            <a:pPr algn="ctr"/>
            <a:r>
              <a:rPr lang="pl-PL" sz="900" i="1" dirty="0"/>
              <a:t>i</a:t>
            </a:r>
            <a:r>
              <a:rPr lang="pl-PL" sz="900" dirty="0"/>
              <a:t> ← 0</a:t>
            </a:r>
          </a:p>
        </p:txBody>
      </p:sp>
      <p:sp>
        <p:nvSpPr>
          <p:cNvPr id="16" name="Decision 15">
            <a:extLst>
              <a:ext uri="{FF2B5EF4-FFF2-40B4-BE49-F238E27FC236}">
                <a16:creationId xmlns:a16="http://schemas.microsoft.com/office/drawing/2014/main" id="{7B51DAD2-EE0C-CC50-1A99-CDEACF588BF6}"/>
              </a:ext>
            </a:extLst>
          </p:cNvPr>
          <p:cNvSpPr/>
          <p:nvPr/>
        </p:nvSpPr>
        <p:spPr>
          <a:xfrm>
            <a:off x="4096135" y="6712866"/>
            <a:ext cx="1418287" cy="371725"/>
          </a:xfrm>
          <a:prstGeom prst="flowChartDecision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pl-PL" sz="900" i="1" dirty="0"/>
              <a:t>i</a:t>
            </a:r>
            <a:r>
              <a:rPr lang="pl-PL" sz="900" dirty="0"/>
              <a:t> &lt; </a:t>
            </a:r>
            <a:r>
              <a:rPr lang="pl-PL" sz="900" i="1" dirty="0" err="1"/>
              <a:t>population_size</a:t>
            </a:r>
            <a:endParaRPr lang="pl-PL" sz="900" i="1" dirty="0"/>
          </a:p>
        </p:txBody>
      </p:sp>
      <p:sp>
        <p:nvSpPr>
          <p:cNvPr id="18" name="Process 17">
            <a:extLst>
              <a:ext uri="{FF2B5EF4-FFF2-40B4-BE49-F238E27FC236}">
                <a16:creationId xmlns:a16="http://schemas.microsoft.com/office/drawing/2014/main" id="{6A7FF69F-0BC3-DF5D-7416-8894351C890F}"/>
              </a:ext>
            </a:extLst>
          </p:cNvPr>
          <p:cNvSpPr/>
          <p:nvPr/>
        </p:nvSpPr>
        <p:spPr>
          <a:xfrm>
            <a:off x="5514422" y="7334873"/>
            <a:ext cx="2687161" cy="416480"/>
          </a:xfrm>
          <a:prstGeom prst="flowChart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l-PL" sz="900" i="1" dirty="0" err="1"/>
              <a:t>chromosome</a:t>
            </a:r>
            <a:r>
              <a:rPr lang="pl-PL" sz="900" dirty="0"/>
              <a:t> ← losowy punkt w badanym obszarze</a:t>
            </a:r>
          </a:p>
          <a:p>
            <a:pPr algn="ctr"/>
            <a:r>
              <a:rPr lang="pl-PL" sz="900" dirty="0"/>
              <a:t>Dodaj </a:t>
            </a:r>
            <a:r>
              <a:rPr lang="pl-PL" sz="900" i="1" dirty="0" err="1"/>
              <a:t>chromosome</a:t>
            </a:r>
            <a:r>
              <a:rPr lang="pl-PL" sz="900" dirty="0"/>
              <a:t> do listy </a:t>
            </a:r>
            <a:r>
              <a:rPr lang="pl-PL" sz="900" i="1" dirty="0" err="1"/>
              <a:t>population</a:t>
            </a:r>
            <a:endParaRPr lang="pl-PL" sz="900" i="1" dirty="0"/>
          </a:p>
          <a:p>
            <a:pPr algn="ctr"/>
            <a:r>
              <a:rPr lang="pl-PL" sz="900" i="1" dirty="0"/>
              <a:t>i</a:t>
            </a:r>
            <a:r>
              <a:rPr lang="pl-PL" sz="900" dirty="0"/>
              <a:t> ← </a:t>
            </a:r>
            <a:r>
              <a:rPr lang="pl-PL" sz="900" i="1" dirty="0"/>
              <a:t>i</a:t>
            </a:r>
            <a:r>
              <a:rPr lang="pl-PL" sz="900" dirty="0"/>
              <a:t> + 1</a:t>
            </a:r>
          </a:p>
        </p:txBody>
      </p:sp>
      <p:sp>
        <p:nvSpPr>
          <p:cNvPr id="25" name="Process 24">
            <a:extLst>
              <a:ext uri="{FF2B5EF4-FFF2-40B4-BE49-F238E27FC236}">
                <a16:creationId xmlns:a16="http://schemas.microsoft.com/office/drawing/2014/main" id="{5630E8EF-ABF3-0D9D-D741-577DFB2DD08B}"/>
              </a:ext>
            </a:extLst>
          </p:cNvPr>
          <p:cNvSpPr/>
          <p:nvPr/>
        </p:nvSpPr>
        <p:spPr>
          <a:xfrm>
            <a:off x="2557101" y="8001638"/>
            <a:ext cx="1922053" cy="698476"/>
          </a:xfrm>
          <a:prstGeom prst="flowChart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l-PL" sz="900" i="1" dirty="0" err="1"/>
              <a:t>costs</a:t>
            </a:r>
            <a:r>
              <a:rPr lang="pl-PL" sz="900" dirty="0"/>
              <a:t> ← pusta lista</a:t>
            </a:r>
          </a:p>
          <a:p>
            <a:pPr algn="ctr"/>
            <a:r>
              <a:rPr lang="pl-PL" sz="900" i="1" dirty="0" err="1"/>
              <a:t>offspring</a:t>
            </a:r>
            <a:r>
              <a:rPr lang="pl-PL" sz="900" dirty="0"/>
              <a:t> ← pusta lista</a:t>
            </a:r>
          </a:p>
          <a:p>
            <a:pPr algn="ctr"/>
            <a:r>
              <a:rPr lang="pl-PL" sz="900" i="1" dirty="0" err="1"/>
              <a:t>best_chromosome</a:t>
            </a:r>
            <a:r>
              <a:rPr lang="pl-PL" sz="900" dirty="0"/>
              <a:t> ← </a:t>
            </a:r>
            <a:r>
              <a:rPr lang="pl-PL" sz="900" dirty="0" err="1"/>
              <a:t>population</a:t>
            </a:r>
            <a:r>
              <a:rPr lang="pl-PL" sz="900" dirty="0"/>
              <a:t>[0]</a:t>
            </a:r>
          </a:p>
          <a:p>
            <a:pPr algn="ctr"/>
            <a:r>
              <a:rPr lang="pl-PL" sz="900" dirty="0" err="1"/>
              <a:t>lowest_cost</a:t>
            </a:r>
            <a:r>
              <a:rPr lang="pl-PL" sz="900" dirty="0"/>
              <a:t> ← ∞</a:t>
            </a:r>
          </a:p>
          <a:p>
            <a:pPr algn="ctr"/>
            <a:r>
              <a:rPr lang="pl-PL" sz="900" i="1" dirty="0"/>
              <a:t>i</a:t>
            </a:r>
            <a:r>
              <a:rPr lang="pl-PL" sz="900" dirty="0"/>
              <a:t> ← 0</a:t>
            </a:r>
          </a:p>
        </p:txBody>
      </p:sp>
      <p:sp>
        <p:nvSpPr>
          <p:cNvPr id="82" name="Terminator 81">
            <a:extLst>
              <a:ext uri="{FF2B5EF4-FFF2-40B4-BE49-F238E27FC236}">
                <a16:creationId xmlns:a16="http://schemas.microsoft.com/office/drawing/2014/main" id="{5C01754E-C1AB-7C72-655A-BD3BE003F26E}"/>
              </a:ext>
            </a:extLst>
          </p:cNvPr>
          <p:cNvSpPr/>
          <p:nvPr/>
        </p:nvSpPr>
        <p:spPr>
          <a:xfrm>
            <a:off x="1191679" y="10118341"/>
            <a:ext cx="685800" cy="226314"/>
          </a:xfrm>
          <a:prstGeom prst="flowChartTerminator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900" dirty="0"/>
              <a:t>Stop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20158DD9-8B52-51A3-4602-46B061FD2092}"/>
              </a:ext>
            </a:extLst>
          </p:cNvPr>
          <p:cNvSpPr txBox="1"/>
          <p:nvPr/>
        </p:nvSpPr>
        <p:spPr>
          <a:xfrm>
            <a:off x="5481512" y="6605059"/>
            <a:ext cx="53020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1400" dirty="0"/>
              <a:t>tak</a:t>
            </a:r>
          </a:p>
        </p:txBody>
      </p:sp>
      <p:sp>
        <p:nvSpPr>
          <p:cNvPr id="93" name="Data 92">
            <a:extLst>
              <a:ext uri="{FF2B5EF4-FFF2-40B4-BE49-F238E27FC236}">
                <a16:creationId xmlns:a16="http://schemas.microsoft.com/office/drawing/2014/main" id="{15ECB157-D702-9AB1-E54A-77C4F1674781}"/>
              </a:ext>
            </a:extLst>
          </p:cNvPr>
          <p:cNvSpPr/>
          <p:nvPr/>
        </p:nvSpPr>
        <p:spPr>
          <a:xfrm>
            <a:off x="260182" y="9572409"/>
            <a:ext cx="2548801" cy="295658"/>
          </a:xfrm>
          <a:prstGeom prst="flowChartInputOutpu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900" dirty="0" err="1"/>
              <a:t>Wypisz</a:t>
            </a:r>
            <a:r>
              <a:rPr lang="en-US" sz="900" dirty="0"/>
              <a:t> </a:t>
            </a:r>
            <a:r>
              <a:rPr lang="en-US" sz="900" i="1" dirty="0" err="1"/>
              <a:t>best_chromosome</a:t>
            </a:r>
            <a:r>
              <a:rPr lang="en-US" sz="900" dirty="0"/>
              <a:t> </a:t>
            </a:r>
            <a:r>
              <a:rPr lang="en-US" sz="900" dirty="0" err="1"/>
              <a:t>oraz</a:t>
            </a:r>
            <a:r>
              <a:rPr lang="en-US" sz="900" dirty="0"/>
              <a:t> </a:t>
            </a:r>
            <a:r>
              <a:rPr lang="en-US" sz="900" i="1" dirty="0" err="1"/>
              <a:t>lowest_cost</a:t>
            </a:r>
            <a:endParaRPr lang="en-US" sz="900" i="1" dirty="0"/>
          </a:p>
        </p:txBody>
      </p:sp>
      <p:sp>
        <p:nvSpPr>
          <p:cNvPr id="2" name="Decision 1">
            <a:extLst>
              <a:ext uri="{FF2B5EF4-FFF2-40B4-BE49-F238E27FC236}">
                <a16:creationId xmlns:a16="http://schemas.microsoft.com/office/drawing/2014/main" id="{9C39F806-8D0A-17FF-BE1D-2D4F172ACA1F}"/>
              </a:ext>
            </a:extLst>
          </p:cNvPr>
          <p:cNvSpPr/>
          <p:nvPr/>
        </p:nvSpPr>
        <p:spPr>
          <a:xfrm>
            <a:off x="2808984" y="8950402"/>
            <a:ext cx="1418287" cy="371725"/>
          </a:xfrm>
          <a:prstGeom prst="flowChartDecision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pl-PL" sz="900" i="1" dirty="0"/>
              <a:t>i</a:t>
            </a:r>
            <a:r>
              <a:rPr lang="pl-PL" sz="900" dirty="0"/>
              <a:t> &lt; </a:t>
            </a:r>
            <a:r>
              <a:rPr lang="pl-PL" sz="900" i="1" dirty="0" err="1"/>
              <a:t>iteration_count</a:t>
            </a:r>
            <a:endParaRPr lang="pl-PL" sz="900" i="1" dirty="0"/>
          </a:p>
        </p:txBody>
      </p:sp>
      <p:sp>
        <p:nvSpPr>
          <p:cNvPr id="3" name="Process 2">
            <a:extLst>
              <a:ext uri="{FF2B5EF4-FFF2-40B4-BE49-F238E27FC236}">
                <a16:creationId xmlns:a16="http://schemas.microsoft.com/office/drawing/2014/main" id="{A5844513-4448-9C8B-B279-88217B1DE177}"/>
              </a:ext>
            </a:extLst>
          </p:cNvPr>
          <p:cNvSpPr/>
          <p:nvPr/>
        </p:nvSpPr>
        <p:spPr>
          <a:xfrm>
            <a:off x="5005634" y="9572409"/>
            <a:ext cx="1922054" cy="416480"/>
          </a:xfrm>
          <a:prstGeom prst="flowChart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l-PL" sz="900" dirty="0"/>
              <a:t>Wyczyść zawartość listy </a:t>
            </a:r>
            <a:r>
              <a:rPr lang="pl-PL" sz="900" i="1" dirty="0" err="1"/>
              <a:t>costs</a:t>
            </a:r>
            <a:endParaRPr lang="pl-PL" sz="900" i="1" dirty="0"/>
          </a:p>
          <a:p>
            <a:pPr algn="ctr"/>
            <a:r>
              <a:rPr lang="pl-PL" sz="900" dirty="0"/>
              <a:t>Wyczyść zawartość listy </a:t>
            </a:r>
            <a:r>
              <a:rPr lang="pl-PL" sz="900" i="1" dirty="0" err="1"/>
              <a:t>offspring</a:t>
            </a:r>
            <a:endParaRPr lang="pl-PL" sz="900" i="1" dirty="0"/>
          </a:p>
          <a:p>
            <a:pPr algn="ctr"/>
            <a:r>
              <a:rPr lang="pl-PL" sz="900" i="1" dirty="0"/>
              <a:t>p</a:t>
            </a:r>
            <a:r>
              <a:rPr lang="pl-PL" sz="900" dirty="0"/>
              <a:t> ← 0</a:t>
            </a:r>
          </a:p>
        </p:txBody>
      </p:sp>
      <p:sp>
        <p:nvSpPr>
          <p:cNvPr id="8" name="Decision 7">
            <a:extLst>
              <a:ext uri="{FF2B5EF4-FFF2-40B4-BE49-F238E27FC236}">
                <a16:creationId xmlns:a16="http://schemas.microsoft.com/office/drawing/2014/main" id="{A5C429E3-D00C-2AA2-1BCC-0A8F184ED4C9}"/>
              </a:ext>
            </a:extLst>
          </p:cNvPr>
          <p:cNvSpPr/>
          <p:nvPr/>
        </p:nvSpPr>
        <p:spPr>
          <a:xfrm>
            <a:off x="5005638" y="10239177"/>
            <a:ext cx="1922053" cy="371725"/>
          </a:xfrm>
          <a:prstGeom prst="flowChartDecision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pl-PL" sz="900" i="1" dirty="0"/>
              <a:t>p</a:t>
            </a:r>
            <a:r>
              <a:rPr lang="pl-PL" sz="900" dirty="0"/>
              <a:t> &lt; długość </a:t>
            </a:r>
            <a:r>
              <a:rPr lang="pl-PL" sz="900" dirty="0" err="1"/>
              <a:t>population</a:t>
            </a:r>
            <a:endParaRPr lang="pl-PL" sz="900" i="1" dirty="0"/>
          </a:p>
        </p:txBody>
      </p:sp>
      <p:sp>
        <p:nvSpPr>
          <p:cNvPr id="9" name="Process 8">
            <a:extLst>
              <a:ext uri="{FF2B5EF4-FFF2-40B4-BE49-F238E27FC236}">
                <a16:creationId xmlns:a16="http://schemas.microsoft.com/office/drawing/2014/main" id="{4E00A84F-68B2-16D9-631D-01A21DAFB9B6}"/>
              </a:ext>
            </a:extLst>
          </p:cNvPr>
          <p:cNvSpPr/>
          <p:nvPr/>
        </p:nvSpPr>
        <p:spPr>
          <a:xfrm>
            <a:off x="6927688" y="10861184"/>
            <a:ext cx="2015724" cy="310698"/>
          </a:xfrm>
          <a:prstGeom prst="flowChart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l-PL" sz="900" i="1" dirty="0" err="1"/>
              <a:t>chromosome</a:t>
            </a:r>
            <a:r>
              <a:rPr lang="pl-PL" sz="900" dirty="0"/>
              <a:t> ← </a:t>
            </a:r>
            <a:r>
              <a:rPr lang="pl-PL" sz="900" i="1" dirty="0" err="1"/>
              <a:t>population</a:t>
            </a:r>
            <a:r>
              <a:rPr lang="pl-PL" sz="900" dirty="0"/>
              <a:t>[</a:t>
            </a:r>
            <a:r>
              <a:rPr lang="pl-PL" sz="900" i="1" dirty="0"/>
              <a:t>p</a:t>
            </a:r>
            <a:r>
              <a:rPr lang="pl-PL" sz="900" dirty="0"/>
              <a:t>]</a:t>
            </a:r>
          </a:p>
          <a:p>
            <a:pPr algn="ctr"/>
            <a:r>
              <a:rPr lang="pl-PL" sz="900" i="1" dirty="0" err="1"/>
              <a:t>cost</a:t>
            </a:r>
            <a:r>
              <a:rPr lang="pl-PL" sz="900" dirty="0"/>
              <a:t> ← </a:t>
            </a:r>
            <a:r>
              <a:rPr lang="pl-PL" sz="900" i="1" dirty="0" err="1"/>
              <a:t>cost_function</a:t>
            </a:r>
            <a:r>
              <a:rPr lang="pl-PL" sz="900" dirty="0"/>
              <a:t>(</a:t>
            </a:r>
            <a:r>
              <a:rPr lang="pl-PL" sz="900" i="1" dirty="0" err="1"/>
              <a:t>chromosome</a:t>
            </a:r>
            <a:r>
              <a:rPr lang="pl-PL" sz="900" dirty="0"/>
              <a:t>)</a:t>
            </a:r>
          </a:p>
        </p:txBody>
      </p:sp>
      <p:sp>
        <p:nvSpPr>
          <p:cNvPr id="10" name="Decision 9">
            <a:extLst>
              <a:ext uri="{FF2B5EF4-FFF2-40B4-BE49-F238E27FC236}">
                <a16:creationId xmlns:a16="http://schemas.microsoft.com/office/drawing/2014/main" id="{E19AE10D-CA89-46E3-10D1-2B21E1BE0536}"/>
              </a:ext>
            </a:extLst>
          </p:cNvPr>
          <p:cNvSpPr/>
          <p:nvPr/>
        </p:nvSpPr>
        <p:spPr>
          <a:xfrm>
            <a:off x="7226410" y="11422170"/>
            <a:ext cx="1418287" cy="371725"/>
          </a:xfrm>
          <a:prstGeom prst="flowChartDecision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pl-PL" sz="900" i="1" dirty="0" err="1"/>
              <a:t>cost</a:t>
            </a:r>
            <a:r>
              <a:rPr lang="pl-PL" sz="900" dirty="0"/>
              <a:t> &lt; </a:t>
            </a:r>
            <a:r>
              <a:rPr lang="pl-PL" sz="900" i="1" dirty="0" err="1"/>
              <a:t>lowest_cost</a:t>
            </a:r>
            <a:endParaRPr lang="pl-PL" sz="900" i="1" dirty="0"/>
          </a:p>
        </p:txBody>
      </p:sp>
      <p:sp>
        <p:nvSpPr>
          <p:cNvPr id="12" name="Process 11">
            <a:extLst>
              <a:ext uri="{FF2B5EF4-FFF2-40B4-BE49-F238E27FC236}">
                <a16:creationId xmlns:a16="http://schemas.microsoft.com/office/drawing/2014/main" id="{5221EA38-B9A3-9FB3-86BD-ACA776886161}"/>
              </a:ext>
            </a:extLst>
          </p:cNvPr>
          <p:cNvSpPr/>
          <p:nvPr/>
        </p:nvSpPr>
        <p:spPr>
          <a:xfrm>
            <a:off x="8644697" y="12044180"/>
            <a:ext cx="1922053" cy="310699"/>
          </a:xfrm>
          <a:prstGeom prst="flowChart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l-PL" sz="900" i="1" dirty="0" err="1"/>
              <a:t>best_chromosome</a:t>
            </a:r>
            <a:r>
              <a:rPr lang="pl-PL" sz="900" dirty="0"/>
              <a:t> ← </a:t>
            </a:r>
            <a:r>
              <a:rPr lang="pl-PL" sz="900" i="1" dirty="0" err="1"/>
              <a:t>chromosome</a:t>
            </a:r>
            <a:endParaRPr lang="pl-PL" sz="900" i="1" dirty="0"/>
          </a:p>
          <a:p>
            <a:pPr algn="ctr"/>
            <a:r>
              <a:rPr lang="pl-PL" sz="900" i="1" dirty="0" err="1"/>
              <a:t>lowest_cost</a:t>
            </a:r>
            <a:r>
              <a:rPr lang="pl-PL" sz="900" dirty="0"/>
              <a:t> ← </a:t>
            </a:r>
            <a:r>
              <a:rPr lang="pl-PL" sz="900" i="1" dirty="0" err="1"/>
              <a:t>cost</a:t>
            </a:r>
            <a:endParaRPr lang="pl-PL" sz="900" i="1" dirty="0"/>
          </a:p>
        </p:txBody>
      </p:sp>
      <p:sp>
        <p:nvSpPr>
          <p:cNvPr id="13" name="Process 12">
            <a:extLst>
              <a:ext uri="{FF2B5EF4-FFF2-40B4-BE49-F238E27FC236}">
                <a16:creationId xmlns:a16="http://schemas.microsoft.com/office/drawing/2014/main" id="{D3784AF7-021F-C8EA-D1D2-47A17EA14B7D}"/>
              </a:ext>
            </a:extLst>
          </p:cNvPr>
          <p:cNvSpPr/>
          <p:nvPr/>
        </p:nvSpPr>
        <p:spPr>
          <a:xfrm>
            <a:off x="7600416" y="12605161"/>
            <a:ext cx="670268" cy="225556"/>
          </a:xfrm>
          <a:prstGeom prst="flowChart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l-PL" sz="900" i="1" dirty="0"/>
              <a:t>p</a:t>
            </a:r>
            <a:r>
              <a:rPr lang="pl-PL" sz="900" dirty="0"/>
              <a:t> ← </a:t>
            </a:r>
            <a:r>
              <a:rPr lang="pl-PL" sz="900" i="1" dirty="0"/>
              <a:t>p</a:t>
            </a:r>
            <a:r>
              <a:rPr lang="pl-PL" sz="900" dirty="0"/>
              <a:t> + 1</a:t>
            </a:r>
            <a:endParaRPr lang="pl-PL" sz="900" i="1" dirty="0"/>
          </a:p>
        </p:txBody>
      </p:sp>
      <p:sp>
        <p:nvSpPr>
          <p:cNvPr id="14" name="Decision 13">
            <a:extLst>
              <a:ext uri="{FF2B5EF4-FFF2-40B4-BE49-F238E27FC236}">
                <a16:creationId xmlns:a16="http://schemas.microsoft.com/office/drawing/2014/main" id="{3947826D-ED91-6EB6-7150-7911DE08554D}"/>
              </a:ext>
            </a:extLst>
          </p:cNvPr>
          <p:cNvSpPr/>
          <p:nvPr/>
        </p:nvSpPr>
        <p:spPr>
          <a:xfrm>
            <a:off x="3203337" y="13331288"/>
            <a:ext cx="2954266" cy="310698"/>
          </a:xfrm>
          <a:prstGeom prst="flowChartDecision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pl-PL" sz="900" dirty="0"/>
              <a:t>długość </a:t>
            </a:r>
            <a:r>
              <a:rPr lang="pl-PL" sz="900" i="1" dirty="0" err="1"/>
              <a:t>offspring</a:t>
            </a:r>
            <a:r>
              <a:rPr lang="pl-PL" sz="900" dirty="0"/>
              <a:t> &lt; </a:t>
            </a:r>
            <a:r>
              <a:rPr lang="pl-PL" sz="900" i="1" dirty="0" err="1"/>
              <a:t>population_size</a:t>
            </a:r>
            <a:endParaRPr lang="pl-PL" sz="900" i="1" dirty="0"/>
          </a:p>
        </p:txBody>
      </p:sp>
      <p:sp>
        <p:nvSpPr>
          <p:cNvPr id="15" name="Process 14">
            <a:extLst>
              <a:ext uri="{FF2B5EF4-FFF2-40B4-BE49-F238E27FC236}">
                <a16:creationId xmlns:a16="http://schemas.microsoft.com/office/drawing/2014/main" id="{641D3A7B-69C1-CB18-1DEC-D8281140FFD4}"/>
              </a:ext>
            </a:extLst>
          </p:cNvPr>
          <p:cNvSpPr/>
          <p:nvPr/>
        </p:nvSpPr>
        <p:spPr>
          <a:xfrm>
            <a:off x="6010293" y="13892271"/>
            <a:ext cx="3180251" cy="218636"/>
          </a:xfrm>
          <a:prstGeom prst="flowChart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l-PL" sz="900" i="1" dirty="0"/>
              <a:t>a, b</a:t>
            </a:r>
            <a:r>
              <a:rPr lang="pl-PL" sz="900" dirty="0"/>
              <a:t>  ← punkty z </a:t>
            </a:r>
            <a:r>
              <a:rPr lang="pl-PL" sz="900" dirty="0" err="1"/>
              <a:t>population</a:t>
            </a:r>
            <a:r>
              <a:rPr lang="pl-PL" sz="900" dirty="0"/>
              <a:t> wybrane sposobem turniejowym</a:t>
            </a:r>
          </a:p>
        </p:txBody>
      </p:sp>
      <p:sp>
        <p:nvSpPr>
          <p:cNvPr id="19" name="Decision 18">
            <a:extLst>
              <a:ext uri="{FF2B5EF4-FFF2-40B4-BE49-F238E27FC236}">
                <a16:creationId xmlns:a16="http://schemas.microsoft.com/office/drawing/2014/main" id="{44BA3334-21E4-C43B-404E-ABF584C378CE}"/>
              </a:ext>
            </a:extLst>
          </p:cNvPr>
          <p:cNvSpPr/>
          <p:nvPr/>
        </p:nvSpPr>
        <p:spPr>
          <a:xfrm>
            <a:off x="6456276" y="14361195"/>
            <a:ext cx="2288285" cy="503383"/>
          </a:xfrm>
          <a:prstGeom prst="flowChartDecision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pl-PL" sz="900" dirty="0"/>
              <a:t>losowa liczba z [0, 1)</a:t>
            </a:r>
          </a:p>
          <a:p>
            <a:pPr algn="ctr"/>
            <a:r>
              <a:rPr lang="pl-PL" sz="900" dirty="0"/>
              <a:t>&lt;= </a:t>
            </a:r>
            <a:r>
              <a:rPr lang="pl-PL" sz="900" i="1" dirty="0" err="1"/>
              <a:t>crossover_probability</a:t>
            </a:r>
            <a:endParaRPr lang="pl-PL" sz="900" i="1" dirty="0"/>
          </a:p>
        </p:txBody>
      </p:sp>
      <p:sp>
        <p:nvSpPr>
          <p:cNvPr id="21" name="Process 20">
            <a:extLst>
              <a:ext uri="{FF2B5EF4-FFF2-40B4-BE49-F238E27FC236}">
                <a16:creationId xmlns:a16="http://schemas.microsoft.com/office/drawing/2014/main" id="{5157AD39-B89E-563A-0E97-981083E37D9E}"/>
              </a:ext>
            </a:extLst>
          </p:cNvPr>
          <p:cNvSpPr/>
          <p:nvPr/>
        </p:nvSpPr>
        <p:spPr>
          <a:xfrm>
            <a:off x="8744561" y="15114860"/>
            <a:ext cx="3478787" cy="218636"/>
          </a:xfrm>
          <a:prstGeom prst="flowChart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l-PL" sz="900" dirty="0"/>
              <a:t>Przeprowadź krzyżowanie punktów </a:t>
            </a:r>
            <a:r>
              <a:rPr lang="pl-PL" sz="900" i="1" dirty="0"/>
              <a:t>a</a:t>
            </a:r>
            <a:r>
              <a:rPr lang="pl-PL" sz="900" dirty="0"/>
              <a:t> z </a:t>
            </a:r>
            <a:r>
              <a:rPr lang="pl-PL" sz="900" i="1" dirty="0"/>
              <a:t>b</a:t>
            </a:r>
            <a:r>
              <a:rPr lang="pl-PL" sz="900" dirty="0"/>
              <a:t> zgodnie ze wzorami </a:t>
            </a:r>
            <a:r>
              <a:rPr lang="pl-PL" sz="900" i="1" dirty="0"/>
              <a:t>1.</a:t>
            </a:r>
            <a:r>
              <a:rPr lang="pl-PL" sz="900" dirty="0"/>
              <a:t> i </a:t>
            </a:r>
            <a:r>
              <a:rPr lang="pl-PL" sz="900" i="1" dirty="0"/>
              <a:t>2.</a:t>
            </a:r>
          </a:p>
        </p:txBody>
      </p:sp>
      <p:sp>
        <p:nvSpPr>
          <p:cNvPr id="22" name="Decision 21">
            <a:extLst>
              <a:ext uri="{FF2B5EF4-FFF2-40B4-BE49-F238E27FC236}">
                <a16:creationId xmlns:a16="http://schemas.microsoft.com/office/drawing/2014/main" id="{B24AEED2-90CA-8C78-2E03-EE479022EC76}"/>
              </a:ext>
            </a:extLst>
          </p:cNvPr>
          <p:cNvSpPr/>
          <p:nvPr/>
        </p:nvSpPr>
        <p:spPr>
          <a:xfrm>
            <a:off x="6456276" y="15583784"/>
            <a:ext cx="2288285" cy="503383"/>
          </a:xfrm>
          <a:prstGeom prst="flowChartDecision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pl-PL" sz="900" dirty="0"/>
              <a:t>losowa liczba z [0, 1)</a:t>
            </a:r>
          </a:p>
          <a:p>
            <a:pPr algn="ctr"/>
            <a:r>
              <a:rPr lang="pl-PL" sz="900" dirty="0"/>
              <a:t>&lt;= </a:t>
            </a:r>
            <a:r>
              <a:rPr lang="pl-PL" sz="900" i="1" dirty="0" err="1"/>
              <a:t>mutation_probability</a:t>
            </a:r>
            <a:endParaRPr lang="pl-PL" sz="900" i="1" dirty="0"/>
          </a:p>
        </p:txBody>
      </p:sp>
      <p:sp>
        <p:nvSpPr>
          <p:cNvPr id="24" name="Process 23">
            <a:extLst>
              <a:ext uri="{FF2B5EF4-FFF2-40B4-BE49-F238E27FC236}">
                <a16:creationId xmlns:a16="http://schemas.microsoft.com/office/drawing/2014/main" id="{65CA05A3-2012-3D30-2AC7-1EEA1E1EBCFD}"/>
              </a:ext>
            </a:extLst>
          </p:cNvPr>
          <p:cNvSpPr/>
          <p:nvPr/>
        </p:nvSpPr>
        <p:spPr>
          <a:xfrm>
            <a:off x="8744560" y="16337449"/>
            <a:ext cx="3478787" cy="218636"/>
          </a:xfrm>
          <a:prstGeom prst="flowChart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l-PL" sz="900" dirty="0"/>
              <a:t>Przeprowadź mutację punktów </a:t>
            </a:r>
            <a:r>
              <a:rPr lang="pl-PL" sz="900" i="1" dirty="0"/>
              <a:t>a</a:t>
            </a:r>
            <a:r>
              <a:rPr lang="pl-PL" sz="900" dirty="0"/>
              <a:t> oraz </a:t>
            </a:r>
            <a:r>
              <a:rPr lang="pl-PL" sz="900" i="1" dirty="0"/>
              <a:t>b</a:t>
            </a:r>
            <a:r>
              <a:rPr lang="pl-PL" sz="900" dirty="0"/>
              <a:t> zgodnie ze wzorem </a:t>
            </a:r>
            <a:r>
              <a:rPr lang="pl-PL" sz="900" i="1" dirty="0"/>
              <a:t>3.</a:t>
            </a:r>
          </a:p>
        </p:txBody>
      </p:sp>
      <p:sp>
        <p:nvSpPr>
          <p:cNvPr id="27" name="Process 26">
            <a:extLst>
              <a:ext uri="{FF2B5EF4-FFF2-40B4-BE49-F238E27FC236}">
                <a16:creationId xmlns:a16="http://schemas.microsoft.com/office/drawing/2014/main" id="{B3C26C1F-9D2E-9C75-67B7-2D5B89FFF3A3}"/>
              </a:ext>
            </a:extLst>
          </p:cNvPr>
          <p:cNvSpPr/>
          <p:nvPr/>
        </p:nvSpPr>
        <p:spPr>
          <a:xfrm>
            <a:off x="6161027" y="16806370"/>
            <a:ext cx="2878783" cy="218636"/>
          </a:xfrm>
          <a:prstGeom prst="flowChart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l-PL" sz="900" dirty="0"/>
              <a:t>Ogranicz współrzędne </a:t>
            </a:r>
            <a:r>
              <a:rPr lang="pl-PL" sz="900" i="1" dirty="0"/>
              <a:t>a</a:t>
            </a:r>
            <a:r>
              <a:rPr lang="pl-PL" sz="900" dirty="0"/>
              <a:t> oraz </a:t>
            </a:r>
            <a:r>
              <a:rPr lang="pl-PL" sz="900" i="1" dirty="0"/>
              <a:t>b</a:t>
            </a:r>
            <a:r>
              <a:rPr lang="pl-PL" sz="900" dirty="0"/>
              <a:t> do badanego obszaru</a:t>
            </a:r>
            <a:endParaRPr lang="pl-PL" sz="900" i="1" dirty="0"/>
          </a:p>
        </p:txBody>
      </p:sp>
      <p:sp>
        <p:nvSpPr>
          <p:cNvPr id="29" name="Process 28">
            <a:extLst>
              <a:ext uri="{FF2B5EF4-FFF2-40B4-BE49-F238E27FC236}">
                <a16:creationId xmlns:a16="http://schemas.microsoft.com/office/drawing/2014/main" id="{824128FA-C4AF-77B4-BCB2-E7C086B11B9E}"/>
              </a:ext>
            </a:extLst>
          </p:cNvPr>
          <p:cNvSpPr/>
          <p:nvPr/>
        </p:nvSpPr>
        <p:spPr>
          <a:xfrm>
            <a:off x="6832617" y="17275291"/>
            <a:ext cx="1535596" cy="218636"/>
          </a:xfrm>
          <a:prstGeom prst="flowChart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l-PL" sz="900" dirty="0"/>
              <a:t>Dodaj </a:t>
            </a:r>
            <a:r>
              <a:rPr lang="pl-PL" sz="900" i="1" dirty="0"/>
              <a:t>a</a:t>
            </a:r>
            <a:r>
              <a:rPr lang="pl-PL" sz="900" dirty="0"/>
              <a:t> i </a:t>
            </a:r>
            <a:r>
              <a:rPr lang="pl-PL" sz="900" i="1" dirty="0"/>
              <a:t>b</a:t>
            </a:r>
            <a:r>
              <a:rPr lang="pl-PL" sz="900" dirty="0"/>
              <a:t> do listy </a:t>
            </a:r>
            <a:r>
              <a:rPr lang="pl-PL" sz="900" i="1" dirty="0" err="1"/>
              <a:t>offspring</a:t>
            </a:r>
            <a:endParaRPr lang="pl-PL" sz="900" i="1" dirty="0"/>
          </a:p>
        </p:txBody>
      </p:sp>
      <p:sp>
        <p:nvSpPr>
          <p:cNvPr id="30" name="Process 29">
            <a:extLst>
              <a:ext uri="{FF2B5EF4-FFF2-40B4-BE49-F238E27FC236}">
                <a16:creationId xmlns:a16="http://schemas.microsoft.com/office/drawing/2014/main" id="{D2FBECA5-53E1-92B8-35D3-EAFBF992D031}"/>
              </a:ext>
            </a:extLst>
          </p:cNvPr>
          <p:cNvSpPr/>
          <p:nvPr/>
        </p:nvSpPr>
        <p:spPr>
          <a:xfrm>
            <a:off x="2117264" y="17493926"/>
            <a:ext cx="1535596" cy="306390"/>
          </a:xfrm>
          <a:prstGeom prst="flowChart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l-PL" sz="900" i="1" dirty="0" err="1"/>
              <a:t>population</a:t>
            </a:r>
            <a:r>
              <a:rPr lang="pl-PL" sz="900" dirty="0"/>
              <a:t> ← </a:t>
            </a:r>
            <a:r>
              <a:rPr lang="pl-PL" sz="900" i="1" dirty="0" err="1"/>
              <a:t>offspring</a:t>
            </a:r>
            <a:endParaRPr lang="pl-PL" sz="900" i="1" dirty="0"/>
          </a:p>
          <a:p>
            <a:pPr algn="ctr"/>
            <a:r>
              <a:rPr lang="pl-PL" sz="900" i="1" dirty="0"/>
              <a:t>i</a:t>
            </a:r>
            <a:r>
              <a:rPr lang="pl-PL" sz="900" dirty="0"/>
              <a:t> ← </a:t>
            </a:r>
            <a:r>
              <a:rPr lang="pl-PL" sz="900" i="1" dirty="0"/>
              <a:t>i</a:t>
            </a:r>
            <a:r>
              <a:rPr lang="pl-PL" sz="900" dirty="0"/>
              <a:t> + 1</a:t>
            </a: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167D177C-3AF5-25B2-1BE6-9492CAF65D82}"/>
              </a:ext>
            </a:extLst>
          </p:cNvPr>
          <p:cNvCxnSpPr>
            <a:stCxn id="6" idx="2"/>
            <a:endCxn id="7" idx="1"/>
          </p:cNvCxnSpPr>
          <p:nvPr/>
        </p:nvCxnSpPr>
        <p:spPr>
          <a:xfrm>
            <a:off x="4805278" y="4994915"/>
            <a:ext cx="1" cy="25028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72A56FB6-C295-799A-42FB-12CFD92C1E69}"/>
              </a:ext>
            </a:extLst>
          </p:cNvPr>
          <p:cNvCxnSpPr>
            <a:stCxn id="7" idx="4"/>
            <a:endCxn id="11" idx="0"/>
          </p:cNvCxnSpPr>
          <p:nvPr/>
        </p:nvCxnSpPr>
        <p:spPr>
          <a:xfrm flipH="1">
            <a:off x="4805278" y="5887000"/>
            <a:ext cx="1" cy="25028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FBFDCACC-E653-5119-F682-4BE7064709F9}"/>
              </a:ext>
            </a:extLst>
          </p:cNvPr>
          <p:cNvCxnSpPr>
            <a:stCxn id="11" idx="2"/>
            <a:endCxn id="16" idx="0"/>
          </p:cNvCxnSpPr>
          <p:nvPr/>
        </p:nvCxnSpPr>
        <p:spPr>
          <a:xfrm>
            <a:off x="4805278" y="6462581"/>
            <a:ext cx="1" cy="25028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Elbow Connector 41">
            <a:extLst>
              <a:ext uri="{FF2B5EF4-FFF2-40B4-BE49-F238E27FC236}">
                <a16:creationId xmlns:a16="http://schemas.microsoft.com/office/drawing/2014/main" id="{8534BFE5-1B3E-14E0-001B-220F1D6616C4}"/>
              </a:ext>
            </a:extLst>
          </p:cNvPr>
          <p:cNvCxnSpPr>
            <a:stCxn id="16" idx="3"/>
            <a:endCxn id="18" idx="0"/>
          </p:cNvCxnSpPr>
          <p:nvPr/>
        </p:nvCxnSpPr>
        <p:spPr>
          <a:xfrm>
            <a:off x="5514422" y="6898729"/>
            <a:ext cx="1343581" cy="436147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Elbow Connector 44">
            <a:extLst>
              <a:ext uri="{FF2B5EF4-FFF2-40B4-BE49-F238E27FC236}">
                <a16:creationId xmlns:a16="http://schemas.microsoft.com/office/drawing/2014/main" id="{E8E613F5-B4E5-2620-F1F9-570DA217267F}"/>
              </a:ext>
            </a:extLst>
          </p:cNvPr>
          <p:cNvCxnSpPr>
            <a:stCxn id="18" idx="2"/>
            <a:endCxn id="16" idx="0"/>
          </p:cNvCxnSpPr>
          <p:nvPr/>
        </p:nvCxnSpPr>
        <p:spPr>
          <a:xfrm rot="5400000" flipH="1">
            <a:off x="5312393" y="6205746"/>
            <a:ext cx="1038490" cy="2052724"/>
          </a:xfrm>
          <a:prstGeom prst="bentConnector5">
            <a:avLst>
              <a:gd name="adj1" fmla="val -11193"/>
              <a:gd name="adj2" fmla="val -75913"/>
              <a:gd name="adj3" fmla="val 117163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CA9A8FDA-C270-697D-451C-E5A516EC9224}"/>
              </a:ext>
            </a:extLst>
          </p:cNvPr>
          <p:cNvCxnSpPr>
            <a:stCxn id="25" idx="2"/>
            <a:endCxn id="2" idx="0"/>
          </p:cNvCxnSpPr>
          <p:nvPr/>
        </p:nvCxnSpPr>
        <p:spPr>
          <a:xfrm>
            <a:off x="3518125" y="8700117"/>
            <a:ext cx="0" cy="25028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Elbow Connector 52">
            <a:extLst>
              <a:ext uri="{FF2B5EF4-FFF2-40B4-BE49-F238E27FC236}">
                <a16:creationId xmlns:a16="http://schemas.microsoft.com/office/drawing/2014/main" id="{12EBAAE5-207C-F574-18C6-CC90C82AC13F}"/>
              </a:ext>
            </a:extLst>
          </p:cNvPr>
          <p:cNvCxnSpPr>
            <a:stCxn id="2" idx="3"/>
            <a:endCxn id="3" idx="0"/>
          </p:cNvCxnSpPr>
          <p:nvPr/>
        </p:nvCxnSpPr>
        <p:spPr>
          <a:xfrm>
            <a:off x="4227271" y="9136265"/>
            <a:ext cx="1739393" cy="436147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382F0244-8A77-227A-4528-3A54AF317618}"/>
              </a:ext>
            </a:extLst>
          </p:cNvPr>
          <p:cNvCxnSpPr>
            <a:stCxn id="3" idx="2"/>
            <a:endCxn id="8" idx="0"/>
          </p:cNvCxnSpPr>
          <p:nvPr/>
        </p:nvCxnSpPr>
        <p:spPr>
          <a:xfrm>
            <a:off x="5966664" y="9988892"/>
            <a:ext cx="1" cy="25028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Elbow Connector 57">
            <a:extLst>
              <a:ext uri="{FF2B5EF4-FFF2-40B4-BE49-F238E27FC236}">
                <a16:creationId xmlns:a16="http://schemas.microsoft.com/office/drawing/2014/main" id="{8467A423-326D-A753-BB8C-CEB4A32A2898}"/>
              </a:ext>
            </a:extLst>
          </p:cNvPr>
          <p:cNvCxnSpPr>
            <a:stCxn id="8" idx="3"/>
            <a:endCxn id="9" idx="0"/>
          </p:cNvCxnSpPr>
          <p:nvPr/>
        </p:nvCxnSpPr>
        <p:spPr>
          <a:xfrm>
            <a:off x="6927688" y="10425040"/>
            <a:ext cx="1007862" cy="436147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115AC8C8-F051-8748-AEEC-608DA2A353D4}"/>
              </a:ext>
            </a:extLst>
          </p:cNvPr>
          <p:cNvCxnSpPr>
            <a:stCxn id="9" idx="2"/>
            <a:endCxn id="10" idx="0"/>
          </p:cNvCxnSpPr>
          <p:nvPr/>
        </p:nvCxnSpPr>
        <p:spPr>
          <a:xfrm>
            <a:off x="7935553" y="11171885"/>
            <a:ext cx="1" cy="25028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Elbow Connector 61">
            <a:extLst>
              <a:ext uri="{FF2B5EF4-FFF2-40B4-BE49-F238E27FC236}">
                <a16:creationId xmlns:a16="http://schemas.microsoft.com/office/drawing/2014/main" id="{E15FF41C-6B40-DCC9-E713-772B0AA4EA36}"/>
              </a:ext>
            </a:extLst>
          </p:cNvPr>
          <p:cNvCxnSpPr>
            <a:stCxn id="10" idx="3"/>
            <a:endCxn id="12" idx="0"/>
          </p:cNvCxnSpPr>
          <p:nvPr/>
        </p:nvCxnSpPr>
        <p:spPr>
          <a:xfrm>
            <a:off x="8644697" y="11608033"/>
            <a:ext cx="961027" cy="436147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Elbow Connector 63">
            <a:extLst>
              <a:ext uri="{FF2B5EF4-FFF2-40B4-BE49-F238E27FC236}">
                <a16:creationId xmlns:a16="http://schemas.microsoft.com/office/drawing/2014/main" id="{434712BC-0654-5FAD-8729-E3C66D6476B5}"/>
              </a:ext>
            </a:extLst>
          </p:cNvPr>
          <p:cNvCxnSpPr>
            <a:stCxn id="12" idx="2"/>
            <a:endCxn id="13" idx="0"/>
          </p:cNvCxnSpPr>
          <p:nvPr/>
        </p:nvCxnSpPr>
        <p:spPr>
          <a:xfrm rot="5400000">
            <a:off x="8645497" y="11644936"/>
            <a:ext cx="250285" cy="1670171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Elbow Connector 66">
            <a:extLst>
              <a:ext uri="{FF2B5EF4-FFF2-40B4-BE49-F238E27FC236}">
                <a16:creationId xmlns:a16="http://schemas.microsoft.com/office/drawing/2014/main" id="{BCBBC7C6-7B97-45B7-3F33-18A4D8A0816F}"/>
              </a:ext>
            </a:extLst>
          </p:cNvPr>
          <p:cNvCxnSpPr>
            <a:stCxn id="10" idx="1"/>
            <a:endCxn id="13" idx="0"/>
          </p:cNvCxnSpPr>
          <p:nvPr/>
        </p:nvCxnSpPr>
        <p:spPr>
          <a:xfrm rot="10800000" flipH="1" flipV="1">
            <a:off x="7226409" y="11608032"/>
            <a:ext cx="709143" cy="997131"/>
          </a:xfrm>
          <a:prstGeom prst="bentConnector4">
            <a:avLst>
              <a:gd name="adj1" fmla="val -60746"/>
              <a:gd name="adj2" fmla="val 87728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Elbow Connector 70">
            <a:extLst>
              <a:ext uri="{FF2B5EF4-FFF2-40B4-BE49-F238E27FC236}">
                <a16:creationId xmlns:a16="http://schemas.microsoft.com/office/drawing/2014/main" id="{0859B1D9-F7A0-7D76-5278-69B605187F36}"/>
              </a:ext>
            </a:extLst>
          </p:cNvPr>
          <p:cNvCxnSpPr>
            <a:stCxn id="13" idx="2"/>
            <a:endCxn id="8" idx="0"/>
          </p:cNvCxnSpPr>
          <p:nvPr/>
        </p:nvCxnSpPr>
        <p:spPr>
          <a:xfrm rot="5400000" flipH="1">
            <a:off x="5655337" y="10550502"/>
            <a:ext cx="2591543" cy="1968888"/>
          </a:xfrm>
          <a:prstGeom prst="bentConnector5">
            <a:avLst>
              <a:gd name="adj1" fmla="val -4968"/>
              <a:gd name="adj2" fmla="val -146617"/>
              <a:gd name="adj3" fmla="val 106328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Elbow Connector 75">
            <a:extLst>
              <a:ext uri="{FF2B5EF4-FFF2-40B4-BE49-F238E27FC236}">
                <a16:creationId xmlns:a16="http://schemas.microsoft.com/office/drawing/2014/main" id="{4C57D9F6-B384-22C3-A0CF-6C8A39F23284}"/>
              </a:ext>
            </a:extLst>
          </p:cNvPr>
          <p:cNvCxnSpPr>
            <a:stCxn id="14" idx="3"/>
            <a:endCxn id="15" idx="0"/>
          </p:cNvCxnSpPr>
          <p:nvPr/>
        </p:nvCxnSpPr>
        <p:spPr>
          <a:xfrm>
            <a:off x="6157606" y="13486637"/>
            <a:ext cx="1442813" cy="405634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41EE5F3A-B9A4-F1E6-9AC7-ADB3A34CEEBD}"/>
              </a:ext>
            </a:extLst>
          </p:cNvPr>
          <p:cNvCxnSpPr>
            <a:cxnSpLocks/>
            <a:stCxn id="15" idx="2"/>
            <a:endCxn id="19" idx="0"/>
          </p:cNvCxnSpPr>
          <p:nvPr/>
        </p:nvCxnSpPr>
        <p:spPr>
          <a:xfrm>
            <a:off x="7600416" y="14110910"/>
            <a:ext cx="0" cy="25028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Elbow Connector 79">
            <a:extLst>
              <a:ext uri="{FF2B5EF4-FFF2-40B4-BE49-F238E27FC236}">
                <a16:creationId xmlns:a16="http://schemas.microsoft.com/office/drawing/2014/main" id="{3E81D34F-F306-6729-8B2A-C79EA89BE014}"/>
              </a:ext>
            </a:extLst>
          </p:cNvPr>
          <p:cNvCxnSpPr>
            <a:stCxn id="19" idx="3"/>
            <a:endCxn id="21" idx="0"/>
          </p:cNvCxnSpPr>
          <p:nvPr/>
        </p:nvCxnSpPr>
        <p:spPr>
          <a:xfrm>
            <a:off x="8744558" y="14612884"/>
            <a:ext cx="1739394" cy="501976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Elbow Connector 82">
            <a:extLst>
              <a:ext uri="{FF2B5EF4-FFF2-40B4-BE49-F238E27FC236}">
                <a16:creationId xmlns:a16="http://schemas.microsoft.com/office/drawing/2014/main" id="{823EFFC3-64F9-195C-C19E-B90FF04FF237}"/>
              </a:ext>
            </a:extLst>
          </p:cNvPr>
          <p:cNvCxnSpPr>
            <a:endCxn id="24" idx="0"/>
          </p:cNvCxnSpPr>
          <p:nvPr/>
        </p:nvCxnSpPr>
        <p:spPr>
          <a:xfrm>
            <a:off x="8744557" y="15835475"/>
            <a:ext cx="1739394" cy="501977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Elbow Connector 85">
            <a:extLst>
              <a:ext uri="{FF2B5EF4-FFF2-40B4-BE49-F238E27FC236}">
                <a16:creationId xmlns:a16="http://schemas.microsoft.com/office/drawing/2014/main" id="{4AA3C7DD-23C9-7183-AF7D-F84AC381DF2D}"/>
              </a:ext>
            </a:extLst>
          </p:cNvPr>
          <p:cNvCxnSpPr>
            <a:cxnSpLocks/>
            <a:stCxn id="19" idx="1"/>
            <a:endCxn id="22" idx="0"/>
          </p:cNvCxnSpPr>
          <p:nvPr/>
        </p:nvCxnSpPr>
        <p:spPr>
          <a:xfrm rot="10800000" flipH="1" flipV="1">
            <a:off x="6456275" y="14612886"/>
            <a:ext cx="1144143" cy="970897"/>
          </a:xfrm>
          <a:prstGeom prst="bentConnector4">
            <a:avLst>
              <a:gd name="adj1" fmla="val -26807"/>
              <a:gd name="adj2" fmla="val 86798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Elbow Connector 90">
            <a:extLst>
              <a:ext uri="{FF2B5EF4-FFF2-40B4-BE49-F238E27FC236}">
                <a16:creationId xmlns:a16="http://schemas.microsoft.com/office/drawing/2014/main" id="{5C6C2775-5E42-C1DB-8C1E-A396E6B6D9AB}"/>
              </a:ext>
            </a:extLst>
          </p:cNvPr>
          <p:cNvCxnSpPr>
            <a:cxnSpLocks/>
            <a:stCxn id="22" idx="1"/>
            <a:endCxn id="27" idx="0"/>
          </p:cNvCxnSpPr>
          <p:nvPr/>
        </p:nvCxnSpPr>
        <p:spPr>
          <a:xfrm rot="10800000" flipH="1" flipV="1">
            <a:off x="6456275" y="15835475"/>
            <a:ext cx="1144143" cy="970897"/>
          </a:xfrm>
          <a:prstGeom prst="bentConnector4">
            <a:avLst>
              <a:gd name="adj1" fmla="val -26478"/>
              <a:gd name="adj2" fmla="val 87379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Straight Arrow Connector 95">
            <a:extLst>
              <a:ext uri="{FF2B5EF4-FFF2-40B4-BE49-F238E27FC236}">
                <a16:creationId xmlns:a16="http://schemas.microsoft.com/office/drawing/2014/main" id="{C955172E-D47E-D952-FDA1-DD0E2F14FCDD}"/>
              </a:ext>
            </a:extLst>
          </p:cNvPr>
          <p:cNvCxnSpPr>
            <a:stCxn id="27" idx="2"/>
            <a:endCxn id="29" idx="0"/>
          </p:cNvCxnSpPr>
          <p:nvPr/>
        </p:nvCxnSpPr>
        <p:spPr>
          <a:xfrm flipH="1">
            <a:off x="7600418" y="17025009"/>
            <a:ext cx="1" cy="25028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Elbow Connector 99">
            <a:extLst>
              <a:ext uri="{FF2B5EF4-FFF2-40B4-BE49-F238E27FC236}">
                <a16:creationId xmlns:a16="http://schemas.microsoft.com/office/drawing/2014/main" id="{2B746CC1-C2F2-A257-608C-D6EDD8108EE6}"/>
              </a:ext>
            </a:extLst>
          </p:cNvPr>
          <p:cNvCxnSpPr>
            <a:cxnSpLocks/>
            <a:stCxn id="8" idx="1"/>
            <a:endCxn id="14" idx="0"/>
          </p:cNvCxnSpPr>
          <p:nvPr/>
        </p:nvCxnSpPr>
        <p:spPr>
          <a:xfrm rot="10800000" flipV="1">
            <a:off x="4680474" y="10425039"/>
            <a:ext cx="325165" cy="2906251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Elbow Connector 102">
            <a:extLst>
              <a:ext uri="{FF2B5EF4-FFF2-40B4-BE49-F238E27FC236}">
                <a16:creationId xmlns:a16="http://schemas.microsoft.com/office/drawing/2014/main" id="{794C345F-F806-896E-97A9-37D5E16FB949}"/>
              </a:ext>
            </a:extLst>
          </p:cNvPr>
          <p:cNvCxnSpPr>
            <a:cxnSpLocks/>
            <a:stCxn id="29" idx="2"/>
            <a:endCxn id="14" idx="0"/>
          </p:cNvCxnSpPr>
          <p:nvPr/>
        </p:nvCxnSpPr>
        <p:spPr>
          <a:xfrm rot="5400000" flipH="1">
            <a:off x="4059126" y="13952639"/>
            <a:ext cx="4162639" cy="2919945"/>
          </a:xfrm>
          <a:prstGeom prst="bentConnector5">
            <a:avLst>
              <a:gd name="adj1" fmla="val -3774"/>
              <a:gd name="adj2" fmla="val -163062"/>
              <a:gd name="adj3" fmla="val 103823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Elbow Connector 110">
            <a:extLst>
              <a:ext uri="{FF2B5EF4-FFF2-40B4-BE49-F238E27FC236}">
                <a16:creationId xmlns:a16="http://schemas.microsoft.com/office/drawing/2014/main" id="{E91500B2-7FF4-F3A4-898C-D3229E17B98A}"/>
              </a:ext>
            </a:extLst>
          </p:cNvPr>
          <p:cNvCxnSpPr>
            <a:stCxn id="21" idx="2"/>
            <a:endCxn id="22" idx="0"/>
          </p:cNvCxnSpPr>
          <p:nvPr/>
        </p:nvCxnSpPr>
        <p:spPr>
          <a:xfrm rot="5400000">
            <a:off x="8917045" y="14016870"/>
            <a:ext cx="250285" cy="2883536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Elbow Connector 112">
            <a:extLst>
              <a:ext uri="{FF2B5EF4-FFF2-40B4-BE49-F238E27FC236}">
                <a16:creationId xmlns:a16="http://schemas.microsoft.com/office/drawing/2014/main" id="{3E527C48-AD46-6B01-6293-70FF61DD0E4F}"/>
              </a:ext>
            </a:extLst>
          </p:cNvPr>
          <p:cNvCxnSpPr>
            <a:stCxn id="24" idx="2"/>
            <a:endCxn id="27" idx="0"/>
          </p:cNvCxnSpPr>
          <p:nvPr/>
        </p:nvCxnSpPr>
        <p:spPr>
          <a:xfrm rot="5400000">
            <a:off x="8917045" y="15239463"/>
            <a:ext cx="250285" cy="2883535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Elbow Connector 116">
            <a:extLst>
              <a:ext uri="{FF2B5EF4-FFF2-40B4-BE49-F238E27FC236}">
                <a16:creationId xmlns:a16="http://schemas.microsoft.com/office/drawing/2014/main" id="{A056056F-9B98-C33B-A305-795D3460CB98}"/>
              </a:ext>
            </a:extLst>
          </p:cNvPr>
          <p:cNvCxnSpPr>
            <a:cxnSpLocks/>
            <a:stCxn id="14" idx="1"/>
            <a:endCxn id="30" idx="0"/>
          </p:cNvCxnSpPr>
          <p:nvPr/>
        </p:nvCxnSpPr>
        <p:spPr>
          <a:xfrm rot="10800000" flipV="1">
            <a:off x="2885066" y="13486639"/>
            <a:ext cx="318275" cy="4007289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Elbow Connector 119">
            <a:extLst>
              <a:ext uri="{FF2B5EF4-FFF2-40B4-BE49-F238E27FC236}">
                <a16:creationId xmlns:a16="http://schemas.microsoft.com/office/drawing/2014/main" id="{85D7F2AE-8497-817C-B7F7-39DA71A12E17}"/>
              </a:ext>
            </a:extLst>
          </p:cNvPr>
          <p:cNvCxnSpPr>
            <a:cxnSpLocks/>
            <a:stCxn id="30" idx="2"/>
            <a:endCxn id="2" idx="0"/>
          </p:cNvCxnSpPr>
          <p:nvPr/>
        </p:nvCxnSpPr>
        <p:spPr>
          <a:xfrm rot="5400000" flipH="1" flipV="1">
            <a:off x="-1223366" y="13058827"/>
            <a:ext cx="8849917" cy="633063"/>
          </a:xfrm>
          <a:prstGeom prst="bentConnector5">
            <a:avLst>
              <a:gd name="adj1" fmla="val -2583"/>
              <a:gd name="adj2" fmla="val 1561757"/>
              <a:gd name="adj3" fmla="val 101745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Elbow Connector 129">
            <a:extLst>
              <a:ext uri="{FF2B5EF4-FFF2-40B4-BE49-F238E27FC236}">
                <a16:creationId xmlns:a16="http://schemas.microsoft.com/office/drawing/2014/main" id="{D91315C3-9326-F928-9937-FD4041D59D33}"/>
              </a:ext>
            </a:extLst>
          </p:cNvPr>
          <p:cNvCxnSpPr>
            <a:stCxn id="2" idx="1"/>
            <a:endCxn id="93" idx="1"/>
          </p:cNvCxnSpPr>
          <p:nvPr/>
        </p:nvCxnSpPr>
        <p:spPr>
          <a:xfrm rot="10800000" flipV="1">
            <a:off x="1534584" y="9136264"/>
            <a:ext cx="1274401" cy="436147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Straight Arrow Connector 131">
            <a:extLst>
              <a:ext uri="{FF2B5EF4-FFF2-40B4-BE49-F238E27FC236}">
                <a16:creationId xmlns:a16="http://schemas.microsoft.com/office/drawing/2014/main" id="{A5840DEA-B4B0-C6E5-734D-7548547BC725}"/>
              </a:ext>
            </a:extLst>
          </p:cNvPr>
          <p:cNvCxnSpPr>
            <a:stCxn id="93" idx="4"/>
            <a:endCxn id="82" idx="0"/>
          </p:cNvCxnSpPr>
          <p:nvPr/>
        </p:nvCxnSpPr>
        <p:spPr>
          <a:xfrm flipH="1">
            <a:off x="1534582" y="9868067"/>
            <a:ext cx="1" cy="25027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Elbow Connector 133">
            <a:extLst>
              <a:ext uri="{FF2B5EF4-FFF2-40B4-BE49-F238E27FC236}">
                <a16:creationId xmlns:a16="http://schemas.microsoft.com/office/drawing/2014/main" id="{FB84264B-0FDE-E382-2D57-09AA8063A609}"/>
              </a:ext>
            </a:extLst>
          </p:cNvPr>
          <p:cNvCxnSpPr>
            <a:cxnSpLocks/>
            <a:stCxn id="16" idx="1"/>
            <a:endCxn id="25" idx="0"/>
          </p:cNvCxnSpPr>
          <p:nvPr/>
        </p:nvCxnSpPr>
        <p:spPr>
          <a:xfrm rot="10800000" flipV="1">
            <a:off x="3518129" y="6898726"/>
            <a:ext cx="578007" cy="1102912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4" name="TextBox 143">
            <a:extLst>
              <a:ext uri="{FF2B5EF4-FFF2-40B4-BE49-F238E27FC236}">
                <a16:creationId xmlns:a16="http://schemas.microsoft.com/office/drawing/2014/main" id="{0DE350CB-8614-59FC-5A36-542C21E5FF3C}"/>
              </a:ext>
            </a:extLst>
          </p:cNvPr>
          <p:cNvSpPr txBox="1"/>
          <p:nvPr/>
        </p:nvSpPr>
        <p:spPr>
          <a:xfrm>
            <a:off x="3602167" y="6605059"/>
            <a:ext cx="53020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1400" dirty="0"/>
              <a:t>nie</a:t>
            </a:r>
          </a:p>
        </p:txBody>
      </p:sp>
      <p:sp>
        <p:nvSpPr>
          <p:cNvPr id="145" name="TextBox 144">
            <a:extLst>
              <a:ext uri="{FF2B5EF4-FFF2-40B4-BE49-F238E27FC236}">
                <a16:creationId xmlns:a16="http://schemas.microsoft.com/office/drawing/2014/main" id="{5EEFDBA1-4D92-814E-20A7-CC34E7B644C1}"/>
              </a:ext>
            </a:extLst>
          </p:cNvPr>
          <p:cNvSpPr txBox="1"/>
          <p:nvPr/>
        </p:nvSpPr>
        <p:spPr>
          <a:xfrm>
            <a:off x="4227271" y="8859069"/>
            <a:ext cx="53020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1400" dirty="0"/>
              <a:t>tak</a:t>
            </a:r>
          </a:p>
        </p:txBody>
      </p:sp>
      <p:sp>
        <p:nvSpPr>
          <p:cNvPr id="146" name="TextBox 145">
            <a:extLst>
              <a:ext uri="{FF2B5EF4-FFF2-40B4-BE49-F238E27FC236}">
                <a16:creationId xmlns:a16="http://schemas.microsoft.com/office/drawing/2014/main" id="{01A05973-8B02-5289-206B-EDF8C554EDD6}"/>
              </a:ext>
            </a:extLst>
          </p:cNvPr>
          <p:cNvSpPr txBox="1"/>
          <p:nvPr/>
        </p:nvSpPr>
        <p:spPr>
          <a:xfrm>
            <a:off x="2347926" y="8859069"/>
            <a:ext cx="53020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1400" dirty="0"/>
              <a:t>nie</a:t>
            </a:r>
          </a:p>
        </p:txBody>
      </p:sp>
      <p:sp>
        <p:nvSpPr>
          <p:cNvPr id="147" name="TextBox 146">
            <a:extLst>
              <a:ext uri="{FF2B5EF4-FFF2-40B4-BE49-F238E27FC236}">
                <a16:creationId xmlns:a16="http://schemas.microsoft.com/office/drawing/2014/main" id="{5A8CD829-3A30-C084-8254-23FF561A8587}"/>
              </a:ext>
            </a:extLst>
          </p:cNvPr>
          <p:cNvSpPr txBox="1"/>
          <p:nvPr/>
        </p:nvSpPr>
        <p:spPr>
          <a:xfrm>
            <a:off x="6845664" y="10190769"/>
            <a:ext cx="53020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1400" dirty="0"/>
              <a:t>tak</a:t>
            </a:r>
          </a:p>
        </p:txBody>
      </p:sp>
      <p:sp>
        <p:nvSpPr>
          <p:cNvPr id="148" name="TextBox 147">
            <a:extLst>
              <a:ext uri="{FF2B5EF4-FFF2-40B4-BE49-F238E27FC236}">
                <a16:creationId xmlns:a16="http://schemas.microsoft.com/office/drawing/2014/main" id="{6D53FC7C-1DBE-45E0-AA0C-74FDDECAA6E1}"/>
              </a:ext>
            </a:extLst>
          </p:cNvPr>
          <p:cNvSpPr txBox="1"/>
          <p:nvPr/>
        </p:nvSpPr>
        <p:spPr>
          <a:xfrm>
            <a:off x="4668465" y="10190769"/>
            <a:ext cx="53020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1400" dirty="0"/>
              <a:t>nie</a:t>
            </a:r>
          </a:p>
        </p:txBody>
      </p:sp>
      <p:sp>
        <p:nvSpPr>
          <p:cNvPr id="149" name="TextBox 148">
            <a:extLst>
              <a:ext uri="{FF2B5EF4-FFF2-40B4-BE49-F238E27FC236}">
                <a16:creationId xmlns:a16="http://schemas.microsoft.com/office/drawing/2014/main" id="{DB5C573C-2ECE-796B-CF2B-92380EDF0C38}"/>
              </a:ext>
            </a:extLst>
          </p:cNvPr>
          <p:cNvSpPr txBox="1"/>
          <p:nvPr/>
        </p:nvSpPr>
        <p:spPr>
          <a:xfrm>
            <a:off x="8666851" y="11356340"/>
            <a:ext cx="53020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1400" dirty="0"/>
              <a:t>tak</a:t>
            </a:r>
          </a:p>
        </p:txBody>
      </p:sp>
      <p:sp>
        <p:nvSpPr>
          <p:cNvPr id="150" name="TextBox 149">
            <a:extLst>
              <a:ext uri="{FF2B5EF4-FFF2-40B4-BE49-F238E27FC236}">
                <a16:creationId xmlns:a16="http://schemas.microsoft.com/office/drawing/2014/main" id="{1C6071CB-23E4-2AF6-E895-15A9FAFB1D3B}"/>
              </a:ext>
            </a:extLst>
          </p:cNvPr>
          <p:cNvSpPr txBox="1"/>
          <p:nvPr/>
        </p:nvSpPr>
        <p:spPr>
          <a:xfrm>
            <a:off x="6787506" y="11356340"/>
            <a:ext cx="53020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1400" dirty="0"/>
              <a:t>nie</a:t>
            </a:r>
          </a:p>
        </p:txBody>
      </p:sp>
      <p:sp>
        <p:nvSpPr>
          <p:cNvPr id="151" name="TextBox 150">
            <a:extLst>
              <a:ext uri="{FF2B5EF4-FFF2-40B4-BE49-F238E27FC236}">
                <a16:creationId xmlns:a16="http://schemas.microsoft.com/office/drawing/2014/main" id="{A62EC62A-E6A5-A687-8A83-CF9A4B2BFC3C}"/>
              </a:ext>
            </a:extLst>
          </p:cNvPr>
          <p:cNvSpPr txBox="1"/>
          <p:nvPr/>
        </p:nvSpPr>
        <p:spPr>
          <a:xfrm>
            <a:off x="8644697" y="14359580"/>
            <a:ext cx="53020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1400" dirty="0"/>
              <a:t>tak</a:t>
            </a:r>
          </a:p>
        </p:txBody>
      </p:sp>
      <p:sp>
        <p:nvSpPr>
          <p:cNvPr id="152" name="TextBox 151">
            <a:extLst>
              <a:ext uri="{FF2B5EF4-FFF2-40B4-BE49-F238E27FC236}">
                <a16:creationId xmlns:a16="http://schemas.microsoft.com/office/drawing/2014/main" id="{92D9D999-F247-44E1-1549-900A9EC1DA50}"/>
              </a:ext>
            </a:extLst>
          </p:cNvPr>
          <p:cNvSpPr txBox="1"/>
          <p:nvPr/>
        </p:nvSpPr>
        <p:spPr>
          <a:xfrm>
            <a:off x="6157606" y="14359580"/>
            <a:ext cx="53020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1400" dirty="0"/>
              <a:t>nie</a:t>
            </a:r>
          </a:p>
        </p:txBody>
      </p:sp>
      <p:sp>
        <p:nvSpPr>
          <p:cNvPr id="155" name="TextBox 154">
            <a:extLst>
              <a:ext uri="{FF2B5EF4-FFF2-40B4-BE49-F238E27FC236}">
                <a16:creationId xmlns:a16="http://schemas.microsoft.com/office/drawing/2014/main" id="{097282F8-AEA4-5E1C-DA85-772C5E24B562}"/>
              </a:ext>
            </a:extLst>
          </p:cNvPr>
          <p:cNvSpPr txBox="1"/>
          <p:nvPr/>
        </p:nvSpPr>
        <p:spPr>
          <a:xfrm>
            <a:off x="6140445" y="13225393"/>
            <a:ext cx="53020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1400" dirty="0"/>
              <a:t>tak</a:t>
            </a:r>
          </a:p>
        </p:txBody>
      </p:sp>
      <p:sp>
        <p:nvSpPr>
          <p:cNvPr id="156" name="TextBox 155">
            <a:extLst>
              <a:ext uri="{FF2B5EF4-FFF2-40B4-BE49-F238E27FC236}">
                <a16:creationId xmlns:a16="http://schemas.microsoft.com/office/drawing/2014/main" id="{AEAB84B4-7C96-1D40-F028-688B2A2FCF35}"/>
              </a:ext>
            </a:extLst>
          </p:cNvPr>
          <p:cNvSpPr txBox="1"/>
          <p:nvPr/>
        </p:nvSpPr>
        <p:spPr>
          <a:xfrm>
            <a:off x="2818962" y="13225393"/>
            <a:ext cx="53020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1400" dirty="0"/>
              <a:t>nie</a:t>
            </a:r>
          </a:p>
        </p:txBody>
      </p:sp>
      <p:sp>
        <p:nvSpPr>
          <p:cNvPr id="157" name="TextBox 156">
            <a:extLst>
              <a:ext uri="{FF2B5EF4-FFF2-40B4-BE49-F238E27FC236}">
                <a16:creationId xmlns:a16="http://schemas.microsoft.com/office/drawing/2014/main" id="{2AF65475-3DAA-B616-6089-6CFD8EF41E6B}"/>
              </a:ext>
            </a:extLst>
          </p:cNvPr>
          <p:cNvSpPr txBox="1"/>
          <p:nvPr/>
        </p:nvSpPr>
        <p:spPr>
          <a:xfrm>
            <a:off x="8628028" y="15590704"/>
            <a:ext cx="53020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1400" dirty="0"/>
              <a:t>tak</a:t>
            </a:r>
          </a:p>
        </p:txBody>
      </p:sp>
      <p:sp>
        <p:nvSpPr>
          <p:cNvPr id="158" name="TextBox 157">
            <a:extLst>
              <a:ext uri="{FF2B5EF4-FFF2-40B4-BE49-F238E27FC236}">
                <a16:creationId xmlns:a16="http://schemas.microsoft.com/office/drawing/2014/main" id="{2DF5AF2C-BCCD-DE03-E0CA-31919F48B27E}"/>
              </a:ext>
            </a:extLst>
          </p:cNvPr>
          <p:cNvSpPr txBox="1"/>
          <p:nvPr/>
        </p:nvSpPr>
        <p:spPr>
          <a:xfrm>
            <a:off x="6140937" y="15590704"/>
            <a:ext cx="53020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1400" dirty="0"/>
              <a:t>nie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4215BFC-DF74-76C5-4A88-7137555EE66C}"/>
              </a:ext>
            </a:extLst>
          </p:cNvPr>
          <p:cNvSpPr txBox="1"/>
          <p:nvPr/>
        </p:nvSpPr>
        <p:spPr>
          <a:xfrm>
            <a:off x="12211774" y="661775"/>
            <a:ext cx="8484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dirty="0"/>
              <a:t>Wzory.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E18248C1-457C-2958-FDDF-CDE8D9FFB228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5481509" y="1186452"/>
            <a:ext cx="7772400" cy="28332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75083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67</TotalTime>
  <Words>256</Words>
  <Application>Microsoft Macintosh PowerPoint</Application>
  <PresentationFormat>Custom</PresentationFormat>
  <Paragraphs>57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Bartosz Bieniek (bb315945)</dc:creator>
  <cp:lastModifiedBy>Bartosz Bieniek (bb315945)</cp:lastModifiedBy>
  <cp:revision>7</cp:revision>
  <dcterms:created xsi:type="dcterms:W3CDTF">2025-11-30T19:03:59Z</dcterms:created>
  <dcterms:modified xsi:type="dcterms:W3CDTF">2026-01-07T17:32:57Z</dcterms:modified>
</cp:coreProperties>
</file>