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6" r:id="rId1"/>
  </p:sldMasterIdLst>
  <p:sldIdLst>
    <p:sldId id="257" r:id="rId2"/>
  </p:sldIdLst>
  <p:sldSz cx="13716000" cy="1828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712"/>
    <p:restoredTop sz="94652"/>
  </p:normalViewPr>
  <p:slideViewPr>
    <p:cSldViewPr snapToGrid="0">
      <p:cViewPr>
        <p:scale>
          <a:sx n="171" d="100"/>
          <a:sy n="171" d="100"/>
        </p:scale>
        <p:origin x="1136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700" y="2992968"/>
            <a:ext cx="11658600" cy="6366933"/>
          </a:xfrm>
        </p:spPr>
        <p:txBody>
          <a:bodyPr anchor="b"/>
          <a:lstStyle>
            <a:lvl1pPr algn="ctr"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14500" y="9605435"/>
            <a:ext cx="10287000" cy="4415365"/>
          </a:xfrm>
        </p:spPr>
        <p:txBody>
          <a:bodyPr/>
          <a:lstStyle>
            <a:lvl1pPr marL="0" indent="0" algn="ctr">
              <a:buNone/>
              <a:defRPr sz="3600"/>
            </a:lvl1pPr>
            <a:lvl2pPr marL="685800" indent="0" algn="ctr">
              <a:buNone/>
              <a:defRPr sz="3000"/>
            </a:lvl2pPr>
            <a:lvl3pPr marL="1371600" indent="0" algn="ctr">
              <a:buNone/>
              <a:defRPr sz="2700"/>
            </a:lvl3pPr>
            <a:lvl4pPr marL="2057400" indent="0" algn="ctr">
              <a:buNone/>
              <a:defRPr sz="2400"/>
            </a:lvl4pPr>
            <a:lvl5pPr marL="2743200" indent="0" algn="ctr">
              <a:buNone/>
              <a:defRPr sz="2400"/>
            </a:lvl5pPr>
            <a:lvl6pPr marL="3429000" indent="0" algn="ctr">
              <a:buNone/>
              <a:defRPr sz="2400"/>
            </a:lvl6pPr>
            <a:lvl7pPr marL="4114800" indent="0" algn="ctr">
              <a:buNone/>
              <a:defRPr sz="2400"/>
            </a:lvl7pPr>
            <a:lvl8pPr marL="4800600" indent="0" algn="ctr">
              <a:buNone/>
              <a:defRPr sz="2400"/>
            </a:lvl8pPr>
            <a:lvl9pPr marL="5486400" indent="0" algn="ctr">
              <a:buNone/>
              <a:defRPr sz="24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079573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1241578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5832" y="4559305"/>
            <a:ext cx="11830050" cy="7607299"/>
          </a:xfrm>
        </p:spPr>
        <p:txBody>
          <a:bodyPr anchor="b"/>
          <a:lstStyle>
            <a:lvl1pPr>
              <a:defRPr sz="9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35832" y="12238572"/>
            <a:ext cx="11830050" cy="4000499"/>
          </a:xfrm>
        </p:spPr>
        <p:txBody>
          <a:bodyPr/>
          <a:lstStyle>
            <a:lvl1pPr marL="0" indent="0">
              <a:buNone/>
              <a:defRPr sz="3600">
                <a:solidFill>
                  <a:schemeClr val="tx1">
                    <a:tint val="82000"/>
                  </a:schemeClr>
                </a:solidFill>
              </a:defRPr>
            </a:lvl1pPr>
            <a:lvl2pPr marL="685800" indent="0">
              <a:buNone/>
              <a:defRPr sz="3000">
                <a:solidFill>
                  <a:schemeClr val="tx1">
                    <a:tint val="82000"/>
                  </a:schemeClr>
                </a:solidFill>
              </a:defRPr>
            </a:lvl2pPr>
            <a:lvl3pPr marL="1371600" indent="0">
              <a:buNone/>
              <a:defRPr sz="2700">
                <a:solidFill>
                  <a:schemeClr val="tx1">
                    <a:tint val="82000"/>
                  </a:schemeClr>
                </a:solidFill>
              </a:defRPr>
            </a:lvl3pPr>
            <a:lvl4pPr marL="2057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4pPr>
            <a:lvl5pPr marL="27432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5pPr>
            <a:lvl6pPr marL="34290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6pPr>
            <a:lvl7pPr marL="41148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7pPr>
            <a:lvl8pPr marL="48006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8pPr>
            <a:lvl9pPr marL="548640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28642530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42975" y="4868333"/>
            <a:ext cx="58293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943725" y="4868333"/>
            <a:ext cx="5829300" cy="11603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4211529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1" y="973670"/>
            <a:ext cx="11830050" cy="353483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4763" y="4483101"/>
            <a:ext cx="5802510" cy="219709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944763" y="6680200"/>
            <a:ext cx="5802510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43725" y="4483101"/>
            <a:ext cx="5831087" cy="2197099"/>
          </a:xfrm>
        </p:spPr>
        <p:txBody>
          <a:bodyPr anchor="b"/>
          <a:lstStyle>
            <a:lvl1pPr marL="0" indent="0">
              <a:buNone/>
              <a:defRPr sz="3600" b="1"/>
            </a:lvl1pPr>
            <a:lvl2pPr marL="685800" indent="0">
              <a:buNone/>
              <a:defRPr sz="3000" b="1"/>
            </a:lvl2pPr>
            <a:lvl3pPr marL="1371600" indent="0">
              <a:buNone/>
              <a:defRPr sz="2700" b="1"/>
            </a:lvl3pPr>
            <a:lvl4pPr marL="2057400" indent="0">
              <a:buNone/>
              <a:defRPr sz="2400" b="1"/>
            </a:lvl4pPr>
            <a:lvl5pPr marL="2743200" indent="0">
              <a:buNone/>
              <a:defRPr sz="2400" b="1"/>
            </a:lvl5pPr>
            <a:lvl6pPr marL="3429000" indent="0">
              <a:buNone/>
              <a:defRPr sz="2400" b="1"/>
            </a:lvl6pPr>
            <a:lvl7pPr marL="4114800" indent="0">
              <a:buNone/>
              <a:defRPr sz="2400" b="1"/>
            </a:lvl7pPr>
            <a:lvl8pPr marL="4800600" indent="0">
              <a:buNone/>
              <a:defRPr sz="2400" b="1"/>
            </a:lvl8pPr>
            <a:lvl9pPr marL="5486400" indent="0">
              <a:buNone/>
              <a:defRPr sz="24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43725" y="6680200"/>
            <a:ext cx="5831087" cy="982556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392360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5996818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565157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219200"/>
            <a:ext cx="4423767" cy="42672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31086" y="2633137"/>
            <a:ext cx="6943725" cy="12996333"/>
          </a:xfrm>
        </p:spPr>
        <p:txBody>
          <a:bodyPr/>
          <a:lstStyle>
            <a:lvl1pPr>
              <a:defRPr sz="4800"/>
            </a:lvl1pPr>
            <a:lvl2pPr>
              <a:defRPr sz="4200"/>
            </a:lvl2pPr>
            <a:lvl3pPr>
              <a:defRPr sz="3600"/>
            </a:lvl3pPr>
            <a:lvl4pPr>
              <a:defRPr sz="3000"/>
            </a:lvl4pPr>
            <a:lvl5pPr>
              <a:defRPr sz="3000"/>
            </a:lvl5pPr>
            <a:lvl6pPr>
              <a:defRPr sz="3000"/>
            </a:lvl6pPr>
            <a:lvl7pPr>
              <a:defRPr sz="3000"/>
            </a:lvl7pPr>
            <a:lvl8pPr>
              <a:defRPr sz="3000"/>
            </a:lvl8pPr>
            <a:lvl9pPr>
              <a:defRPr sz="3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5486400"/>
            <a:ext cx="4423767" cy="1016423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859349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4762" y="1219200"/>
            <a:ext cx="4423767" cy="4267200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831086" y="2633137"/>
            <a:ext cx="6943725" cy="12996333"/>
          </a:xfrm>
        </p:spPr>
        <p:txBody>
          <a:bodyPr anchor="t"/>
          <a:lstStyle>
            <a:lvl1pPr marL="0" indent="0">
              <a:buNone/>
              <a:defRPr sz="4800"/>
            </a:lvl1pPr>
            <a:lvl2pPr marL="685800" indent="0">
              <a:buNone/>
              <a:defRPr sz="4200"/>
            </a:lvl2pPr>
            <a:lvl3pPr marL="1371600" indent="0">
              <a:buNone/>
              <a:defRPr sz="3600"/>
            </a:lvl3pPr>
            <a:lvl4pPr marL="2057400" indent="0">
              <a:buNone/>
              <a:defRPr sz="3000"/>
            </a:lvl4pPr>
            <a:lvl5pPr marL="2743200" indent="0">
              <a:buNone/>
              <a:defRPr sz="3000"/>
            </a:lvl5pPr>
            <a:lvl6pPr marL="3429000" indent="0">
              <a:buNone/>
              <a:defRPr sz="3000"/>
            </a:lvl6pPr>
            <a:lvl7pPr marL="4114800" indent="0">
              <a:buNone/>
              <a:defRPr sz="3000"/>
            </a:lvl7pPr>
            <a:lvl8pPr marL="4800600" indent="0">
              <a:buNone/>
              <a:defRPr sz="3000"/>
            </a:lvl8pPr>
            <a:lvl9pPr marL="5486400" indent="0">
              <a:buNone/>
              <a:defRPr sz="3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44762" y="5486400"/>
            <a:ext cx="4423767" cy="10164235"/>
          </a:xfrm>
        </p:spPr>
        <p:txBody>
          <a:bodyPr/>
          <a:lstStyle>
            <a:lvl1pPr marL="0" indent="0">
              <a:buNone/>
              <a:defRPr sz="2400"/>
            </a:lvl1pPr>
            <a:lvl2pPr marL="685800" indent="0">
              <a:buNone/>
              <a:defRPr sz="2100"/>
            </a:lvl2pPr>
            <a:lvl3pPr marL="1371600" indent="0">
              <a:buNone/>
              <a:defRPr sz="1800"/>
            </a:lvl3pPr>
            <a:lvl4pPr marL="2057400" indent="0">
              <a:buNone/>
              <a:defRPr sz="1500"/>
            </a:lvl4pPr>
            <a:lvl5pPr marL="2743200" indent="0">
              <a:buNone/>
              <a:defRPr sz="1500"/>
            </a:lvl5pPr>
            <a:lvl6pPr marL="3429000" indent="0">
              <a:buNone/>
              <a:defRPr sz="1500"/>
            </a:lvl6pPr>
            <a:lvl7pPr marL="4114800" indent="0">
              <a:buNone/>
              <a:defRPr sz="1500"/>
            </a:lvl7pPr>
            <a:lvl8pPr marL="4800600" indent="0">
              <a:buNone/>
              <a:defRPr sz="1500"/>
            </a:lvl8pPr>
            <a:lvl9pPr marL="5486400" indent="0">
              <a:buNone/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33963249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6759644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815513" y="973666"/>
            <a:ext cx="2957513" cy="154982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42976" y="973666"/>
            <a:ext cx="8701088" cy="1549823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9187385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42975" y="973670"/>
            <a:ext cx="11830050" cy="35348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42975" y="4868333"/>
            <a:ext cx="11830050" cy="1160356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42975" y="16950271"/>
            <a:ext cx="30861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20D1FC-2253-9541-B174-ECE369BAD33E}" type="datetimeFigureOut">
              <a:rPr lang="pl-PL" smtClean="0"/>
              <a:t>7.01.2026</a:t>
            </a:fld>
            <a:endParaRPr lang="pl-P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543425" y="16950271"/>
            <a:ext cx="462915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l-P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686925" y="16950271"/>
            <a:ext cx="3086100" cy="9736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B83955-F6F9-134B-AEA3-F38AFE876402}" type="slidenum">
              <a:rPr lang="pl-PL" smtClean="0"/>
              <a:t>‹#›</a:t>
            </a:fld>
            <a:endParaRPr lang="pl-PL"/>
          </a:p>
        </p:txBody>
      </p:sp>
    </p:spTree>
    <p:extLst>
      <p:ext uri="{BB962C8B-B14F-4D97-AF65-F5344CB8AC3E}">
        <p14:creationId xmlns:p14="http://schemas.microsoft.com/office/powerpoint/2010/main" val="1881797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1371600" rtl="0" eaLnBrk="1" latinLnBrk="0" hangingPunct="1">
        <a:lnSpc>
          <a:spcPct val="90000"/>
        </a:lnSpc>
        <a:spcBef>
          <a:spcPct val="0"/>
        </a:spcBef>
        <a:buNone/>
        <a:defRPr sz="6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1371600" rtl="0" eaLnBrk="1" latinLnBrk="0" hangingPunct="1">
        <a:lnSpc>
          <a:spcPct val="90000"/>
        </a:lnSpc>
        <a:spcBef>
          <a:spcPts val="1500"/>
        </a:spcBef>
        <a:buFont typeface="Arial" panose="020B0604020202020204" pitchFamily="34" charset="0"/>
        <a:buChar char="•"/>
        <a:defRPr sz="4200" kern="1200">
          <a:solidFill>
            <a:schemeClr val="tx1"/>
          </a:solidFill>
          <a:latin typeface="+mn-lt"/>
          <a:ea typeface="+mn-ea"/>
          <a:cs typeface="+mn-cs"/>
        </a:defRPr>
      </a:lvl1pPr>
      <a:lvl2pPr marL="1028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714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3pPr>
      <a:lvl4pPr marL="2400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30861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7719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4577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51435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829300" indent="-342900" algn="l" defTabSz="13716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3pPr>
      <a:lvl4pPr marL="2057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2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5pPr>
      <a:lvl6pPr marL="34290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41148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486400" algn="l" defTabSz="1371600" rtl="0" eaLnBrk="1" latinLnBrk="0" hangingPunct="1"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C41727B-FEF8-44B3-37B7-3FF4765D230B}"/>
              </a:ext>
            </a:extLst>
          </p:cNvPr>
          <p:cNvSpPr txBox="1"/>
          <p:nvPr/>
        </p:nvSpPr>
        <p:spPr>
          <a:xfrm>
            <a:off x="260179" y="321506"/>
            <a:ext cx="1248740" cy="3462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sz="1650" dirty="0">
                <a:solidFill>
                  <a:schemeClr val="tx1">
                    <a:lumMod val="65000"/>
                    <a:lumOff val="35000"/>
                  </a:schemeClr>
                </a:solidFill>
              </a:rPr>
              <a:t>Zadanie 8.2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A008E97-840D-F703-3F7B-50A11CE6F3E5}"/>
              </a:ext>
            </a:extLst>
          </p:cNvPr>
          <p:cNvSpPr txBox="1"/>
          <p:nvPr/>
        </p:nvSpPr>
        <p:spPr>
          <a:xfrm>
            <a:off x="260182" y="661775"/>
            <a:ext cx="2218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Ewolucja różnicowa.</a:t>
            </a:r>
          </a:p>
        </p:txBody>
      </p:sp>
      <p:sp>
        <p:nvSpPr>
          <p:cNvPr id="6" name="Terminator 5">
            <a:extLst>
              <a:ext uri="{FF2B5EF4-FFF2-40B4-BE49-F238E27FC236}">
                <a16:creationId xmlns:a16="http://schemas.microsoft.com/office/drawing/2014/main" id="{E402C046-98F0-65EE-8D76-B5C679C100EC}"/>
              </a:ext>
            </a:extLst>
          </p:cNvPr>
          <p:cNvSpPr/>
          <p:nvPr/>
        </p:nvSpPr>
        <p:spPr>
          <a:xfrm>
            <a:off x="5805953" y="4708963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Start</a:t>
            </a:r>
          </a:p>
        </p:txBody>
      </p:sp>
      <p:sp>
        <p:nvSpPr>
          <p:cNvPr id="7" name="Data 6">
            <a:extLst>
              <a:ext uri="{FF2B5EF4-FFF2-40B4-BE49-F238E27FC236}">
                <a16:creationId xmlns:a16="http://schemas.microsoft.com/office/drawing/2014/main" id="{B8A4C49B-7550-489B-FB16-6D52D32C7784}"/>
              </a:ext>
            </a:extLst>
          </p:cNvPr>
          <p:cNvSpPr/>
          <p:nvPr/>
        </p:nvSpPr>
        <p:spPr>
          <a:xfrm>
            <a:off x="4026444" y="5185562"/>
            <a:ext cx="4244825" cy="641800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en-US" sz="900" dirty="0" err="1"/>
              <a:t>Wczytaj</a:t>
            </a:r>
            <a:r>
              <a:rPr lang="en-US" sz="900" dirty="0"/>
              <a:t> </a:t>
            </a:r>
            <a:r>
              <a:rPr lang="en-US" sz="900" dirty="0" err="1"/>
              <a:t>parametry</a:t>
            </a:r>
            <a:r>
              <a:rPr lang="en-US" sz="900" dirty="0"/>
              <a:t> </a:t>
            </a:r>
            <a:r>
              <a:rPr lang="en-US" sz="900" i="1" dirty="0" err="1"/>
              <a:t>population_size</a:t>
            </a:r>
            <a:r>
              <a:rPr lang="en-US" sz="900" dirty="0"/>
              <a:t>, </a:t>
            </a:r>
            <a:r>
              <a:rPr lang="en-US" sz="900" i="1" dirty="0" err="1"/>
              <a:t>iteration_count</a:t>
            </a:r>
            <a:r>
              <a:rPr lang="en-US" sz="900" dirty="0"/>
              <a:t>,</a:t>
            </a:r>
          </a:p>
          <a:p>
            <a:pPr algn="ctr"/>
            <a:r>
              <a:rPr lang="en-US" sz="900" i="1" dirty="0" err="1"/>
              <a:t>mutation_control</a:t>
            </a:r>
            <a:r>
              <a:rPr lang="en-US" sz="900" dirty="0"/>
              <a:t> </a:t>
            </a:r>
            <a:r>
              <a:rPr lang="en-US" sz="900" dirty="0" err="1"/>
              <a:t>i</a:t>
            </a:r>
            <a:r>
              <a:rPr lang="en-US" sz="900" dirty="0"/>
              <a:t> </a:t>
            </a:r>
            <a:r>
              <a:rPr lang="en-US" sz="900" i="1" dirty="0" err="1"/>
              <a:t>crossover_probability</a:t>
            </a:r>
            <a:endParaRPr lang="en-US" sz="900" i="1" dirty="0"/>
          </a:p>
          <a:p>
            <a:pPr algn="ctr"/>
            <a:r>
              <a:rPr lang="en-US" sz="900" dirty="0" err="1"/>
              <a:t>oraz</a:t>
            </a:r>
            <a:r>
              <a:rPr lang="en-US" sz="900" dirty="0"/>
              <a:t> </a:t>
            </a:r>
            <a:r>
              <a:rPr lang="en-US" sz="900" dirty="0" err="1"/>
              <a:t>funkcję</a:t>
            </a:r>
            <a:r>
              <a:rPr lang="en-US" sz="900" dirty="0"/>
              <a:t> </a:t>
            </a:r>
            <a:r>
              <a:rPr lang="en-US" sz="900" dirty="0" err="1"/>
              <a:t>celu</a:t>
            </a:r>
            <a:r>
              <a:rPr lang="en-US" sz="900" dirty="0"/>
              <a:t> do </a:t>
            </a:r>
            <a:r>
              <a:rPr lang="en-US" sz="900" dirty="0" err="1"/>
              <a:t>minimalizacji</a:t>
            </a:r>
            <a:r>
              <a:rPr lang="en-US" sz="900" dirty="0"/>
              <a:t> </a:t>
            </a:r>
            <a:r>
              <a:rPr lang="en-US" sz="900" i="1" dirty="0" err="1"/>
              <a:t>cost_function</a:t>
            </a:r>
            <a:br>
              <a:rPr lang="en-US" sz="900" i="1" dirty="0"/>
            </a:br>
            <a:r>
              <a:rPr lang="en-US" sz="900" dirty="0" err="1"/>
              <a:t>i</a:t>
            </a:r>
            <a:r>
              <a:rPr lang="en-US" sz="900" dirty="0"/>
              <a:t> </a:t>
            </a:r>
            <a:r>
              <a:rPr lang="en-US" sz="900" i="1" dirty="0" err="1"/>
              <a:t>badany</a:t>
            </a:r>
            <a:r>
              <a:rPr lang="en-US" sz="900" i="1" dirty="0"/>
              <a:t> </a:t>
            </a:r>
            <a:r>
              <a:rPr lang="en-US" sz="900" i="1" dirty="0" err="1"/>
              <a:t>obszar</a:t>
            </a:r>
            <a:r>
              <a:rPr lang="en-US" sz="900" i="1" dirty="0"/>
              <a:t> </a:t>
            </a:r>
            <a:r>
              <a:rPr lang="en-US" sz="900" dirty="0"/>
              <a:t>domain</a:t>
            </a:r>
          </a:p>
        </p:txBody>
      </p:sp>
      <p:sp>
        <p:nvSpPr>
          <p:cNvPr id="11" name="Process 10">
            <a:extLst>
              <a:ext uri="{FF2B5EF4-FFF2-40B4-BE49-F238E27FC236}">
                <a16:creationId xmlns:a16="http://schemas.microsoft.com/office/drawing/2014/main" id="{857AD6E5-352F-8CCC-60B3-468DFF87EDD0}"/>
              </a:ext>
            </a:extLst>
          </p:cNvPr>
          <p:cNvSpPr/>
          <p:nvPr/>
        </p:nvSpPr>
        <p:spPr>
          <a:xfrm>
            <a:off x="5231939" y="6077647"/>
            <a:ext cx="1833828" cy="32529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current_population</a:t>
            </a:r>
            <a:r>
              <a:rPr lang="pl-PL" sz="900" dirty="0"/>
              <a:t> ← pusta lista</a:t>
            </a:r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0</a:t>
            </a:r>
          </a:p>
        </p:txBody>
      </p:sp>
      <p:sp>
        <p:nvSpPr>
          <p:cNvPr id="16" name="Decision 15">
            <a:extLst>
              <a:ext uri="{FF2B5EF4-FFF2-40B4-BE49-F238E27FC236}">
                <a16:creationId xmlns:a16="http://schemas.microsoft.com/office/drawing/2014/main" id="{7B51DAD2-EE0C-CC50-1A99-CDEACF588BF6}"/>
              </a:ext>
            </a:extLst>
          </p:cNvPr>
          <p:cNvSpPr/>
          <p:nvPr/>
        </p:nvSpPr>
        <p:spPr>
          <a:xfrm>
            <a:off x="5439713" y="6653231"/>
            <a:ext cx="1418287" cy="37172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population_size</a:t>
            </a:r>
            <a:endParaRPr lang="pl-PL" sz="900" i="1" dirty="0"/>
          </a:p>
        </p:txBody>
      </p:sp>
      <p:sp>
        <p:nvSpPr>
          <p:cNvPr id="18" name="Process 17">
            <a:extLst>
              <a:ext uri="{FF2B5EF4-FFF2-40B4-BE49-F238E27FC236}">
                <a16:creationId xmlns:a16="http://schemas.microsoft.com/office/drawing/2014/main" id="{6A7FF69F-0BC3-DF5D-7416-8894351C890F}"/>
              </a:ext>
            </a:extLst>
          </p:cNvPr>
          <p:cNvSpPr/>
          <p:nvPr/>
        </p:nvSpPr>
        <p:spPr>
          <a:xfrm>
            <a:off x="6858000" y="7275238"/>
            <a:ext cx="2687161" cy="41648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position</a:t>
            </a:r>
            <a:r>
              <a:rPr lang="pl-PL" sz="900" dirty="0"/>
              <a:t> ← losowy punkt w badanym obszarze</a:t>
            </a:r>
          </a:p>
          <a:p>
            <a:pPr algn="ctr"/>
            <a:r>
              <a:rPr lang="pl-PL" sz="900" dirty="0"/>
              <a:t>Dodaj </a:t>
            </a:r>
            <a:r>
              <a:rPr lang="pl-PL" sz="900" i="1" dirty="0" err="1"/>
              <a:t>position</a:t>
            </a:r>
            <a:r>
              <a:rPr lang="pl-PL" sz="900" dirty="0"/>
              <a:t> do listy </a:t>
            </a:r>
            <a:r>
              <a:rPr lang="pl-PL" sz="900" i="1" dirty="0" err="1"/>
              <a:t>current_population</a:t>
            </a:r>
            <a:endParaRPr lang="pl-PL" sz="900" i="1" dirty="0"/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sp>
        <p:nvSpPr>
          <p:cNvPr id="25" name="Process 24">
            <a:extLst>
              <a:ext uri="{FF2B5EF4-FFF2-40B4-BE49-F238E27FC236}">
                <a16:creationId xmlns:a16="http://schemas.microsoft.com/office/drawing/2014/main" id="{5630E8EF-ABF3-0D9D-D741-577DFB2DD08B}"/>
              </a:ext>
            </a:extLst>
          </p:cNvPr>
          <p:cNvSpPr/>
          <p:nvPr/>
        </p:nvSpPr>
        <p:spPr>
          <a:xfrm>
            <a:off x="3026205" y="8331191"/>
            <a:ext cx="3073904" cy="30928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new_population</a:t>
            </a:r>
            <a:r>
              <a:rPr lang="pl-PL" sz="900" dirty="0"/>
              <a:t> ← pusta tablica rozmiaru </a:t>
            </a:r>
            <a:r>
              <a:rPr lang="pl-PL" sz="900" i="1" dirty="0" err="1"/>
              <a:t>population_size</a:t>
            </a:r>
            <a:endParaRPr lang="pl-PL" sz="900" i="1" dirty="0"/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0</a:t>
            </a:r>
          </a:p>
        </p:txBody>
      </p:sp>
      <p:sp>
        <p:nvSpPr>
          <p:cNvPr id="82" name="Terminator 81">
            <a:extLst>
              <a:ext uri="{FF2B5EF4-FFF2-40B4-BE49-F238E27FC236}">
                <a16:creationId xmlns:a16="http://schemas.microsoft.com/office/drawing/2014/main" id="{5C01754E-C1AB-7C72-655A-BD3BE003F26E}"/>
              </a:ext>
            </a:extLst>
          </p:cNvPr>
          <p:cNvSpPr/>
          <p:nvPr/>
        </p:nvSpPr>
        <p:spPr>
          <a:xfrm>
            <a:off x="2297672" y="10757240"/>
            <a:ext cx="685800" cy="226314"/>
          </a:xfrm>
          <a:prstGeom prst="flowChartTerminator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/>
              <a:t>Stop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20158DD9-8B52-51A3-4602-46B061FD2092}"/>
              </a:ext>
            </a:extLst>
          </p:cNvPr>
          <p:cNvSpPr txBox="1"/>
          <p:nvPr/>
        </p:nvSpPr>
        <p:spPr>
          <a:xfrm>
            <a:off x="6825090" y="6545424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93" name="Data 92">
            <a:extLst>
              <a:ext uri="{FF2B5EF4-FFF2-40B4-BE49-F238E27FC236}">
                <a16:creationId xmlns:a16="http://schemas.microsoft.com/office/drawing/2014/main" id="{15ECB157-D702-9AB1-E54A-77C4F1674781}"/>
              </a:ext>
            </a:extLst>
          </p:cNvPr>
          <p:cNvSpPr/>
          <p:nvPr/>
        </p:nvSpPr>
        <p:spPr>
          <a:xfrm>
            <a:off x="1366172" y="10211308"/>
            <a:ext cx="2548801" cy="295658"/>
          </a:xfrm>
          <a:prstGeom prst="flowChartInputOutpu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900" dirty="0" err="1"/>
              <a:t>Wypisz</a:t>
            </a:r>
            <a:r>
              <a:rPr lang="en-US" sz="900" dirty="0"/>
              <a:t> </a:t>
            </a:r>
            <a:r>
              <a:rPr lang="en-US" sz="900" i="1" dirty="0" err="1"/>
              <a:t>best_position</a:t>
            </a:r>
            <a:endParaRPr lang="en-US" sz="900" i="1"/>
          </a:p>
          <a:p>
            <a:pPr algn="ctr"/>
            <a:r>
              <a:rPr lang="en-US" sz="900"/>
              <a:t>oraz</a:t>
            </a:r>
            <a:r>
              <a:rPr lang="en-US" sz="900" dirty="0"/>
              <a:t> </a:t>
            </a:r>
            <a:r>
              <a:rPr lang="en-US" sz="900" i="1" dirty="0" err="1"/>
              <a:t>lowest_cost</a:t>
            </a:r>
            <a:endParaRPr lang="en-US" sz="900" i="1" dirty="0"/>
          </a:p>
        </p:txBody>
      </p:sp>
      <p:sp>
        <p:nvSpPr>
          <p:cNvPr id="2" name="Decision 1">
            <a:extLst>
              <a:ext uri="{FF2B5EF4-FFF2-40B4-BE49-F238E27FC236}">
                <a16:creationId xmlns:a16="http://schemas.microsoft.com/office/drawing/2014/main" id="{9C39F806-8D0A-17FF-BE1D-2D4F172ACA1F}"/>
              </a:ext>
            </a:extLst>
          </p:cNvPr>
          <p:cNvSpPr/>
          <p:nvPr/>
        </p:nvSpPr>
        <p:spPr>
          <a:xfrm>
            <a:off x="3854013" y="8890767"/>
            <a:ext cx="1418287" cy="371725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i</a:t>
            </a:r>
            <a:r>
              <a:rPr lang="pl-PL" sz="900" dirty="0"/>
              <a:t> &lt; </a:t>
            </a:r>
            <a:r>
              <a:rPr lang="pl-PL" sz="900" i="1" dirty="0" err="1"/>
              <a:t>iteration_count</a:t>
            </a:r>
            <a:endParaRPr lang="pl-PL" sz="900" i="1" dirty="0"/>
          </a:p>
        </p:txBody>
      </p:sp>
      <p:sp>
        <p:nvSpPr>
          <p:cNvPr id="3" name="Process 2">
            <a:extLst>
              <a:ext uri="{FF2B5EF4-FFF2-40B4-BE49-F238E27FC236}">
                <a16:creationId xmlns:a16="http://schemas.microsoft.com/office/drawing/2014/main" id="{A5844513-4448-9C8B-B279-88217B1DE177}"/>
              </a:ext>
            </a:extLst>
          </p:cNvPr>
          <p:cNvSpPr/>
          <p:nvPr/>
        </p:nvSpPr>
        <p:spPr>
          <a:xfrm>
            <a:off x="6651634" y="9198544"/>
            <a:ext cx="580730" cy="18586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j</a:t>
            </a:r>
            <a:r>
              <a:rPr lang="pl-PL" sz="900" dirty="0"/>
              <a:t> ← 0</a:t>
            </a:r>
          </a:p>
        </p:txBody>
      </p:sp>
      <p:sp>
        <p:nvSpPr>
          <p:cNvPr id="8" name="Decision 7">
            <a:extLst>
              <a:ext uri="{FF2B5EF4-FFF2-40B4-BE49-F238E27FC236}">
                <a16:creationId xmlns:a16="http://schemas.microsoft.com/office/drawing/2014/main" id="{A5C429E3-D00C-2AA2-1BCC-0A8F184ED4C9}"/>
              </a:ext>
            </a:extLst>
          </p:cNvPr>
          <p:cNvSpPr/>
          <p:nvPr/>
        </p:nvSpPr>
        <p:spPr>
          <a:xfrm>
            <a:off x="5980976" y="9581631"/>
            <a:ext cx="1922053" cy="579952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/>
              <a:t>j</a:t>
            </a:r>
            <a:r>
              <a:rPr lang="pl-PL" sz="900" dirty="0"/>
              <a:t> &lt; długość </a:t>
            </a:r>
            <a:r>
              <a:rPr lang="pl-PL" sz="900" dirty="0" err="1"/>
              <a:t>current_population</a:t>
            </a:r>
            <a:endParaRPr lang="pl-PL" sz="900" i="1" dirty="0"/>
          </a:p>
        </p:txBody>
      </p:sp>
      <p:sp>
        <p:nvSpPr>
          <p:cNvPr id="30" name="Process 29">
            <a:extLst>
              <a:ext uri="{FF2B5EF4-FFF2-40B4-BE49-F238E27FC236}">
                <a16:creationId xmlns:a16="http://schemas.microsoft.com/office/drawing/2014/main" id="{D2FBECA5-53E1-92B8-35D3-EAFBF992D031}"/>
              </a:ext>
            </a:extLst>
          </p:cNvPr>
          <p:cNvSpPr/>
          <p:nvPr/>
        </p:nvSpPr>
        <p:spPr>
          <a:xfrm>
            <a:off x="4590723" y="12508558"/>
            <a:ext cx="2131230" cy="306390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current_population</a:t>
            </a:r>
            <a:r>
              <a:rPr lang="pl-PL" sz="900" dirty="0"/>
              <a:t> ← </a:t>
            </a:r>
            <a:r>
              <a:rPr lang="pl-PL" sz="900" i="1" dirty="0" err="1"/>
              <a:t>new_population</a:t>
            </a:r>
            <a:endParaRPr lang="pl-PL" sz="900" i="1" dirty="0"/>
          </a:p>
          <a:p>
            <a:pPr algn="ctr"/>
            <a:r>
              <a:rPr lang="pl-PL" sz="900" i="1" dirty="0"/>
              <a:t>i</a:t>
            </a:r>
            <a:r>
              <a:rPr lang="pl-PL" sz="900" dirty="0"/>
              <a:t> ← </a:t>
            </a:r>
            <a:r>
              <a:rPr lang="pl-PL" sz="900" i="1" dirty="0"/>
              <a:t>i</a:t>
            </a:r>
            <a:r>
              <a:rPr lang="pl-PL" sz="900" dirty="0"/>
              <a:t> + 1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167D177C-3AF5-25B2-1BE6-9492CAF65D82}"/>
              </a:ext>
            </a:extLst>
          </p:cNvPr>
          <p:cNvCxnSpPr>
            <a:stCxn id="6" idx="2"/>
            <a:endCxn id="7" idx="1"/>
          </p:cNvCxnSpPr>
          <p:nvPr/>
        </p:nvCxnSpPr>
        <p:spPr>
          <a:xfrm>
            <a:off x="6148856" y="4935280"/>
            <a:ext cx="1" cy="25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2A56FB6-C295-799A-42FB-12CFD92C1E69}"/>
              </a:ext>
            </a:extLst>
          </p:cNvPr>
          <p:cNvCxnSpPr>
            <a:cxnSpLocks/>
            <a:stCxn id="7" idx="4"/>
            <a:endCxn id="11" idx="0"/>
          </p:cNvCxnSpPr>
          <p:nvPr/>
        </p:nvCxnSpPr>
        <p:spPr>
          <a:xfrm flipH="1">
            <a:off x="6148853" y="5827362"/>
            <a:ext cx="4" cy="2502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FBFDCACC-E653-5119-F682-4BE7064709F9}"/>
              </a:ext>
            </a:extLst>
          </p:cNvPr>
          <p:cNvCxnSpPr>
            <a:cxnSpLocks/>
            <a:stCxn id="11" idx="2"/>
            <a:endCxn id="16" idx="0"/>
          </p:cNvCxnSpPr>
          <p:nvPr/>
        </p:nvCxnSpPr>
        <p:spPr>
          <a:xfrm>
            <a:off x="6148853" y="6402943"/>
            <a:ext cx="4" cy="250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8534BFE5-1B3E-14E0-001B-220F1D6616C4}"/>
              </a:ext>
            </a:extLst>
          </p:cNvPr>
          <p:cNvCxnSpPr>
            <a:stCxn id="16" idx="3"/>
            <a:endCxn id="18" idx="0"/>
          </p:cNvCxnSpPr>
          <p:nvPr/>
        </p:nvCxnSpPr>
        <p:spPr>
          <a:xfrm>
            <a:off x="6858000" y="6839094"/>
            <a:ext cx="1343581" cy="43614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E8E613F5-B4E5-2620-F1F9-570DA217267F}"/>
              </a:ext>
            </a:extLst>
          </p:cNvPr>
          <p:cNvCxnSpPr>
            <a:stCxn id="18" idx="2"/>
            <a:endCxn id="16" idx="0"/>
          </p:cNvCxnSpPr>
          <p:nvPr/>
        </p:nvCxnSpPr>
        <p:spPr>
          <a:xfrm rot="5400000" flipH="1">
            <a:off x="6655971" y="6146111"/>
            <a:ext cx="1038490" cy="2052724"/>
          </a:xfrm>
          <a:prstGeom prst="bentConnector5">
            <a:avLst>
              <a:gd name="adj1" fmla="val -11193"/>
              <a:gd name="adj2" fmla="val -75913"/>
              <a:gd name="adj3" fmla="val 11716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CA9A8FDA-C270-697D-451C-E5A516EC9224}"/>
              </a:ext>
            </a:extLst>
          </p:cNvPr>
          <p:cNvCxnSpPr>
            <a:cxnSpLocks/>
            <a:stCxn id="25" idx="2"/>
            <a:endCxn id="2" idx="0"/>
          </p:cNvCxnSpPr>
          <p:nvPr/>
        </p:nvCxnSpPr>
        <p:spPr>
          <a:xfrm>
            <a:off x="4563157" y="8640479"/>
            <a:ext cx="0" cy="250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82F0244-8A77-227A-4528-3A54AF317618}"/>
              </a:ext>
            </a:extLst>
          </p:cNvPr>
          <p:cNvCxnSpPr>
            <a:cxnSpLocks/>
            <a:stCxn id="3" idx="2"/>
            <a:endCxn id="8" idx="0"/>
          </p:cNvCxnSpPr>
          <p:nvPr/>
        </p:nvCxnSpPr>
        <p:spPr>
          <a:xfrm>
            <a:off x="6941999" y="9384410"/>
            <a:ext cx="4" cy="19722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Elbow Connector 57">
            <a:extLst>
              <a:ext uri="{FF2B5EF4-FFF2-40B4-BE49-F238E27FC236}">
                <a16:creationId xmlns:a16="http://schemas.microsoft.com/office/drawing/2014/main" id="{8467A423-326D-A753-BB8C-CEB4A32A2898}"/>
              </a:ext>
            </a:extLst>
          </p:cNvPr>
          <p:cNvCxnSpPr>
            <a:cxnSpLocks/>
            <a:stCxn id="8" idx="3"/>
            <a:endCxn id="44" idx="0"/>
          </p:cNvCxnSpPr>
          <p:nvPr/>
        </p:nvCxnSpPr>
        <p:spPr>
          <a:xfrm>
            <a:off x="7903029" y="9871607"/>
            <a:ext cx="2013928" cy="42542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Elbow Connector 99">
            <a:extLst>
              <a:ext uri="{FF2B5EF4-FFF2-40B4-BE49-F238E27FC236}">
                <a16:creationId xmlns:a16="http://schemas.microsoft.com/office/drawing/2014/main" id="{2B746CC1-C2F2-A257-608C-D6EDD8108EE6}"/>
              </a:ext>
            </a:extLst>
          </p:cNvPr>
          <p:cNvCxnSpPr>
            <a:cxnSpLocks/>
            <a:stCxn id="8" idx="1"/>
            <a:endCxn id="30" idx="0"/>
          </p:cNvCxnSpPr>
          <p:nvPr/>
        </p:nvCxnSpPr>
        <p:spPr>
          <a:xfrm rot="10800000" flipV="1">
            <a:off x="5656338" y="9871606"/>
            <a:ext cx="324638" cy="2636951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Elbow Connector 119">
            <a:extLst>
              <a:ext uri="{FF2B5EF4-FFF2-40B4-BE49-F238E27FC236}">
                <a16:creationId xmlns:a16="http://schemas.microsoft.com/office/drawing/2014/main" id="{85D7F2AE-8497-817C-B7F7-39DA71A12E17}"/>
              </a:ext>
            </a:extLst>
          </p:cNvPr>
          <p:cNvCxnSpPr>
            <a:cxnSpLocks/>
            <a:stCxn id="30" idx="2"/>
            <a:endCxn id="2" idx="0"/>
          </p:cNvCxnSpPr>
          <p:nvPr/>
        </p:nvCxnSpPr>
        <p:spPr>
          <a:xfrm rot="5400000" flipH="1">
            <a:off x="3147657" y="10306268"/>
            <a:ext cx="3924181" cy="1093181"/>
          </a:xfrm>
          <a:prstGeom prst="bentConnector5">
            <a:avLst>
              <a:gd name="adj1" fmla="val -5825"/>
              <a:gd name="adj2" fmla="val -684135"/>
              <a:gd name="adj3" fmla="val 104493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A5840DEA-B4B0-C6E5-734D-7548547BC725}"/>
              </a:ext>
            </a:extLst>
          </p:cNvPr>
          <p:cNvCxnSpPr>
            <a:cxnSpLocks/>
          </p:cNvCxnSpPr>
          <p:nvPr/>
        </p:nvCxnSpPr>
        <p:spPr>
          <a:xfrm flipH="1">
            <a:off x="2640572" y="10506966"/>
            <a:ext cx="1" cy="25027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TextBox 143">
            <a:extLst>
              <a:ext uri="{FF2B5EF4-FFF2-40B4-BE49-F238E27FC236}">
                <a16:creationId xmlns:a16="http://schemas.microsoft.com/office/drawing/2014/main" id="{0DE350CB-8614-59FC-5A36-542C21E5FF3C}"/>
              </a:ext>
            </a:extLst>
          </p:cNvPr>
          <p:cNvSpPr txBox="1"/>
          <p:nvPr/>
        </p:nvSpPr>
        <p:spPr>
          <a:xfrm>
            <a:off x="4945745" y="6545424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5" name="TextBox 144">
            <a:extLst>
              <a:ext uri="{FF2B5EF4-FFF2-40B4-BE49-F238E27FC236}">
                <a16:creationId xmlns:a16="http://schemas.microsoft.com/office/drawing/2014/main" id="{5EEFDBA1-4D92-814E-20A7-CC34E7B644C1}"/>
              </a:ext>
            </a:extLst>
          </p:cNvPr>
          <p:cNvSpPr txBox="1"/>
          <p:nvPr/>
        </p:nvSpPr>
        <p:spPr>
          <a:xfrm>
            <a:off x="5272300" y="8799434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46" name="TextBox 145">
            <a:extLst>
              <a:ext uri="{FF2B5EF4-FFF2-40B4-BE49-F238E27FC236}">
                <a16:creationId xmlns:a16="http://schemas.microsoft.com/office/drawing/2014/main" id="{01A05973-8B02-5289-206B-EDF8C554EDD6}"/>
              </a:ext>
            </a:extLst>
          </p:cNvPr>
          <p:cNvSpPr txBox="1"/>
          <p:nvPr/>
        </p:nvSpPr>
        <p:spPr>
          <a:xfrm>
            <a:off x="3392955" y="8799434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47" name="TextBox 146">
            <a:extLst>
              <a:ext uri="{FF2B5EF4-FFF2-40B4-BE49-F238E27FC236}">
                <a16:creationId xmlns:a16="http://schemas.microsoft.com/office/drawing/2014/main" id="{5A8CD829-3A30-C084-8254-23FF561A8587}"/>
              </a:ext>
            </a:extLst>
          </p:cNvPr>
          <p:cNvSpPr txBox="1"/>
          <p:nvPr/>
        </p:nvSpPr>
        <p:spPr>
          <a:xfrm>
            <a:off x="11059264" y="11132140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48" name="TextBox 147">
            <a:extLst>
              <a:ext uri="{FF2B5EF4-FFF2-40B4-BE49-F238E27FC236}">
                <a16:creationId xmlns:a16="http://schemas.microsoft.com/office/drawing/2014/main" id="{6D53FC7C-1DBE-45E0-AA0C-74FDDECAA6E1}"/>
              </a:ext>
            </a:extLst>
          </p:cNvPr>
          <p:cNvSpPr txBox="1"/>
          <p:nvPr/>
        </p:nvSpPr>
        <p:spPr>
          <a:xfrm>
            <a:off x="8422261" y="11139340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44" name="Process 43">
            <a:extLst>
              <a:ext uri="{FF2B5EF4-FFF2-40B4-BE49-F238E27FC236}">
                <a16:creationId xmlns:a16="http://schemas.microsoft.com/office/drawing/2014/main" id="{D7F8DFD8-7FDC-CBBE-C6A0-B427CB8A7DE3}"/>
              </a:ext>
            </a:extLst>
          </p:cNvPr>
          <p:cNvSpPr/>
          <p:nvPr/>
        </p:nvSpPr>
        <p:spPr>
          <a:xfrm>
            <a:off x="7903029" y="10297036"/>
            <a:ext cx="4027856" cy="616468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x</a:t>
            </a:r>
            <a:r>
              <a:rPr lang="pl-PL" sz="900" dirty="0"/>
              <a:t> ← </a:t>
            </a:r>
            <a:r>
              <a:rPr lang="pl-PL" sz="900" i="1" dirty="0" err="1"/>
              <a:t>current_population</a:t>
            </a:r>
            <a:r>
              <a:rPr lang="pl-PL" sz="900" dirty="0"/>
              <a:t>[</a:t>
            </a:r>
            <a:r>
              <a:rPr lang="pl-PL" sz="900" i="1" dirty="0"/>
              <a:t>j</a:t>
            </a:r>
            <a:r>
              <a:rPr lang="pl-PL" sz="900" dirty="0"/>
              <a:t>]</a:t>
            </a:r>
          </a:p>
          <a:p>
            <a:pPr algn="ctr"/>
            <a:r>
              <a:rPr lang="pl-PL" sz="900" i="1" dirty="0" err="1"/>
              <a:t>xm</a:t>
            </a:r>
            <a:r>
              <a:rPr lang="pl-PL" sz="900" i="1" dirty="0"/>
              <a:t> </a:t>
            </a:r>
            <a:r>
              <a:rPr lang="pl-PL" sz="900" dirty="0"/>
              <a:t>← punkt </a:t>
            </a:r>
            <a:r>
              <a:rPr lang="pl-PL" sz="900" i="1" dirty="0"/>
              <a:t>x</a:t>
            </a:r>
            <a:r>
              <a:rPr lang="pl-PL" sz="900" dirty="0"/>
              <a:t> zmutowany zgodnie ze wzorem </a:t>
            </a:r>
            <a:r>
              <a:rPr lang="pl-PL" sz="900" i="1" dirty="0"/>
              <a:t>1.</a:t>
            </a:r>
          </a:p>
          <a:p>
            <a:pPr algn="ctr"/>
            <a:r>
              <a:rPr lang="pl-PL" sz="900" dirty="0"/>
              <a:t>Przeprowadź krzyżowanie punktu </a:t>
            </a:r>
            <a:r>
              <a:rPr lang="pl-PL" sz="900" i="1" dirty="0" err="1"/>
              <a:t>xm</a:t>
            </a:r>
            <a:r>
              <a:rPr lang="pl-PL" sz="900" dirty="0"/>
              <a:t> na podstawie z zgodnie ze wzorem </a:t>
            </a:r>
            <a:r>
              <a:rPr lang="pl-PL" sz="900" i="1" dirty="0"/>
              <a:t>2.</a:t>
            </a:r>
          </a:p>
          <a:p>
            <a:pPr algn="ctr"/>
            <a:r>
              <a:rPr lang="pl-PL" sz="900" dirty="0"/>
              <a:t>Ogranicz współrzędne </a:t>
            </a:r>
            <a:r>
              <a:rPr lang="pl-PL" sz="900" i="1" dirty="0" err="1"/>
              <a:t>xm</a:t>
            </a:r>
            <a:r>
              <a:rPr lang="pl-PL" sz="900" dirty="0"/>
              <a:t> do badanego obszaru</a:t>
            </a:r>
          </a:p>
        </p:txBody>
      </p:sp>
      <p:sp>
        <p:nvSpPr>
          <p:cNvPr id="52" name="Decision 51">
            <a:extLst>
              <a:ext uri="{FF2B5EF4-FFF2-40B4-BE49-F238E27FC236}">
                <a16:creationId xmlns:a16="http://schemas.microsoft.com/office/drawing/2014/main" id="{3F469C7B-82CA-35F2-BE13-359BE97B2AE5}"/>
              </a:ext>
            </a:extLst>
          </p:cNvPr>
          <p:cNvSpPr/>
          <p:nvPr/>
        </p:nvSpPr>
        <p:spPr>
          <a:xfrm>
            <a:off x="8772814" y="11165193"/>
            <a:ext cx="2288285" cy="503383"/>
          </a:xfrm>
          <a:prstGeom prst="flowChartDecision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/>
            <a:r>
              <a:rPr lang="pl-PL" sz="900" i="1" dirty="0" err="1"/>
              <a:t>cost_function</a:t>
            </a:r>
            <a:r>
              <a:rPr lang="pl-PL" sz="900" dirty="0"/>
              <a:t>(</a:t>
            </a:r>
            <a:r>
              <a:rPr lang="pl-PL" sz="900" i="1" dirty="0" err="1"/>
              <a:t>xm</a:t>
            </a:r>
            <a:r>
              <a:rPr lang="pl-PL" sz="900" dirty="0"/>
              <a:t>)</a:t>
            </a:r>
          </a:p>
          <a:p>
            <a:pPr algn="ctr"/>
            <a:r>
              <a:rPr lang="pl-PL" sz="900" dirty="0"/>
              <a:t>&lt; </a:t>
            </a:r>
            <a:r>
              <a:rPr lang="pl-PL" sz="900" i="1" dirty="0" err="1"/>
              <a:t>cost_function</a:t>
            </a:r>
            <a:r>
              <a:rPr lang="pl-PL" sz="900" dirty="0"/>
              <a:t>(</a:t>
            </a:r>
            <a:r>
              <a:rPr lang="pl-PL" sz="900" i="1" dirty="0"/>
              <a:t>x</a:t>
            </a:r>
            <a:r>
              <a:rPr lang="pl-PL" sz="900" dirty="0"/>
              <a:t>)</a:t>
            </a:r>
            <a:endParaRPr lang="pl-PL" sz="900" i="1" dirty="0"/>
          </a:p>
        </p:txBody>
      </p:sp>
      <p:sp>
        <p:nvSpPr>
          <p:cNvPr id="54" name="Process 53">
            <a:extLst>
              <a:ext uri="{FF2B5EF4-FFF2-40B4-BE49-F238E27FC236}">
                <a16:creationId xmlns:a16="http://schemas.microsoft.com/office/drawing/2014/main" id="{8A68E701-1FFB-0A3B-FCEF-F693F299BE90}"/>
              </a:ext>
            </a:extLst>
          </p:cNvPr>
          <p:cNvSpPr/>
          <p:nvPr/>
        </p:nvSpPr>
        <p:spPr>
          <a:xfrm>
            <a:off x="11061099" y="11804029"/>
            <a:ext cx="1493683" cy="21863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new_population</a:t>
            </a:r>
            <a:r>
              <a:rPr lang="pl-PL" sz="900" dirty="0"/>
              <a:t>[</a:t>
            </a:r>
            <a:r>
              <a:rPr lang="pl-PL" sz="900" i="1" dirty="0"/>
              <a:t>j</a:t>
            </a:r>
            <a:r>
              <a:rPr lang="pl-PL" sz="900" dirty="0"/>
              <a:t>] ← </a:t>
            </a:r>
            <a:r>
              <a:rPr lang="pl-PL" sz="900" i="1" dirty="0" err="1"/>
              <a:t>xm</a:t>
            </a:r>
            <a:endParaRPr lang="pl-PL" sz="900" i="1" dirty="0"/>
          </a:p>
        </p:txBody>
      </p:sp>
      <p:sp>
        <p:nvSpPr>
          <p:cNvPr id="56" name="Process 55">
            <a:extLst>
              <a:ext uri="{FF2B5EF4-FFF2-40B4-BE49-F238E27FC236}">
                <a16:creationId xmlns:a16="http://schemas.microsoft.com/office/drawing/2014/main" id="{330EE756-568A-C8BE-EBE0-70E9E765FDD7}"/>
              </a:ext>
            </a:extLst>
          </p:cNvPr>
          <p:cNvSpPr/>
          <p:nvPr/>
        </p:nvSpPr>
        <p:spPr>
          <a:xfrm>
            <a:off x="7431613" y="11807534"/>
            <a:ext cx="1341201" cy="21863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new_population</a:t>
            </a:r>
            <a:r>
              <a:rPr lang="pl-PL" sz="900" dirty="0"/>
              <a:t>[</a:t>
            </a:r>
            <a:r>
              <a:rPr lang="pl-PL" sz="900" i="1" dirty="0"/>
              <a:t>j</a:t>
            </a:r>
            <a:r>
              <a:rPr lang="pl-PL" sz="900" dirty="0"/>
              <a:t>] ← </a:t>
            </a:r>
            <a:r>
              <a:rPr lang="pl-PL" sz="900" i="1" dirty="0"/>
              <a:t>x</a:t>
            </a:r>
          </a:p>
        </p:txBody>
      </p:sp>
      <p:sp>
        <p:nvSpPr>
          <p:cNvPr id="57" name="Process 56">
            <a:extLst>
              <a:ext uri="{FF2B5EF4-FFF2-40B4-BE49-F238E27FC236}">
                <a16:creationId xmlns:a16="http://schemas.microsoft.com/office/drawing/2014/main" id="{1D690AC4-DCED-5824-1FE6-4FAF0A7CB5FF}"/>
              </a:ext>
            </a:extLst>
          </p:cNvPr>
          <p:cNvSpPr/>
          <p:nvPr/>
        </p:nvSpPr>
        <p:spPr>
          <a:xfrm>
            <a:off x="9557647" y="12399240"/>
            <a:ext cx="718617" cy="218636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/>
              <a:t>j</a:t>
            </a:r>
            <a:r>
              <a:rPr lang="pl-PL" sz="900" dirty="0"/>
              <a:t> ← </a:t>
            </a:r>
            <a:r>
              <a:rPr lang="pl-PL" sz="900" i="1" dirty="0"/>
              <a:t>j + 1</a:t>
            </a:r>
          </a:p>
        </p:txBody>
      </p:sp>
      <p:cxnSp>
        <p:nvCxnSpPr>
          <p:cNvPr id="61" name="Elbow Connector 60">
            <a:extLst>
              <a:ext uri="{FF2B5EF4-FFF2-40B4-BE49-F238E27FC236}">
                <a16:creationId xmlns:a16="http://schemas.microsoft.com/office/drawing/2014/main" id="{D8E4CC66-2BEF-BF92-C4B6-1A15C0CC0C90}"/>
              </a:ext>
            </a:extLst>
          </p:cNvPr>
          <p:cNvCxnSpPr>
            <a:stCxn id="52" idx="3"/>
            <a:endCxn id="54" idx="0"/>
          </p:cNvCxnSpPr>
          <p:nvPr/>
        </p:nvCxnSpPr>
        <p:spPr>
          <a:xfrm>
            <a:off x="11061099" y="11416885"/>
            <a:ext cx="746842" cy="38714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1A09665F-C21E-B398-8319-1E0B2925739E}"/>
              </a:ext>
            </a:extLst>
          </p:cNvPr>
          <p:cNvCxnSpPr>
            <a:stCxn id="52" idx="1"/>
            <a:endCxn id="56" idx="0"/>
          </p:cNvCxnSpPr>
          <p:nvPr/>
        </p:nvCxnSpPr>
        <p:spPr>
          <a:xfrm rot="10800000" flipV="1">
            <a:off x="8102214" y="11416884"/>
            <a:ext cx="670600" cy="390649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Elbow Connector 67">
            <a:extLst>
              <a:ext uri="{FF2B5EF4-FFF2-40B4-BE49-F238E27FC236}">
                <a16:creationId xmlns:a16="http://schemas.microsoft.com/office/drawing/2014/main" id="{D91C77C4-961D-D14D-EE2E-C2B27A171458}"/>
              </a:ext>
            </a:extLst>
          </p:cNvPr>
          <p:cNvCxnSpPr>
            <a:stCxn id="56" idx="2"/>
            <a:endCxn id="57" idx="0"/>
          </p:cNvCxnSpPr>
          <p:nvPr/>
        </p:nvCxnSpPr>
        <p:spPr>
          <a:xfrm rot="16200000" flipH="1">
            <a:off x="8823050" y="11305334"/>
            <a:ext cx="373070" cy="181474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Elbow Connector 69">
            <a:extLst>
              <a:ext uri="{FF2B5EF4-FFF2-40B4-BE49-F238E27FC236}">
                <a16:creationId xmlns:a16="http://schemas.microsoft.com/office/drawing/2014/main" id="{1DE95102-810B-3698-A6B1-D2B5B44F8DEA}"/>
              </a:ext>
            </a:extLst>
          </p:cNvPr>
          <p:cNvCxnSpPr>
            <a:stCxn id="54" idx="2"/>
            <a:endCxn id="57" idx="0"/>
          </p:cNvCxnSpPr>
          <p:nvPr/>
        </p:nvCxnSpPr>
        <p:spPr>
          <a:xfrm rot="5400000">
            <a:off x="10674162" y="11265460"/>
            <a:ext cx="376575" cy="189098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025FCCC2-F87E-C2A7-D135-66B5E8E66886}"/>
              </a:ext>
            </a:extLst>
          </p:cNvPr>
          <p:cNvCxnSpPr>
            <a:stCxn id="44" idx="2"/>
            <a:endCxn id="52" idx="0"/>
          </p:cNvCxnSpPr>
          <p:nvPr/>
        </p:nvCxnSpPr>
        <p:spPr>
          <a:xfrm>
            <a:off x="9916957" y="10913504"/>
            <a:ext cx="0" cy="25168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Elbow Connector 78">
            <a:extLst>
              <a:ext uri="{FF2B5EF4-FFF2-40B4-BE49-F238E27FC236}">
                <a16:creationId xmlns:a16="http://schemas.microsoft.com/office/drawing/2014/main" id="{599EC6CE-07FE-FB4C-A364-A779A8A47066}"/>
              </a:ext>
            </a:extLst>
          </p:cNvPr>
          <p:cNvCxnSpPr>
            <a:stCxn id="57" idx="2"/>
            <a:endCxn id="8" idx="0"/>
          </p:cNvCxnSpPr>
          <p:nvPr/>
        </p:nvCxnSpPr>
        <p:spPr>
          <a:xfrm rot="5400000" flipH="1">
            <a:off x="6911357" y="9612278"/>
            <a:ext cx="3036245" cy="2974953"/>
          </a:xfrm>
          <a:prstGeom prst="bentConnector5">
            <a:avLst>
              <a:gd name="adj1" fmla="val -4682"/>
              <a:gd name="adj2" fmla="val -98963"/>
              <a:gd name="adj3" fmla="val 104832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8" name="Elbow Connector 97">
            <a:extLst>
              <a:ext uri="{FF2B5EF4-FFF2-40B4-BE49-F238E27FC236}">
                <a16:creationId xmlns:a16="http://schemas.microsoft.com/office/drawing/2014/main" id="{8CA17D1F-D706-FC52-5AB8-42443626DF5A}"/>
              </a:ext>
            </a:extLst>
          </p:cNvPr>
          <p:cNvCxnSpPr>
            <a:stCxn id="2" idx="3"/>
            <a:endCxn id="3" idx="0"/>
          </p:cNvCxnSpPr>
          <p:nvPr/>
        </p:nvCxnSpPr>
        <p:spPr>
          <a:xfrm>
            <a:off x="5272300" y="9076630"/>
            <a:ext cx="1669699" cy="12191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Process 103">
            <a:extLst>
              <a:ext uri="{FF2B5EF4-FFF2-40B4-BE49-F238E27FC236}">
                <a16:creationId xmlns:a16="http://schemas.microsoft.com/office/drawing/2014/main" id="{E33D3BB8-6DDC-D41E-A009-A3789C440428}"/>
              </a:ext>
            </a:extLst>
          </p:cNvPr>
          <p:cNvSpPr/>
          <p:nvPr/>
        </p:nvSpPr>
        <p:spPr>
          <a:xfrm>
            <a:off x="510363" y="9608698"/>
            <a:ext cx="4260418" cy="352322"/>
          </a:xfrm>
          <a:prstGeom prst="flowChart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l-PL" sz="900" i="1" dirty="0" err="1"/>
              <a:t>best_position</a:t>
            </a:r>
            <a:r>
              <a:rPr lang="pl-PL" sz="900" dirty="0"/>
              <a:t> ← pozycja z </a:t>
            </a:r>
            <a:r>
              <a:rPr lang="pl-PL" sz="900" i="1" dirty="0" err="1"/>
              <a:t>current_population</a:t>
            </a:r>
            <a:r>
              <a:rPr lang="pl-PL" sz="900" dirty="0"/>
              <a:t> o najmniejszej wartości funkcji celu</a:t>
            </a:r>
          </a:p>
          <a:p>
            <a:pPr algn="ctr"/>
            <a:r>
              <a:rPr lang="pl-PL" sz="900" i="1" dirty="0" err="1"/>
              <a:t>lowest_cost</a:t>
            </a:r>
            <a:r>
              <a:rPr lang="pl-PL" sz="900" dirty="0"/>
              <a:t> ← </a:t>
            </a:r>
            <a:r>
              <a:rPr lang="pl-PL" sz="900" i="1" dirty="0" err="1"/>
              <a:t>cost_function</a:t>
            </a:r>
            <a:r>
              <a:rPr lang="pl-PL" sz="900" dirty="0"/>
              <a:t>(</a:t>
            </a:r>
            <a:r>
              <a:rPr lang="pl-PL" sz="900" i="1" dirty="0" err="1"/>
              <a:t>best_position</a:t>
            </a:r>
            <a:r>
              <a:rPr lang="pl-PL" sz="900" dirty="0"/>
              <a:t>)</a:t>
            </a:r>
          </a:p>
        </p:txBody>
      </p: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835B5FD1-EDE2-BF3A-F5FF-8BBBD5673085}"/>
              </a:ext>
            </a:extLst>
          </p:cNvPr>
          <p:cNvCxnSpPr>
            <a:stCxn id="104" idx="2"/>
            <a:endCxn id="93" idx="1"/>
          </p:cNvCxnSpPr>
          <p:nvPr/>
        </p:nvCxnSpPr>
        <p:spPr>
          <a:xfrm>
            <a:off x="2640572" y="9961020"/>
            <a:ext cx="1" cy="2502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9" name="Elbow Connector 108">
            <a:extLst>
              <a:ext uri="{FF2B5EF4-FFF2-40B4-BE49-F238E27FC236}">
                <a16:creationId xmlns:a16="http://schemas.microsoft.com/office/drawing/2014/main" id="{CC5FD1A9-3C69-F828-0E28-86ED9029DCB8}"/>
              </a:ext>
            </a:extLst>
          </p:cNvPr>
          <p:cNvCxnSpPr>
            <a:stCxn id="2" idx="1"/>
            <a:endCxn id="104" idx="0"/>
          </p:cNvCxnSpPr>
          <p:nvPr/>
        </p:nvCxnSpPr>
        <p:spPr>
          <a:xfrm rot="10800000" flipV="1">
            <a:off x="2640573" y="9076630"/>
            <a:ext cx="1213441" cy="532068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4" name="Elbow Connector 113">
            <a:extLst>
              <a:ext uri="{FF2B5EF4-FFF2-40B4-BE49-F238E27FC236}">
                <a16:creationId xmlns:a16="http://schemas.microsoft.com/office/drawing/2014/main" id="{E0E88F2C-4BDE-6E08-564B-5919EA6EFEEE}"/>
              </a:ext>
            </a:extLst>
          </p:cNvPr>
          <p:cNvCxnSpPr>
            <a:stCxn id="16" idx="1"/>
            <a:endCxn id="25" idx="0"/>
          </p:cNvCxnSpPr>
          <p:nvPr/>
        </p:nvCxnSpPr>
        <p:spPr>
          <a:xfrm rot="10800000" flipV="1">
            <a:off x="4563157" y="6839093"/>
            <a:ext cx="876556" cy="1492097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7F902889-B311-3AD8-D6F5-4746F8767031}"/>
              </a:ext>
            </a:extLst>
          </p:cNvPr>
          <p:cNvSpPr txBox="1"/>
          <p:nvPr/>
        </p:nvSpPr>
        <p:spPr>
          <a:xfrm>
            <a:off x="7973402" y="9789736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tak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B24DCED-04EA-DAC2-373B-C40E889EA08A}"/>
              </a:ext>
            </a:extLst>
          </p:cNvPr>
          <p:cNvSpPr txBox="1"/>
          <p:nvPr/>
        </p:nvSpPr>
        <p:spPr>
          <a:xfrm>
            <a:off x="5796203" y="9789736"/>
            <a:ext cx="53020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1400" dirty="0"/>
              <a:t>nie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1EF1AA4-1AA5-E939-780F-CEBD24FAD519}"/>
              </a:ext>
            </a:extLst>
          </p:cNvPr>
          <p:cNvSpPr txBox="1"/>
          <p:nvPr/>
        </p:nvSpPr>
        <p:spPr>
          <a:xfrm>
            <a:off x="12211774" y="661775"/>
            <a:ext cx="8484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l-PL" dirty="0"/>
              <a:t>Wzory.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C67E3F-4E8B-8274-511A-4D7C4FE71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9713" y="1356403"/>
            <a:ext cx="7772400" cy="2703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5083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131</TotalTime>
  <Words>223</Words>
  <Application>Microsoft Macintosh PowerPoint</Application>
  <PresentationFormat>Custom</PresentationFormat>
  <Paragraphs>42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Bartosz Bieniek (bb315945)</dc:creator>
  <cp:lastModifiedBy>Bartosz Bieniek (bb315945)</cp:lastModifiedBy>
  <cp:revision>10</cp:revision>
  <dcterms:created xsi:type="dcterms:W3CDTF">2025-11-30T19:03:59Z</dcterms:created>
  <dcterms:modified xsi:type="dcterms:W3CDTF">2026-01-07T17:31:35Z</dcterms:modified>
</cp:coreProperties>
</file>