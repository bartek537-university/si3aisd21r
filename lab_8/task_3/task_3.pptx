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3716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5"/>
    <p:restoredTop sz="94675"/>
  </p:normalViewPr>
  <p:slideViewPr>
    <p:cSldViewPr snapToGrid="0">
      <p:cViewPr>
        <p:scale>
          <a:sx n="180" d="100"/>
          <a:sy n="180" d="100"/>
        </p:scale>
        <p:origin x="552" y="-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992968"/>
            <a:ext cx="11658600" cy="636693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9605435"/>
            <a:ext cx="10287000" cy="4415365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957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415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4559305"/>
            <a:ext cx="11830050" cy="7607299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12238572"/>
            <a:ext cx="11830050" cy="4000499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425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152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973670"/>
            <a:ext cx="118300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4483101"/>
            <a:ext cx="5802510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6680200"/>
            <a:ext cx="580251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4483101"/>
            <a:ext cx="5831087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6680200"/>
            <a:ext cx="5831087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923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9681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5157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2633137"/>
            <a:ext cx="6943725" cy="12996333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93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2633137"/>
            <a:ext cx="6943725" cy="12996333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632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596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973666"/>
            <a:ext cx="2957513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973666"/>
            <a:ext cx="8701088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873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973670"/>
            <a:ext cx="118300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4868333"/>
            <a:ext cx="118300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6950271"/>
            <a:ext cx="46291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179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260179" y="321506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8.3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260182" y="661775"/>
            <a:ext cx="188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Algorytm kukułki.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5805953" y="3371751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4026444" y="3848350"/>
            <a:ext cx="4244825" cy="64180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parametry</a:t>
            </a:r>
            <a:r>
              <a:rPr lang="en-US" sz="900" dirty="0"/>
              <a:t> </a:t>
            </a:r>
            <a:r>
              <a:rPr lang="en-US" sz="900" i="1" dirty="0" err="1"/>
              <a:t>population_size</a:t>
            </a:r>
            <a:r>
              <a:rPr lang="en-US" sz="900" dirty="0"/>
              <a:t>, </a:t>
            </a:r>
            <a:r>
              <a:rPr lang="en-US" sz="900" i="1" dirty="0" err="1"/>
              <a:t>iteration_count</a:t>
            </a:r>
            <a:r>
              <a:rPr lang="en-US" sz="900" dirty="0"/>
              <a:t>,</a:t>
            </a:r>
          </a:p>
          <a:p>
            <a:pPr algn="ctr"/>
            <a:r>
              <a:rPr lang="en-US" sz="900" i="1" dirty="0"/>
              <a:t>b, y, d, pa</a:t>
            </a:r>
          </a:p>
          <a:p>
            <a:pPr algn="ctr"/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funkcję</a:t>
            </a:r>
            <a:r>
              <a:rPr lang="en-US" sz="900" dirty="0"/>
              <a:t> </a:t>
            </a:r>
            <a:r>
              <a:rPr lang="en-US" sz="900" dirty="0" err="1"/>
              <a:t>celu</a:t>
            </a:r>
            <a:r>
              <a:rPr lang="en-US" sz="900" dirty="0"/>
              <a:t> do </a:t>
            </a:r>
            <a:r>
              <a:rPr lang="en-US" sz="900" dirty="0" err="1"/>
              <a:t>minimalizacji</a:t>
            </a:r>
            <a:r>
              <a:rPr lang="en-US" sz="900" dirty="0"/>
              <a:t> </a:t>
            </a:r>
            <a:r>
              <a:rPr lang="en-US" sz="900" i="1" dirty="0" err="1"/>
              <a:t>cost_function</a:t>
            </a:r>
            <a:br>
              <a:rPr lang="en-US" sz="900" i="1" dirty="0"/>
            </a:br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i="1" dirty="0" err="1"/>
              <a:t>badany</a:t>
            </a:r>
            <a:r>
              <a:rPr lang="en-US" sz="900" i="1" dirty="0"/>
              <a:t> </a:t>
            </a:r>
            <a:r>
              <a:rPr lang="en-US" sz="900" i="1" dirty="0" err="1"/>
              <a:t>obszar</a:t>
            </a:r>
            <a:r>
              <a:rPr lang="en-US" sz="900" i="1" dirty="0"/>
              <a:t> </a:t>
            </a:r>
            <a:r>
              <a:rPr lang="en-US" sz="900" dirty="0"/>
              <a:t>domain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5472616" y="4740435"/>
            <a:ext cx="1352474" cy="32529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population</a:t>
            </a:r>
            <a:r>
              <a:rPr lang="pl-PL" sz="900" dirty="0"/>
              <a:t> ← pusta lista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7B51DAD2-EE0C-CC50-1A99-CDEACF588BF6}"/>
              </a:ext>
            </a:extLst>
          </p:cNvPr>
          <p:cNvSpPr/>
          <p:nvPr/>
        </p:nvSpPr>
        <p:spPr>
          <a:xfrm>
            <a:off x="5439713" y="5316019"/>
            <a:ext cx="1418287" cy="3717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population_size</a:t>
            </a:r>
            <a:endParaRPr lang="pl-PL" sz="900" i="1" dirty="0"/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6A7FF69F-0BC3-DF5D-7416-8894351C890F}"/>
              </a:ext>
            </a:extLst>
          </p:cNvPr>
          <p:cNvSpPr/>
          <p:nvPr/>
        </p:nvSpPr>
        <p:spPr>
          <a:xfrm>
            <a:off x="6858000" y="5938026"/>
            <a:ext cx="2687161" cy="4164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position</a:t>
            </a:r>
            <a:r>
              <a:rPr lang="pl-PL" sz="900" dirty="0"/>
              <a:t> ← losowy punkt w badanym obszarze</a:t>
            </a:r>
          </a:p>
          <a:p>
            <a:pPr algn="ctr"/>
            <a:r>
              <a:rPr lang="pl-PL" sz="900" dirty="0"/>
              <a:t>Dodaj </a:t>
            </a:r>
            <a:r>
              <a:rPr lang="pl-PL" sz="900" i="1" dirty="0" err="1"/>
              <a:t>position</a:t>
            </a:r>
            <a:r>
              <a:rPr lang="pl-PL" sz="900" dirty="0"/>
              <a:t> do listy </a:t>
            </a:r>
            <a:r>
              <a:rPr lang="pl-PL" sz="900" i="1" dirty="0" err="1"/>
              <a:t>current_population</a:t>
            </a:r>
            <a:endParaRPr lang="pl-PL" sz="900" i="1" dirty="0"/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5630E8EF-ABF3-0D9D-D741-577DFB2DD08B}"/>
              </a:ext>
            </a:extLst>
          </p:cNvPr>
          <p:cNvSpPr/>
          <p:nvPr/>
        </p:nvSpPr>
        <p:spPr>
          <a:xfrm>
            <a:off x="2747285" y="6844131"/>
            <a:ext cx="3631744" cy="4591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best_nest</a:t>
            </a:r>
            <a:r>
              <a:rPr lang="pl-PL" sz="900" dirty="0"/>
              <a:t> ← pozycja z </a:t>
            </a:r>
            <a:r>
              <a:rPr lang="pl-PL" sz="900" i="1" dirty="0" err="1"/>
              <a:t>population</a:t>
            </a:r>
            <a:r>
              <a:rPr lang="pl-PL" sz="900" dirty="0"/>
              <a:t> o najmniejszej wartości funkcji celu</a:t>
            </a:r>
          </a:p>
          <a:p>
            <a:pPr algn="ctr"/>
            <a:r>
              <a:rPr lang="pl-PL" sz="900" i="1" dirty="0" err="1"/>
              <a:t>lowest_cost</a:t>
            </a:r>
            <a:r>
              <a:rPr lang="pl-PL" sz="900" dirty="0"/>
              <a:t> ← </a:t>
            </a:r>
            <a:r>
              <a:rPr lang="pl-PL" sz="900" i="1" dirty="0" err="1"/>
              <a:t>cost_function</a:t>
            </a:r>
            <a:r>
              <a:rPr lang="pl-PL" sz="900" dirty="0"/>
              <a:t>(</a:t>
            </a:r>
            <a:r>
              <a:rPr lang="pl-PL" sz="900" i="1" dirty="0" err="1"/>
              <a:t>best_nest</a:t>
            </a:r>
            <a:r>
              <a:rPr lang="pl-PL" sz="900" dirty="0"/>
              <a:t>)</a:t>
            </a:r>
            <a:endParaRPr lang="pl-PL" sz="900" i="1" dirty="0"/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sp>
        <p:nvSpPr>
          <p:cNvPr id="82" name="Terminator 81">
            <a:extLst>
              <a:ext uri="{FF2B5EF4-FFF2-40B4-BE49-F238E27FC236}">
                <a16:creationId xmlns:a16="http://schemas.microsoft.com/office/drawing/2014/main" id="{5C01754E-C1AB-7C72-655A-BD3BE003F26E}"/>
              </a:ext>
            </a:extLst>
          </p:cNvPr>
          <p:cNvSpPr/>
          <p:nvPr/>
        </p:nvSpPr>
        <p:spPr>
          <a:xfrm>
            <a:off x="2297672" y="8817419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158DD9-8B52-51A3-4602-46B061FD2092}"/>
              </a:ext>
            </a:extLst>
          </p:cNvPr>
          <p:cNvSpPr txBox="1"/>
          <p:nvPr/>
        </p:nvSpPr>
        <p:spPr>
          <a:xfrm>
            <a:off x="6825090" y="5208212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93" name="Data 92">
            <a:extLst>
              <a:ext uri="{FF2B5EF4-FFF2-40B4-BE49-F238E27FC236}">
                <a16:creationId xmlns:a16="http://schemas.microsoft.com/office/drawing/2014/main" id="{15ECB157-D702-9AB1-E54A-77C4F1674781}"/>
              </a:ext>
            </a:extLst>
          </p:cNvPr>
          <p:cNvSpPr/>
          <p:nvPr/>
        </p:nvSpPr>
        <p:spPr>
          <a:xfrm>
            <a:off x="1366172" y="8271487"/>
            <a:ext cx="2548801" cy="29565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best_nest</a:t>
            </a:r>
            <a:endParaRPr lang="en-US" sz="900" i="1" dirty="0"/>
          </a:p>
          <a:p>
            <a:pPr algn="ctr"/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i="1" dirty="0" err="1"/>
              <a:t>lowest_cost</a:t>
            </a:r>
            <a:endParaRPr lang="en-US" sz="900" i="1" dirty="0"/>
          </a:p>
        </p:txBody>
      </p:sp>
      <p:sp>
        <p:nvSpPr>
          <p:cNvPr id="2" name="Decision 1">
            <a:extLst>
              <a:ext uri="{FF2B5EF4-FFF2-40B4-BE49-F238E27FC236}">
                <a16:creationId xmlns:a16="http://schemas.microsoft.com/office/drawing/2014/main" id="{9C39F806-8D0A-17FF-BE1D-2D4F172ACA1F}"/>
              </a:ext>
            </a:extLst>
          </p:cNvPr>
          <p:cNvSpPr/>
          <p:nvPr/>
        </p:nvSpPr>
        <p:spPr>
          <a:xfrm>
            <a:off x="3854013" y="7553555"/>
            <a:ext cx="1418287" cy="3717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iteration_count</a:t>
            </a:r>
            <a:endParaRPr lang="pl-PL" sz="900" i="1" dirty="0"/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5844513-4448-9C8B-B279-88217B1DE177}"/>
              </a:ext>
            </a:extLst>
          </p:cNvPr>
          <p:cNvSpPr/>
          <p:nvPr/>
        </p:nvSpPr>
        <p:spPr>
          <a:xfrm>
            <a:off x="6651634" y="7861332"/>
            <a:ext cx="580730" cy="18586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j</a:t>
            </a:r>
            <a:r>
              <a:rPr lang="pl-PL" sz="900" dirty="0"/>
              <a:t> ← 0</a:t>
            </a:r>
          </a:p>
        </p:txBody>
      </p:sp>
      <p:sp>
        <p:nvSpPr>
          <p:cNvPr id="8" name="Decision 7">
            <a:extLst>
              <a:ext uri="{FF2B5EF4-FFF2-40B4-BE49-F238E27FC236}">
                <a16:creationId xmlns:a16="http://schemas.microsoft.com/office/drawing/2014/main" id="{A5C429E3-D00C-2AA2-1BCC-0A8F184ED4C9}"/>
              </a:ext>
            </a:extLst>
          </p:cNvPr>
          <p:cNvSpPr/>
          <p:nvPr/>
        </p:nvSpPr>
        <p:spPr>
          <a:xfrm>
            <a:off x="5980976" y="8244419"/>
            <a:ext cx="1922053" cy="57995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j</a:t>
            </a:r>
            <a:r>
              <a:rPr lang="pl-PL" sz="900" dirty="0"/>
              <a:t> &lt; długość </a:t>
            </a:r>
            <a:r>
              <a:rPr lang="pl-PL" sz="900" dirty="0" err="1"/>
              <a:t>current_population</a:t>
            </a:r>
            <a:endParaRPr lang="pl-PL" sz="900" i="1" dirty="0"/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D2FBECA5-53E1-92B8-35D3-EAFBF992D031}"/>
              </a:ext>
            </a:extLst>
          </p:cNvPr>
          <p:cNvSpPr/>
          <p:nvPr/>
        </p:nvSpPr>
        <p:spPr>
          <a:xfrm>
            <a:off x="4835917" y="15616767"/>
            <a:ext cx="681577" cy="20901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7D177C-3AF5-25B2-1BE6-9492CAF65D82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6148856" y="3598068"/>
            <a:ext cx="1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2A56FB6-C295-799A-42FB-12CFD92C1E6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6148853" y="4490150"/>
            <a:ext cx="4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FDCACC-E653-5119-F682-4BE7064709F9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6148853" y="5065731"/>
            <a:ext cx="4" cy="250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8534BFE5-1B3E-14E0-001B-220F1D6616C4}"/>
              </a:ext>
            </a:extLst>
          </p:cNvPr>
          <p:cNvCxnSpPr>
            <a:stCxn id="16" idx="3"/>
            <a:endCxn id="18" idx="0"/>
          </p:cNvCxnSpPr>
          <p:nvPr/>
        </p:nvCxnSpPr>
        <p:spPr>
          <a:xfrm>
            <a:off x="6858000" y="5501882"/>
            <a:ext cx="1343581" cy="4361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E8E613F5-B4E5-2620-F1F9-570DA217267F}"/>
              </a:ext>
            </a:extLst>
          </p:cNvPr>
          <p:cNvCxnSpPr>
            <a:stCxn id="18" idx="2"/>
            <a:endCxn id="16" idx="0"/>
          </p:cNvCxnSpPr>
          <p:nvPr/>
        </p:nvCxnSpPr>
        <p:spPr>
          <a:xfrm rot="5400000" flipH="1">
            <a:off x="6655971" y="4808899"/>
            <a:ext cx="1038490" cy="2052724"/>
          </a:xfrm>
          <a:prstGeom prst="bentConnector5">
            <a:avLst>
              <a:gd name="adj1" fmla="val -11193"/>
              <a:gd name="adj2" fmla="val -75913"/>
              <a:gd name="adj3" fmla="val 1171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A9A8FDA-C270-697D-451C-E5A516EC9224}"/>
              </a:ext>
            </a:extLst>
          </p:cNvPr>
          <p:cNvCxnSpPr>
            <a:cxnSpLocks/>
            <a:stCxn id="25" idx="2"/>
            <a:endCxn id="2" idx="0"/>
          </p:cNvCxnSpPr>
          <p:nvPr/>
        </p:nvCxnSpPr>
        <p:spPr>
          <a:xfrm>
            <a:off x="4563157" y="7303267"/>
            <a:ext cx="0" cy="250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82F0244-8A77-227A-4528-3A54AF317618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6941999" y="8047198"/>
            <a:ext cx="4" cy="197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8467A423-326D-A753-BB8C-CEB4A32A2898}"/>
              </a:ext>
            </a:extLst>
          </p:cNvPr>
          <p:cNvCxnSpPr>
            <a:cxnSpLocks/>
            <a:stCxn id="8" idx="3"/>
            <a:endCxn id="44" idx="0"/>
          </p:cNvCxnSpPr>
          <p:nvPr/>
        </p:nvCxnSpPr>
        <p:spPr>
          <a:xfrm>
            <a:off x="7903029" y="8534395"/>
            <a:ext cx="2013928" cy="4254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840DEA-B4B0-C6E5-734D-7548547BC725}"/>
              </a:ext>
            </a:extLst>
          </p:cNvPr>
          <p:cNvCxnSpPr>
            <a:cxnSpLocks/>
          </p:cNvCxnSpPr>
          <p:nvPr/>
        </p:nvCxnSpPr>
        <p:spPr>
          <a:xfrm flipH="1">
            <a:off x="2640572" y="8567145"/>
            <a:ext cx="1" cy="250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0DE350CB-8614-59FC-5A36-542C21E5FF3C}"/>
              </a:ext>
            </a:extLst>
          </p:cNvPr>
          <p:cNvSpPr txBox="1"/>
          <p:nvPr/>
        </p:nvSpPr>
        <p:spPr>
          <a:xfrm>
            <a:off x="4945745" y="5208212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EEFDBA1-4D92-814E-20A7-CC34E7B644C1}"/>
              </a:ext>
            </a:extLst>
          </p:cNvPr>
          <p:cNvSpPr txBox="1"/>
          <p:nvPr/>
        </p:nvSpPr>
        <p:spPr>
          <a:xfrm>
            <a:off x="5272300" y="7462222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1A05973-8B02-5289-206B-EDF8C554EDD6}"/>
              </a:ext>
            </a:extLst>
          </p:cNvPr>
          <p:cNvSpPr txBox="1"/>
          <p:nvPr/>
        </p:nvSpPr>
        <p:spPr>
          <a:xfrm>
            <a:off x="3392955" y="7462222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A8CD829-3A30-C084-8254-23FF561A8587}"/>
              </a:ext>
            </a:extLst>
          </p:cNvPr>
          <p:cNvSpPr txBox="1"/>
          <p:nvPr/>
        </p:nvSpPr>
        <p:spPr>
          <a:xfrm>
            <a:off x="7821002" y="8259368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D53FC7C-1DBE-45E0-AA0C-74FDDECAA6E1}"/>
              </a:ext>
            </a:extLst>
          </p:cNvPr>
          <p:cNvSpPr txBox="1"/>
          <p:nvPr/>
        </p:nvSpPr>
        <p:spPr>
          <a:xfrm>
            <a:off x="5666303" y="8235518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44" name="Process 43">
            <a:extLst>
              <a:ext uri="{FF2B5EF4-FFF2-40B4-BE49-F238E27FC236}">
                <a16:creationId xmlns:a16="http://schemas.microsoft.com/office/drawing/2014/main" id="{D7F8DFD8-7FDC-CBBE-C6A0-B427CB8A7DE3}"/>
              </a:ext>
            </a:extLst>
          </p:cNvPr>
          <p:cNvSpPr/>
          <p:nvPr/>
        </p:nvSpPr>
        <p:spPr>
          <a:xfrm>
            <a:off x="7556970" y="8959824"/>
            <a:ext cx="4719974" cy="44568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current_cuckoo</a:t>
            </a:r>
            <a:r>
              <a:rPr lang="pl-PL" sz="900" dirty="0"/>
              <a:t> ← </a:t>
            </a:r>
            <a:r>
              <a:rPr lang="pl-PL" sz="900" i="1" dirty="0" err="1"/>
              <a:t>population</a:t>
            </a:r>
            <a:r>
              <a:rPr lang="pl-PL" sz="900" dirty="0"/>
              <a:t>[</a:t>
            </a:r>
            <a:r>
              <a:rPr lang="pl-PL" sz="900" i="1" dirty="0"/>
              <a:t>j</a:t>
            </a:r>
            <a:r>
              <a:rPr lang="pl-PL" sz="900" dirty="0"/>
              <a:t>]</a:t>
            </a:r>
          </a:p>
          <a:p>
            <a:pPr algn="ctr"/>
            <a:r>
              <a:rPr lang="pl-PL" sz="900" i="1" dirty="0" err="1"/>
              <a:t>nest_position</a:t>
            </a:r>
            <a:r>
              <a:rPr lang="pl-PL" sz="900" dirty="0"/>
              <a:t> ← nowa pozycja utworzona na bazie </a:t>
            </a:r>
            <a:r>
              <a:rPr lang="pl-PL" sz="900" i="1" dirty="0" err="1"/>
              <a:t>current_cuckoo</a:t>
            </a:r>
            <a:r>
              <a:rPr lang="pl-PL" sz="900" dirty="0"/>
              <a:t> na podstawie wzoru </a:t>
            </a:r>
            <a:r>
              <a:rPr lang="pl-PL" sz="900" i="1" dirty="0"/>
              <a:t>1.</a:t>
            </a:r>
          </a:p>
          <a:p>
            <a:pPr algn="ctr"/>
            <a:r>
              <a:rPr lang="pl-PL" sz="900" dirty="0"/>
              <a:t>Ogranicz współrzędne </a:t>
            </a:r>
            <a:r>
              <a:rPr lang="pl-PL" sz="900" i="1" dirty="0" err="1"/>
              <a:t>nest_position</a:t>
            </a:r>
            <a:r>
              <a:rPr lang="pl-PL" sz="900" i="1" dirty="0"/>
              <a:t> </a:t>
            </a:r>
            <a:r>
              <a:rPr lang="pl-PL" sz="900" dirty="0"/>
              <a:t>do badanego obszaru</a:t>
            </a:r>
          </a:p>
        </p:txBody>
      </p:sp>
      <p:sp>
        <p:nvSpPr>
          <p:cNvPr id="52" name="Decision 51">
            <a:extLst>
              <a:ext uri="{FF2B5EF4-FFF2-40B4-BE49-F238E27FC236}">
                <a16:creationId xmlns:a16="http://schemas.microsoft.com/office/drawing/2014/main" id="{3F469C7B-82CA-35F2-BE13-359BE97B2AE5}"/>
              </a:ext>
            </a:extLst>
          </p:cNvPr>
          <p:cNvSpPr/>
          <p:nvPr/>
        </p:nvSpPr>
        <p:spPr>
          <a:xfrm>
            <a:off x="8772814" y="9624147"/>
            <a:ext cx="2288285" cy="70721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cost_function</a:t>
            </a:r>
            <a:r>
              <a:rPr lang="pl-PL" sz="900" dirty="0"/>
              <a:t>(</a:t>
            </a:r>
            <a:r>
              <a:rPr lang="pl-PL" sz="900" i="1" dirty="0" err="1"/>
              <a:t>nest_position</a:t>
            </a:r>
            <a:r>
              <a:rPr lang="pl-PL" sz="900" dirty="0"/>
              <a:t>)</a:t>
            </a:r>
          </a:p>
          <a:p>
            <a:pPr algn="ctr"/>
            <a:r>
              <a:rPr lang="pl-PL" sz="900" dirty="0"/>
              <a:t>&lt; </a:t>
            </a:r>
            <a:r>
              <a:rPr lang="pl-PL" sz="900" i="1" dirty="0" err="1"/>
              <a:t>cost_function</a:t>
            </a:r>
            <a:r>
              <a:rPr lang="pl-PL" sz="900" dirty="0"/>
              <a:t>(</a:t>
            </a:r>
            <a:r>
              <a:rPr lang="pl-PL" sz="900" i="1" dirty="0" err="1"/>
              <a:t>current_cuckoo</a:t>
            </a:r>
            <a:r>
              <a:rPr lang="pl-PL" sz="900" dirty="0"/>
              <a:t>)</a:t>
            </a:r>
            <a:endParaRPr lang="pl-PL" sz="900" i="1" dirty="0"/>
          </a:p>
        </p:txBody>
      </p:sp>
      <p:sp>
        <p:nvSpPr>
          <p:cNvPr id="54" name="Process 53">
            <a:extLst>
              <a:ext uri="{FF2B5EF4-FFF2-40B4-BE49-F238E27FC236}">
                <a16:creationId xmlns:a16="http://schemas.microsoft.com/office/drawing/2014/main" id="{8A68E701-1FFB-0A3B-FCEF-F693F299BE90}"/>
              </a:ext>
            </a:extLst>
          </p:cNvPr>
          <p:cNvSpPr/>
          <p:nvPr/>
        </p:nvSpPr>
        <p:spPr>
          <a:xfrm>
            <a:off x="10937823" y="10466817"/>
            <a:ext cx="1616959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population</a:t>
            </a:r>
            <a:r>
              <a:rPr lang="pl-PL" sz="900" dirty="0"/>
              <a:t>[</a:t>
            </a:r>
            <a:r>
              <a:rPr lang="pl-PL" sz="900" i="1" dirty="0"/>
              <a:t>j</a:t>
            </a:r>
            <a:r>
              <a:rPr lang="pl-PL" sz="900" dirty="0"/>
              <a:t>] ← </a:t>
            </a:r>
            <a:r>
              <a:rPr lang="pl-PL" sz="900" i="1" dirty="0" err="1"/>
              <a:t>nest_position</a:t>
            </a:r>
            <a:endParaRPr lang="pl-PL" sz="900" i="1" dirty="0"/>
          </a:p>
        </p:txBody>
      </p:sp>
      <p:sp>
        <p:nvSpPr>
          <p:cNvPr id="57" name="Process 56">
            <a:extLst>
              <a:ext uri="{FF2B5EF4-FFF2-40B4-BE49-F238E27FC236}">
                <a16:creationId xmlns:a16="http://schemas.microsoft.com/office/drawing/2014/main" id="{1D690AC4-DCED-5824-1FE6-4FAF0A7CB5FF}"/>
              </a:ext>
            </a:extLst>
          </p:cNvPr>
          <p:cNvSpPr/>
          <p:nvPr/>
        </p:nvSpPr>
        <p:spPr>
          <a:xfrm>
            <a:off x="9557647" y="11062028"/>
            <a:ext cx="718617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j</a:t>
            </a:r>
            <a:r>
              <a:rPr lang="pl-PL" sz="900" dirty="0"/>
              <a:t> ← </a:t>
            </a:r>
            <a:r>
              <a:rPr lang="pl-PL" sz="900" i="1" dirty="0"/>
              <a:t>j + 1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D8E4CC66-2BEF-BF92-C4B6-1A15C0CC0C90}"/>
              </a:ext>
            </a:extLst>
          </p:cNvPr>
          <p:cNvCxnSpPr>
            <a:cxnSpLocks/>
            <a:stCxn id="52" idx="3"/>
            <a:endCxn id="54" idx="0"/>
          </p:cNvCxnSpPr>
          <p:nvPr/>
        </p:nvCxnSpPr>
        <p:spPr>
          <a:xfrm>
            <a:off x="11061099" y="9977756"/>
            <a:ext cx="685204" cy="48906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1A09665F-C21E-B398-8319-1E0B2925739E}"/>
              </a:ext>
            </a:extLst>
          </p:cNvPr>
          <p:cNvCxnSpPr>
            <a:cxnSpLocks/>
            <a:stCxn id="52" idx="1"/>
            <a:endCxn id="57" idx="0"/>
          </p:cNvCxnSpPr>
          <p:nvPr/>
        </p:nvCxnSpPr>
        <p:spPr>
          <a:xfrm rot="10800000" flipH="1" flipV="1">
            <a:off x="8772814" y="9977756"/>
            <a:ext cx="1144142" cy="1084272"/>
          </a:xfrm>
          <a:prstGeom prst="bentConnector4">
            <a:avLst>
              <a:gd name="adj1" fmla="val -33518"/>
              <a:gd name="adj2" fmla="val 826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1DE95102-810B-3698-A6B1-D2B5B44F8DEA}"/>
              </a:ext>
            </a:extLst>
          </p:cNvPr>
          <p:cNvCxnSpPr>
            <a:cxnSpLocks/>
            <a:stCxn id="54" idx="2"/>
            <a:endCxn id="57" idx="0"/>
          </p:cNvCxnSpPr>
          <p:nvPr/>
        </p:nvCxnSpPr>
        <p:spPr>
          <a:xfrm rot="5400000">
            <a:off x="10643343" y="9959067"/>
            <a:ext cx="376575" cy="182934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25FCCC2-F87E-C2A7-D135-66B5E8E66886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9916957" y="9405510"/>
            <a:ext cx="0" cy="218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599EC6CE-07FE-FB4C-A364-A779A8A47066}"/>
              </a:ext>
            </a:extLst>
          </p:cNvPr>
          <p:cNvCxnSpPr>
            <a:stCxn id="57" idx="2"/>
            <a:endCxn id="8" idx="0"/>
          </p:cNvCxnSpPr>
          <p:nvPr/>
        </p:nvCxnSpPr>
        <p:spPr>
          <a:xfrm rot="5400000" flipH="1">
            <a:off x="6911357" y="8275066"/>
            <a:ext cx="3036245" cy="2974953"/>
          </a:xfrm>
          <a:prstGeom prst="bentConnector5">
            <a:avLst>
              <a:gd name="adj1" fmla="val -4682"/>
              <a:gd name="adj2" fmla="val -98963"/>
              <a:gd name="adj3" fmla="val 1048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8CA17D1F-D706-FC52-5AB8-42443626DF5A}"/>
              </a:ext>
            </a:extLst>
          </p:cNvPr>
          <p:cNvCxnSpPr>
            <a:stCxn id="2" idx="3"/>
            <a:endCxn id="3" idx="0"/>
          </p:cNvCxnSpPr>
          <p:nvPr/>
        </p:nvCxnSpPr>
        <p:spPr>
          <a:xfrm>
            <a:off x="5272300" y="7739418"/>
            <a:ext cx="1669699" cy="1219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CC5FD1A9-3C69-F828-0E28-86ED9029DCB8}"/>
              </a:ext>
            </a:extLst>
          </p:cNvPr>
          <p:cNvCxnSpPr>
            <a:cxnSpLocks/>
            <a:stCxn id="2" idx="1"/>
            <a:endCxn id="93" idx="1"/>
          </p:cNvCxnSpPr>
          <p:nvPr/>
        </p:nvCxnSpPr>
        <p:spPr>
          <a:xfrm rot="10800000" flipV="1">
            <a:off x="2640573" y="7739417"/>
            <a:ext cx="1213440" cy="53206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E0E88F2C-4BDE-6E08-564B-5919EA6EFEEE}"/>
              </a:ext>
            </a:extLst>
          </p:cNvPr>
          <p:cNvCxnSpPr>
            <a:cxnSpLocks/>
            <a:stCxn id="16" idx="1"/>
            <a:endCxn id="25" idx="0"/>
          </p:cNvCxnSpPr>
          <p:nvPr/>
        </p:nvCxnSpPr>
        <p:spPr>
          <a:xfrm rot="10800000" flipV="1">
            <a:off x="4563157" y="5501881"/>
            <a:ext cx="876556" cy="13422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56E1056-AD5C-914D-8A81-2366138092E7}"/>
              </a:ext>
            </a:extLst>
          </p:cNvPr>
          <p:cNvSpPr txBox="1"/>
          <p:nvPr/>
        </p:nvSpPr>
        <p:spPr>
          <a:xfrm>
            <a:off x="11016405" y="9713354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7A2178-5570-DC13-EC0A-53BABD8E257D}"/>
              </a:ext>
            </a:extLst>
          </p:cNvPr>
          <p:cNvSpPr txBox="1"/>
          <p:nvPr/>
        </p:nvSpPr>
        <p:spPr>
          <a:xfrm>
            <a:off x="8351209" y="9713354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48" name="Process 47">
            <a:extLst>
              <a:ext uri="{FF2B5EF4-FFF2-40B4-BE49-F238E27FC236}">
                <a16:creationId xmlns:a16="http://schemas.microsoft.com/office/drawing/2014/main" id="{A007E544-6840-5138-A722-EFA58ADF8817}"/>
              </a:ext>
            </a:extLst>
          </p:cNvPr>
          <p:cNvSpPr/>
          <p:nvPr/>
        </p:nvSpPr>
        <p:spPr>
          <a:xfrm>
            <a:off x="3622956" y="11721948"/>
            <a:ext cx="3107498" cy="25375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dirty="0"/>
              <a:t>Posortuj </a:t>
            </a:r>
            <a:r>
              <a:rPr lang="pl-PL" sz="900" i="1" dirty="0" err="1"/>
              <a:t>population</a:t>
            </a:r>
            <a:r>
              <a:rPr lang="pl-PL" sz="900" dirty="0"/>
              <a:t> według rosnącej wartości funkcji celu.</a:t>
            </a:r>
          </a:p>
        </p:txBody>
      </p:sp>
      <p:sp>
        <p:nvSpPr>
          <p:cNvPr id="49" name="Decision 48">
            <a:extLst>
              <a:ext uri="{FF2B5EF4-FFF2-40B4-BE49-F238E27FC236}">
                <a16:creationId xmlns:a16="http://schemas.microsoft.com/office/drawing/2014/main" id="{0D6876BA-D154-826B-F239-9E31F998CF16}"/>
              </a:ext>
            </a:extLst>
          </p:cNvPr>
          <p:cNvSpPr/>
          <p:nvPr/>
        </p:nvSpPr>
        <p:spPr>
          <a:xfrm>
            <a:off x="4032563" y="12242072"/>
            <a:ext cx="2288285" cy="70721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cost_function</a:t>
            </a:r>
            <a:r>
              <a:rPr lang="pl-PL" sz="900" dirty="0"/>
              <a:t>(</a:t>
            </a:r>
            <a:r>
              <a:rPr lang="pl-PL" sz="900" i="1" dirty="0" err="1"/>
              <a:t>population</a:t>
            </a:r>
            <a:r>
              <a:rPr lang="pl-PL" sz="900" dirty="0"/>
              <a:t>[</a:t>
            </a:r>
            <a:r>
              <a:rPr lang="pl-PL" sz="900" i="1" dirty="0"/>
              <a:t>0</a:t>
            </a:r>
            <a:r>
              <a:rPr lang="pl-PL" sz="900" dirty="0"/>
              <a:t>])</a:t>
            </a:r>
          </a:p>
          <a:p>
            <a:pPr algn="ctr"/>
            <a:r>
              <a:rPr lang="pl-PL" sz="900" dirty="0"/>
              <a:t>&lt; </a:t>
            </a:r>
            <a:r>
              <a:rPr lang="pl-PL" sz="900" i="1" dirty="0" err="1"/>
              <a:t>lowest_cost</a:t>
            </a:r>
            <a:endParaRPr lang="pl-PL" sz="900" i="1" dirty="0"/>
          </a:p>
        </p:txBody>
      </p:sp>
      <p:sp>
        <p:nvSpPr>
          <p:cNvPr id="53" name="Process 52">
            <a:extLst>
              <a:ext uri="{FF2B5EF4-FFF2-40B4-BE49-F238E27FC236}">
                <a16:creationId xmlns:a16="http://schemas.microsoft.com/office/drawing/2014/main" id="{B5F800FA-69F0-7BFC-640E-4715C3B5EC87}"/>
              </a:ext>
            </a:extLst>
          </p:cNvPr>
          <p:cNvSpPr/>
          <p:nvPr/>
        </p:nvSpPr>
        <p:spPr>
          <a:xfrm>
            <a:off x="6317156" y="12981983"/>
            <a:ext cx="2288285" cy="30639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best_nest</a:t>
            </a:r>
            <a:r>
              <a:rPr lang="pl-PL" sz="900" dirty="0"/>
              <a:t> ← </a:t>
            </a:r>
            <a:r>
              <a:rPr lang="pl-PL" sz="900" i="1" dirty="0" err="1"/>
              <a:t>population</a:t>
            </a:r>
            <a:r>
              <a:rPr lang="pl-PL" sz="900" dirty="0"/>
              <a:t>[0]</a:t>
            </a:r>
          </a:p>
          <a:p>
            <a:pPr algn="ctr"/>
            <a:r>
              <a:rPr lang="pl-PL" sz="900" i="1" dirty="0" err="1"/>
              <a:t>lowest_cost</a:t>
            </a:r>
            <a:r>
              <a:rPr lang="pl-PL" sz="900" dirty="0"/>
              <a:t> ← </a:t>
            </a:r>
            <a:r>
              <a:rPr lang="pl-PL" sz="900" i="1" dirty="0" err="1"/>
              <a:t>cost_function</a:t>
            </a:r>
            <a:r>
              <a:rPr lang="pl-PL" sz="900" dirty="0"/>
              <a:t>(</a:t>
            </a:r>
            <a:r>
              <a:rPr lang="pl-PL" sz="900" i="1" dirty="0" err="1"/>
              <a:t>best_nest</a:t>
            </a:r>
            <a:r>
              <a:rPr lang="pl-PL" sz="900" dirty="0"/>
              <a:t>)</a:t>
            </a:r>
          </a:p>
        </p:txBody>
      </p:sp>
      <p:sp>
        <p:nvSpPr>
          <p:cNvPr id="59" name="Process 58">
            <a:extLst>
              <a:ext uri="{FF2B5EF4-FFF2-40B4-BE49-F238E27FC236}">
                <a16:creationId xmlns:a16="http://schemas.microsoft.com/office/drawing/2014/main" id="{0FFDF7FA-F588-3833-A97B-C368F88283B9}"/>
              </a:ext>
            </a:extLst>
          </p:cNvPr>
          <p:cNvSpPr/>
          <p:nvPr/>
        </p:nvSpPr>
        <p:spPr>
          <a:xfrm>
            <a:off x="3871853" y="13788410"/>
            <a:ext cx="2609704" cy="30639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nests_to_abandon</a:t>
            </a:r>
            <a:r>
              <a:rPr lang="pl-PL" sz="900" dirty="0"/>
              <a:t> ← </a:t>
            </a:r>
            <a:r>
              <a:rPr lang="pl-PL" sz="900" dirty="0" err="1"/>
              <a:t>floor</a:t>
            </a:r>
            <a:r>
              <a:rPr lang="pl-PL" sz="900" dirty="0"/>
              <a:t>(</a:t>
            </a:r>
            <a:r>
              <a:rPr lang="pl-PL" sz="900" i="1" dirty="0"/>
              <a:t>pa</a:t>
            </a:r>
            <a:r>
              <a:rPr lang="pl-PL" sz="900" dirty="0"/>
              <a:t> * </a:t>
            </a:r>
            <a:r>
              <a:rPr lang="pl-PL" sz="900" i="1" dirty="0" err="1"/>
              <a:t>population_size</a:t>
            </a:r>
            <a:r>
              <a:rPr lang="pl-PL" sz="900" dirty="0"/>
              <a:t>)</a:t>
            </a:r>
          </a:p>
          <a:p>
            <a:pPr algn="ctr"/>
            <a:r>
              <a:rPr lang="pl-PL" sz="900" dirty="0"/>
              <a:t>j ← </a:t>
            </a:r>
            <a:r>
              <a:rPr lang="pl-PL" sz="900" i="1" dirty="0" err="1"/>
              <a:t>population_size</a:t>
            </a:r>
            <a:r>
              <a:rPr lang="pl-PL" sz="900" dirty="0"/>
              <a:t> – </a:t>
            </a:r>
            <a:r>
              <a:rPr lang="pl-PL" sz="900" i="1" dirty="0" err="1"/>
              <a:t>nests_to_abandon</a:t>
            </a:r>
            <a:endParaRPr lang="pl-PL" sz="900" i="1" dirty="0"/>
          </a:p>
        </p:txBody>
      </p:sp>
      <p:sp>
        <p:nvSpPr>
          <p:cNvPr id="62" name="Decision 61">
            <a:extLst>
              <a:ext uri="{FF2B5EF4-FFF2-40B4-BE49-F238E27FC236}">
                <a16:creationId xmlns:a16="http://schemas.microsoft.com/office/drawing/2014/main" id="{4CBA44D8-6DE0-48A8-471E-7116DDF260F1}"/>
              </a:ext>
            </a:extLst>
          </p:cNvPr>
          <p:cNvSpPr/>
          <p:nvPr/>
        </p:nvSpPr>
        <p:spPr>
          <a:xfrm>
            <a:off x="4252608" y="14361165"/>
            <a:ext cx="1848194" cy="30639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j &lt; </a:t>
            </a:r>
            <a:r>
              <a:rPr lang="pl-PL" sz="900" i="1" dirty="0" err="1"/>
              <a:t>population_size</a:t>
            </a:r>
            <a:endParaRPr lang="pl-PL" sz="900" i="1" dirty="0"/>
          </a:p>
        </p:txBody>
      </p:sp>
      <p:sp>
        <p:nvSpPr>
          <p:cNvPr id="64" name="Process 63">
            <a:extLst>
              <a:ext uri="{FF2B5EF4-FFF2-40B4-BE49-F238E27FC236}">
                <a16:creationId xmlns:a16="http://schemas.microsoft.com/office/drawing/2014/main" id="{861DF3EE-FBFF-F4C6-9F8A-1F22C9EBA8A1}"/>
              </a:ext>
            </a:extLst>
          </p:cNvPr>
          <p:cNvSpPr/>
          <p:nvPr/>
        </p:nvSpPr>
        <p:spPr>
          <a:xfrm>
            <a:off x="6317156" y="14794687"/>
            <a:ext cx="2479627" cy="4164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position</a:t>
            </a:r>
            <a:r>
              <a:rPr lang="pl-PL" sz="900" dirty="0"/>
              <a:t> ← losowy punkt w badanym obszarze</a:t>
            </a:r>
          </a:p>
          <a:p>
            <a:pPr algn="ctr"/>
            <a:r>
              <a:rPr lang="pl-PL" sz="900" i="1" dirty="0" err="1"/>
              <a:t>population</a:t>
            </a:r>
            <a:r>
              <a:rPr lang="pl-PL" sz="900" dirty="0"/>
              <a:t>[</a:t>
            </a:r>
            <a:r>
              <a:rPr lang="pl-PL" sz="900" i="1" dirty="0"/>
              <a:t>j</a:t>
            </a:r>
            <a:r>
              <a:rPr lang="pl-PL" sz="900" dirty="0"/>
              <a:t>] ← </a:t>
            </a:r>
            <a:r>
              <a:rPr lang="pl-PL" sz="900" i="1" dirty="0" err="1"/>
              <a:t>position</a:t>
            </a:r>
            <a:endParaRPr lang="pl-PL" sz="900" i="1" dirty="0"/>
          </a:p>
          <a:p>
            <a:pPr algn="ctr"/>
            <a:r>
              <a:rPr lang="pl-PL" sz="900" i="1" dirty="0"/>
              <a:t>j</a:t>
            </a:r>
            <a:r>
              <a:rPr lang="pl-PL" sz="900" dirty="0"/>
              <a:t> ← </a:t>
            </a:r>
            <a:r>
              <a:rPr lang="pl-PL" sz="900" i="1" dirty="0"/>
              <a:t>j</a:t>
            </a:r>
            <a:r>
              <a:rPr lang="pl-PL" sz="900" dirty="0"/>
              <a:t> + 1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BBCB63C8-C1A0-5243-5CE1-EAD84239F763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>
            <a:off x="5176705" y="11975706"/>
            <a:ext cx="1" cy="266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15664DA9-F81D-3715-0FB1-628F170FE2DC}"/>
              </a:ext>
            </a:extLst>
          </p:cNvPr>
          <p:cNvCxnSpPr>
            <a:stCxn id="49" idx="3"/>
            <a:endCxn id="53" idx="0"/>
          </p:cNvCxnSpPr>
          <p:nvPr/>
        </p:nvCxnSpPr>
        <p:spPr>
          <a:xfrm>
            <a:off x="6320848" y="12595681"/>
            <a:ext cx="1140451" cy="38630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08AA2E49-631E-97BB-5155-822DCD18AEB7}"/>
              </a:ext>
            </a:extLst>
          </p:cNvPr>
          <p:cNvCxnSpPr>
            <a:stCxn id="49" idx="1"/>
            <a:endCxn id="59" idx="0"/>
          </p:cNvCxnSpPr>
          <p:nvPr/>
        </p:nvCxnSpPr>
        <p:spPr>
          <a:xfrm rot="10800000" flipH="1" flipV="1">
            <a:off x="4032563" y="12595680"/>
            <a:ext cx="1144142" cy="1192729"/>
          </a:xfrm>
          <a:prstGeom prst="bentConnector4">
            <a:avLst>
              <a:gd name="adj1" fmla="val -19980"/>
              <a:gd name="adj2" fmla="val 792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3ED32A73-5F18-B155-F7EE-AE8F443F4965}"/>
              </a:ext>
            </a:extLst>
          </p:cNvPr>
          <p:cNvCxnSpPr>
            <a:stCxn id="53" idx="2"/>
            <a:endCxn id="59" idx="0"/>
          </p:cNvCxnSpPr>
          <p:nvPr/>
        </p:nvCxnSpPr>
        <p:spPr>
          <a:xfrm rot="5400000">
            <a:off x="6068984" y="12396094"/>
            <a:ext cx="500037" cy="228459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5214467-7EF0-0C25-0FCE-30CB303EA1BD}"/>
              </a:ext>
            </a:extLst>
          </p:cNvPr>
          <p:cNvCxnSpPr>
            <a:stCxn id="59" idx="2"/>
            <a:endCxn id="62" idx="0"/>
          </p:cNvCxnSpPr>
          <p:nvPr/>
        </p:nvCxnSpPr>
        <p:spPr>
          <a:xfrm>
            <a:off x="5176705" y="14094800"/>
            <a:ext cx="0" cy="266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23B25A45-6943-F222-2F1B-3928437F4F82}"/>
              </a:ext>
            </a:extLst>
          </p:cNvPr>
          <p:cNvCxnSpPr>
            <a:stCxn id="62" idx="3"/>
            <a:endCxn id="64" idx="0"/>
          </p:cNvCxnSpPr>
          <p:nvPr/>
        </p:nvCxnSpPr>
        <p:spPr>
          <a:xfrm>
            <a:off x="6100802" y="14514360"/>
            <a:ext cx="1456168" cy="28032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Elbow Connector 88">
            <a:extLst>
              <a:ext uri="{FF2B5EF4-FFF2-40B4-BE49-F238E27FC236}">
                <a16:creationId xmlns:a16="http://schemas.microsoft.com/office/drawing/2014/main" id="{5B3719B9-7A27-0336-6A9B-00F0E637FC46}"/>
              </a:ext>
            </a:extLst>
          </p:cNvPr>
          <p:cNvCxnSpPr>
            <a:stCxn id="64" idx="2"/>
            <a:endCxn id="30" idx="0"/>
          </p:cNvCxnSpPr>
          <p:nvPr/>
        </p:nvCxnSpPr>
        <p:spPr>
          <a:xfrm rot="5400000">
            <a:off x="6164038" y="14223835"/>
            <a:ext cx="405600" cy="23802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8DBF86C4-C2BF-2633-A201-15ACC41DD7D4}"/>
              </a:ext>
            </a:extLst>
          </p:cNvPr>
          <p:cNvCxnSpPr>
            <a:cxnSpLocks/>
            <a:stCxn id="62" idx="1"/>
            <a:endCxn id="30" idx="0"/>
          </p:cNvCxnSpPr>
          <p:nvPr/>
        </p:nvCxnSpPr>
        <p:spPr>
          <a:xfrm rot="10800000" flipH="1" flipV="1">
            <a:off x="4252608" y="14514359"/>
            <a:ext cx="924098" cy="1102407"/>
          </a:xfrm>
          <a:prstGeom prst="bentConnector4">
            <a:avLst>
              <a:gd name="adj1" fmla="val -24738"/>
              <a:gd name="adj2" fmla="val 814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2F9FC4F8-AD8F-C49E-0EBC-FF1396BF09E8}"/>
              </a:ext>
            </a:extLst>
          </p:cNvPr>
          <p:cNvCxnSpPr>
            <a:cxnSpLocks/>
            <a:stCxn id="8" idx="1"/>
            <a:endCxn id="48" idx="0"/>
          </p:cNvCxnSpPr>
          <p:nvPr/>
        </p:nvCxnSpPr>
        <p:spPr>
          <a:xfrm rot="10800000" flipV="1">
            <a:off x="5176706" y="8534394"/>
            <a:ext cx="804271" cy="318755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50912B12-ACFC-5F42-3553-3B518B729B21}"/>
              </a:ext>
            </a:extLst>
          </p:cNvPr>
          <p:cNvCxnSpPr>
            <a:stCxn id="30" idx="2"/>
            <a:endCxn id="2" idx="0"/>
          </p:cNvCxnSpPr>
          <p:nvPr/>
        </p:nvCxnSpPr>
        <p:spPr>
          <a:xfrm rot="5400000" flipH="1">
            <a:off x="733818" y="11382895"/>
            <a:ext cx="8272228" cy="613549"/>
          </a:xfrm>
          <a:prstGeom prst="bentConnector5">
            <a:avLst>
              <a:gd name="adj1" fmla="val -2763"/>
              <a:gd name="adj2" fmla="val -1325824"/>
              <a:gd name="adj3" fmla="val 10180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772C7E4-079E-07C5-2537-E83174814A6D}"/>
              </a:ext>
            </a:extLst>
          </p:cNvPr>
          <p:cNvSpPr txBox="1"/>
          <p:nvPr/>
        </p:nvSpPr>
        <p:spPr>
          <a:xfrm>
            <a:off x="12211774" y="661775"/>
            <a:ext cx="84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Wzory.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4485DA-8F5B-FCC2-38BA-FEB56C937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533" y="1205135"/>
            <a:ext cx="7772400" cy="169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283</Words>
  <Application>Microsoft Macintosh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10</cp:revision>
  <dcterms:created xsi:type="dcterms:W3CDTF">2025-11-30T19:03:59Z</dcterms:created>
  <dcterms:modified xsi:type="dcterms:W3CDTF">2026-01-07T17:32:03Z</dcterms:modified>
</cp:coreProperties>
</file>